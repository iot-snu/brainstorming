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300" b="0" i="0" u="none" strike="noStrike">
                <a:solidFill>
                  <a:srgbClr val="1D1D1F"/>
                </a:solidFill>
                <a:latin typeface="Calibri"/>
              </a:defRPr>
            </a:pPr>
            <a:r>
              <a:rPr sz="1300" b="0" i="0" u="none" strike="noStrike">
                <a:solidFill>
                  <a:srgbClr val="1D1D1F"/>
                </a:solidFill>
                <a:latin typeface="Calibri"/>
              </a:rPr>
              <a:t>Target-attack recall (%) vs. poisoning cycles</a:t>
            </a:r>
          </a:p>
        </c:rich>
      </c:tx>
      <c:layout/>
      <c:overlay val="0"/>
    </c:title>
    <c:autoTitleDeleted val="0"/>
    <c:plotArea>
      <c:layout/>
      <c:lineChart>
        <c:varyColors val="0"/>
        <c:ser>
          <c:idx val="0"/>
          <c:order val="0"/>
          <c:tx>
            <c:strRef>
              <c:f>Sheet1!$B$1</c:f>
              <c:strCache>
                <c:ptCount val="1"/>
                <c:pt idx="0">
                  <c:v>Naive adaptive</c:v>
                </c:pt>
              </c:strCache>
            </c:strRef>
          </c:tx>
          <c:spPr>
            <a:solidFill>
              <a:srgbClr val="D70015"/>
            </a:solidFill>
            <a:ln w="38100" cap="flat">
              <a:solidFill>
                <a:srgbClr val="D7001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70015"/>
              </a:solidFill>
              <a:ln w="9525" cap="flat">
                <a:solidFill>
                  <a:srgbClr val="D70015"/>
                </a:solidFill>
                <a:prstDash val="solid"/>
                <a:round/>
              </a:ln>
              <a:effectLst/>
            </c:spPr>
          </c:marker>
          <c:cat>
            <c:multiLvlStrRef>
              <c:f>Sheet1!$A$2:$A$8</c:f>
              <c:multiLvlStrCache>
                <c:ptCount val="7"/>
                <c:lvl>
                  <c:pt idx="0">
                    <c:v>0</c:v>
                  </c:pt>
                  <c:pt idx="1">
                    <c:v>25</c:v>
                  </c:pt>
                  <c:pt idx="2">
                    <c:v>50</c:v>
                  </c:pt>
                  <c:pt idx="3">
                    <c:v>75</c:v>
                  </c:pt>
                  <c:pt idx="4">
                    <c:v>100</c:v>
                  </c:pt>
                  <c:pt idx="5">
                    <c:v>125</c:v>
                  </c:pt>
                  <c:pt idx="6">
                    <c:v>150</c:v>
                  </c:pt>
                </c:lvl>
              </c:multiLvlStrCache>
            </c:multiLvlStrRef>
          </c:cat>
          <c:val>
            <c:numRef>
              <c:f>Sheet1!$B$2:$B$8</c:f>
              <c:numCache>
                <c:formatCode>General</c:formatCode>
                <c:ptCount val="7"/>
                <c:pt idx="0">
                  <c:v>95</c:v>
                </c:pt>
                <c:pt idx="1">
                  <c:v>90</c:v>
                </c:pt>
                <c:pt idx="2">
                  <c:v>72</c:v>
                </c:pt>
                <c:pt idx="3">
                  <c:v>45</c:v>
                </c:pt>
                <c:pt idx="4">
                  <c:v>22</c:v>
                </c:pt>
                <c:pt idx="5">
                  <c:v>10</c:v>
                </c:pt>
                <c:pt idx="6">
                  <c:v>5</c:v>
                </c:pt>
              </c:numCache>
            </c:numRef>
          </c:val>
          <c:smooth val="1"/>
        </c:ser>
        <c:ser>
          <c:idx val="1"/>
          <c:order val="1"/>
          <c:tx>
            <c:strRef>
              <c:f>Sheet1!$C$1</c:f>
              <c:strCache>
                <c:ptCount val="1"/>
                <c:pt idx="0">
                  <c:v>Layer 1 only</c:v>
                </c:pt>
              </c:strCache>
            </c:strRef>
          </c:tx>
          <c:spPr>
            <a:solidFill>
              <a:srgbClr val="FF9F0A"/>
            </a:solidFill>
            <a:ln w="38100" cap="flat">
              <a:solidFill>
                <a:srgbClr val="FF9F0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9F0A"/>
              </a:solidFill>
              <a:ln w="9525" cap="flat">
                <a:solidFill>
                  <a:srgbClr val="FF9F0A"/>
                </a:solidFill>
                <a:prstDash val="solid"/>
                <a:round/>
              </a:ln>
              <a:effectLst/>
            </c:spPr>
          </c:marker>
          <c:cat>
            <c:multiLvlStrRef>
              <c:f>Sheet1!$A$2:$A$8</c:f>
              <c:multiLvlStrCache>
                <c:ptCount val="7"/>
                <c:lvl>
                  <c:pt idx="0">
                    <c:v>0</c:v>
                  </c:pt>
                  <c:pt idx="1">
                    <c:v>25</c:v>
                  </c:pt>
                  <c:pt idx="2">
                    <c:v>50</c:v>
                  </c:pt>
                  <c:pt idx="3">
                    <c:v>75</c:v>
                  </c:pt>
                  <c:pt idx="4">
                    <c:v>100</c:v>
                  </c:pt>
                  <c:pt idx="5">
                    <c:v>125</c:v>
                  </c:pt>
                  <c:pt idx="6">
                    <c:v>150</c:v>
                  </c:pt>
                </c:lvl>
              </c:multiLvlStrCache>
            </c:multiLvlStrRef>
          </c:cat>
          <c:val>
            <c:numRef>
              <c:f>Sheet1!$C$2:$C$8</c:f>
              <c:numCache>
                <c:formatCode>General</c:formatCode>
                <c:ptCount val="7"/>
                <c:pt idx="0">
                  <c:v>95</c:v>
                </c:pt>
                <c:pt idx="1">
                  <c:v>94</c:v>
                </c:pt>
                <c:pt idx="2">
                  <c:v>90</c:v>
                </c:pt>
                <c:pt idx="3">
                  <c:v>80</c:v>
                </c:pt>
                <c:pt idx="4">
                  <c:v>62</c:v>
                </c:pt>
                <c:pt idx="5">
                  <c:v>44</c:v>
                </c:pt>
                <c:pt idx="6">
                  <c:v>30</c:v>
                </c:pt>
              </c:numCache>
            </c:numRef>
          </c:val>
          <c:smooth val="1"/>
        </c:ser>
        <c:ser>
          <c:idx val="2"/>
          <c:order val="2"/>
          <c:tx>
            <c:strRef>
              <c:f>Sheet1!$D$1</c:f>
              <c:strCache>
                <c:ptCount val="1"/>
                <c:pt idx="0">
                  <c:v>TimeGuard</c:v>
                </c:pt>
              </c:strCache>
            </c:strRef>
          </c:tx>
          <c:spPr>
            <a:solidFill>
              <a:srgbClr val="0071E3"/>
            </a:solidFill>
            <a:ln w="38100" cap="flat">
              <a:solidFill>
                <a:srgbClr val="0071E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71E3"/>
              </a:solidFill>
              <a:ln w="9525" cap="flat">
                <a:solidFill>
                  <a:srgbClr val="0071E3"/>
                </a:solidFill>
                <a:prstDash val="solid"/>
                <a:round/>
              </a:ln>
              <a:effectLst/>
            </c:spPr>
          </c:marker>
          <c:cat>
            <c:multiLvlStrRef>
              <c:f>Sheet1!$A$2:$A$8</c:f>
              <c:multiLvlStrCache>
                <c:ptCount val="7"/>
                <c:lvl>
                  <c:pt idx="0">
                    <c:v>0</c:v>
                  </c:pt>
                  <c:pt idx="1">
                    <c:v>25</c:v>
                  </c:pt>
                  <c:pt idx="2">
                    <c:v>50</c:v>
                  </c:pt>
                  <c:pt idx="3">
                    <c:v>75</c:v>
                  </c:pt>
                  <c:pt idx="4">
                    <c:v>100</c:v>
                  </c:pt>
                  <c:pt idx="5">
                    <c:v>125</c:v>
                  </c:pt>
                  <c:pt idx="6">
                    <c:v>150</c:v>
                  </c:pt>
                </c:lvl>
              </c:multiLvlStrCache>
            </c:multiLvlStrRef>
          </c:cat>
          <c:val>
            <c:numRef>
              <c:f>Sheet1!$D$2:$D$8</c:f>
              <c:numCache>
                <c:formatCode>General</c:formatCode>
                <c:ptCount val="7"/>
                <c:pt idx="0">
                  <c:v>95</c:v>
                </c:pt>
                <c:pt idx="1">
                  <c:v>95</c:v>
                </c:pt>
                <c:pt idx="2">
                  <c:v>94</c:v>
                </c:pt>
                <c:pt idx="3">
                  <c:v>93</c:v>
                </c:pt>
                <c:pt idx="4">
                  <c:v>93</c:v>
                </c:pt>
                <c:pt idx="5">
                  <c:v>92</c:v>
                </c:pt>
                <c:pt idx="6">
                  <c:v>92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686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6868B"/>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1000">
              <a:solidFill>
                <a:srgbClr val="86868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One sentence: our detector updates itself to stay accurate, and we make sure an attacker cannot abuse those updates. Whole talk is about 7 minutes, leaving 3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Three beats. On-device detection works. It has to adapt because traffic drifts. Adapting opens a door, and attackers have already walked through it in published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These five come from a sweep of 78 papers, 28 read in full. Read the right column: stale, unchecked, attack only, no defense, needs peers. That column is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Say the honest note out loud; it shows we checked. Anyone can claim novelty; we can say exactly where the prior work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RQ1 is the peer-free idea. RQ2 is the patient attacker. RQ3 keeps us honest about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Walk the top row left to right; the red box is where the attacker gets in. Then the two layers. Key phrase: we take a defense that needs many devices and run it over time on one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slide is the research idea. Showing each layer fail alone and the pair hold is our headline experiment. Say clearly that the table is the hypothesis, not results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Everything is public and cheap. The naive adaptive baseline matters most, because our claim is to keep its freshness without its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Point at the chart and say sketch twice. If the final plot looks like this, the claim holds. The ESP32 numbers are what almost nobody else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then open for questions. Likely questions: 1) Is the attack new? No, cite [6] and [12]; the defense is ours. 2) Why not federated learning? A single ESP32 has no peers, and FL defenses fail against slow attackers anyway [10]. 3) Can OS-ELM train on an ESP32? Its updates are cheap; if not, we run the guard on-device and replay features. 4) Is the budget blocking real drift? We sweep it and report that trade-off as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Leave it up during questions if nothing else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86868B"/>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86868B"/>
                </a:solidFill>
                <a:latin typeface="Calibri" pitchFamily="34" charset="0"/>
                <a:ea typeface="Calibri" pitchFamily="34" charset="-122"/>
                <a:cs typeface="Calibri" pitchFamily="34" charset="-120"/>
              </a:rPr>
              <a:t>CSD457  ·  INTERNET OF THINGS  ·  GROUP G-04</a:t>
            </a:r>
            <a:endParaRPr lang="en-US" sz="1250" dirty="0"/>
          </a:p>
        </p:txBody>
      </p:sp>
      <p:sp>
        <p:nvSpPr>
          <p:cNvPr id="4" name="Text 2"/>
          <p:cNvSpPr txBox="1"/>
          <p:nvPr/>
        </p:nvSpPr>
        <p:spPr>
          <a:xfrm>
            <a:off x="822960" y="1920240"/>
            <a:ext cx="10515600" cy="2011680"/>
          </a:xfrm>
          <a:prstGeom prst="rect">
            <a:avLst/>
          </a:prstGeom>
          <a:noFill/>
          <a:ln/>
        </p:spPr>
        <p:txBody>
          <a:bodyPr wrap="square" lIns="0" tIns="0" rIns="0" bIns="0" rtlCol="0" anchor="ctr"/>
          <a:lstStyle/>
          <a:p>
            <a:pPr indent="0" marL="0">
              <a:lnSpc>
                <a:spcPct val="103000"/>
              </a:lnSpc>
              <a:buNone/>
            </a:pPr>
            <a:r>
              <a:rPr lang="en-US" sz="4400" b="1" dirty="0">
                <a:solidFill>
                  <a:srgbClr val="0071E3"/>
                </a:solidFill>
                <a:latin typeface="Calibri" pitchFamily="34" charset="0"/>
                <a:ea typeface="Calibri" pitchFamily="34" charset="-122"/>
                <a:cs typeface="Calibri" pitchFamily="34" charset="-120"/>
              </a:rPr>
              <a:t>Poison-Resilient </a:t>
            </a:r>
            <a:pPr indent="0" marL="0">
              <a:lnSpc>
                <a:spcPct val="103000"/>
              </a:lnSpc>
              <a:buNone/>
            </a:pPr>
            <a:r>
              <a:rPr lang="en-US" sz="4400" b="1" dirty="0">
                <a:solidFill>
                  <a:srgbClr val="FFFFFF"/>
                </a:solidFill>
                <a:latin typeface="Calibri" pitchFamily="34" charset="0"/>
                <a:ea typeface="Calibri" pitchFamily="34" charset="-122"/>
                <a:cs typeface="Calibri" pitchFamily="34" charset="-120"/>
              </a:rPr>
              <a:t>On-Device Intrusion Detection for Drifting IoT</a:t>
            </a:r>
            <a:endParaRPr lang="en-US" sz="4400" dirty="0"/>
          </a:p>
        </p:txBody>
      </p:sp>
      <p:sp>
        <p:nvSpPr>
          <p:cNvPr id="5" name="Text 3"/>
          <p:cNvSpPr txBox="1"/>
          <p:nvPr/>
        </p:nvSpPr>
        <p:spPr>
          <a:xfrm>
            <a:off x="822960" y="4114800"/>
            <a:ext cx="9966960" cy="822960"/>
          </a:xfrm>
          <a:prstGeom prst="rect">
            <a:avLst/>
          </a:prstGeom>
          <a:noFill/>
          <a:ln/>
        </p:spPr>
        <p:txBody>
          <a:bodyPr wrap="square" lIns="0" tIns="0" rIns="0" bIns="0" rtlCol="0" anchor="ctr"/>
          <a:lstStyle/>
          <a:p>
            <a:pPr indent="0" marL="0">
              <a:lnSpc>
                <a:spcPct val="110000"/>
              </a:lnSpc>
              <a:buNone/>
            </a:pPr>
            <a:r>
              <a:rPr lang="en-US" sz="1800" dirty="0">
                <a:solidFill>
                  <a:srgbClr val="C7C7CC"/>
                </a:solidFill>
                <a:latin typeface="Calibri" pitchFamily="34" charset="0"/>
                <a:ea typeface="Calibri" pitchFamily="34" charset="-122"/>
                <a:cs typeface="Calibri" pitchFamily="34" charset="-120"/>
              </a:rPr>
              <a:t>A self-updating detector on an ESP32 that checks its own updates, so an attacker cannot slowly teach it that attacks are normal.</a:t>
            </a:r>
            <a:endParaRPr lang="en-US" sz="1800" dirty="0"/>
          </a:p>
        </p:txBody>
      </p:sp>
      <p:sp>
        <p:nvSpPr>
          <p:cNvPr id="6" name="Text 4"/>
          <p:cNvSpPr txBox="1"/>
          <p:nvPr/>
        </p:nvSpPr>
        <p:spPr>
          <a:xfrm>
            <a:off x="822960" y="5989320"/>
            <a:ext cx="105156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First Presentation, Proposal</a:t>
            </a:r>
            <a:pPr indent="0" marL="0">
              <a:buNone/>
            </a:pPr>
            <a:r>
              <a:rPr lang="en-US" sz="1300" dirty="0">
                <a:solidFill>
                  <a:srgbClr val="86868B"/>
                </a:solidFill>
                <a:latin typeface="Calibri" pitchFamily="34" charset="0"/>
                <a:ea typeface="Calibri" pitchFamily="34" charset="-122"/>
                <a:cs typeface="Calibri" pitchFamily="34" charset="-120"/>
              </a:rPr>
              <a:t>        Rishit Kamboj and Farhan Naik        24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PROBLEM STATEMENT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3000" b="1" dirty="0">
                <a:solidFill>
                  <a:srgbClr val="1D1D1F"/>
                </a:solidFill>
                <a:latin typeface="Calibri" pitchFamily="34" charset="0"/>
                <a:ea typeface="Calibri" pitchFamily="34" charset="-122"/>
                <a:cs typeface="Calibri" pitchFamily="34" charset="-120"/>
              </a:rPr>
              <a:t>A detector that learns on the device can be taught to be blind.</a:t>
            </a:r>
            <a:endParaRPr lang="en-US" sz="3000" dirty="0"/>
          </a:p>
        </p:txBody>
      </p:sp>
      <p:sp>
        <p:nvSpPr>
          <p:cNvPr id="5" name="Text 3"/>
          <p:cNvSpPr txBox="1"/>
          <p:nvPr/>
        </p:nvSpPr>
        <p:spPr>
          <a:xfrm>
            <a:off x="822960" y="242316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554480" y="240487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Detection belongs on the device.</a:t>
            </a:r>
            <a:endParaRPr lang="en-US" sz="1800" dirty="0"/>
          </a:p>
        </p:txBody>
      </p:sp>
      <p:sp>
        <p:nvSpPr>
          <p:cNvPr id="7" name="Text 5"/>
          <p:cNvSpPr txBox="1"/>
          <p:nvPr/>
        </p:nvSpPr>
        <p:spPr>
          <a:xfrm>
            <a:off x="1554480" y="277063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Lightweight IDS models already reach 96 to 99% accuracy on ESP32-class boards [1, 14].</a:t>
            </a:r>
            <a:endParaRPr lang="en-US" sz="1500" dirty="0"/>
          </a:p>
        </p:txBody>
      </p:sp>
      <p:sp>
        <p:nvSpPr>
          <p:cNvPr id="8" name="Text 6"/>
          <p:cNvSpPr txBox="1"/>
          <p:nvPr/>
        </p:nvSpPr>
        <p:spPr>
          <a:xfrm>
            <a:off x="822960" y="361188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554480" y="359359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But normal traffic drifts.</a:t>
            </a:r>
            <a:endParaRPr lang="en-US" sz="1800" dirty="0"/>
          </a:p>
        </p:txBody>
      </p:sp>
      <p:sp>
        <p:nvSpPr>
          <p:cNvPr id="10" name="Text 8"/>
          <p:cNvSpPr txBox="1"/>
          <p:nvPr/>
        </p:nvSpPr>
        <p:spPr>
          <a:xfrm>
            <a:off x="1554480" y="395935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New devices, firmware and usage patterns make a frozen model stale, so it must update itself [3, 4].</a:t>
            </a:r>
            <a:endParaRPr lang="en-US" sz="1500" dirty="0"/>
          </a:p>
        </p:txBody>
      </p:sp>
      <p:sp>
        <p:nvSpPr>
          <p:cNvPr id="11" name="Text 9"/>
          <p:cNvSpPr txBox="1"/>
          <p:nvPr/>
        </p:nvSpPr>
        <p:spPr>
          <a:xfrm>
            <a:off x="822960" y="480060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554480" y="478231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And the update is the weak point.</a:t>
            </a:r>
            <a:endParaRPr lang="en-US" sz="1800" dirty="0"/>
          </a:p>
        </p:txBody>
      </p:sp>
      <p:sp>
        <p:nvSpPr>
          <p:cNvPr id="13" name="Text 11"/>
          <p:cNvSpPr txBox="1"/>
          <p:nvPr/>
        </p:nvSpPr>
        <p:spPr>
          <a:xfrm>
            <a:off x="1554480" y="514807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An attacker who controls a small share of traffic can shift 'normal' a little each cycle until a real attack passes as benign. This boiling-frog poisoning is already demonstrated [6, 7].</a:t>
            </a:r>
            <a:endParaRPr lang="en-US" sz="1500" dirty="0"/>
          </a:p>
        </p:txBody>
      </p:sp>
      <p:sp>
        <p:nvSpPr>
          <p:cNvPr id="14" name="Text 12"/>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NDSS 2018  ·  [3] IEEE INFOCOM 2024  ·  [4] IEEE IoT Magazine 2021  ·  [6] ACM SAC 2021  ·  [7] MDPI Sensors 2024  ·  [14] IEEE ETECOM 2025</a:t>
            </a:r>
            <a:endParaRPr lang="en-US" sz="10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EXISTING WORK  ·  5 PAPERS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Every piece exists. Nobody has put them on one device.</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2194560"/>
          <a:ext cx="10561320" cy="914400"/>
        </p:xfrm>
        <a:graphic>
          <a:graphicData uri="http://schemas.openxmlformats.org/drawingml/2006/table">
            <a:tbl>
              <a:tblPr/>
              <a:tblGrid>
                <a:gridCol w="1920240"/>
                <a:gridCol w="1554480"/>
                <a:gridCol w="3611880"/>
                <a:gridCol w="3474720"/>
              </a:tblGrid>
              <a:tr h="384048">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PAPER</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VENUE</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SHOWS</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LEAVES OPEN</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Kitsune [1]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NDSS 2018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Online autoencoder IDS light enough for small devices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Freezes after training, so it goes stale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AOC-IDS [3]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INFOCOM 2024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IDS that adapts online around a trusted anchor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Server-scale; commits every update unchecked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Kravchik et al. [6]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ACM SAC 2021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Slow poisoning breaks online-retrained detectors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Attack only, on industrial systems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ONLAD attack [7]</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Sensors 2024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100% poisoning success on an on-device learner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Proposes no defense at all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Krum [8]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NeurIPS 2017</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Provably robust filtering of poisoned updates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Needs many peer devices; one ESP32 has none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bl>
          </a:graphicData>
        </a:graphic>
      </p:graphicFrame>
      <p:sp>
        <p:nvSpPr>
          <p:cNvPr id="6" name="Text 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Selected from 78 papers found and 28 read in full. Full citations on the last slide.</a:t>
            </a:r>
            <a:endParaRPr lang="en-US" sz="1000" dirty="0"/>
          </a:p>
        </p:txBody>
      </p:sp>
      <p:sp>
        <p:nvSpPr>
          <p:cNvPr id="7" name="Text 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GAP</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The attack is known. A defense for a single device is missing.</a:t>
            </a:r>
            <a:endParaRPr lang="en-US" sz="2800" dirty="0"/>
          </a:p>
        </p:txBody>
      </p:sp>
      <p:sp>
        <p:nvSpPr>
          <p:cNvPr id="5" name="Shape 3"/>
          <p:cNvSpPr/>
          <p:nvPr/>
        </p:nvSpPr>
        <p:spPr>
          <a:xfrm>
            <a:off x="822960" y="2240280"/>
            <a:ext cx="3337560" cy="1600200"/>
          </a:xfrm>
          <a:prstGeom prst="roundRect">
            <a:avLst>
              <a:gd name="adj" fmla="val 6857"/>
            </a:avLst>
          </a:prstGeom>
          <a:solidFill>
            <a:srgbClr val="F5F5F7"/>
          </a:solidFill>
          <a:ln/>
        </p:spPr>
      </p:sp>
      <p:sp>
        <p:nvSpPr>
          <p:cNvPr id="6" name="Text 4"/>
          <p:cNvSpPr txBox="1"/>
          <p:nvPr/>
        </p:nvSpPr>
        <p:spPr>
          <a:xfrm>
            <a:off x="109728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On-device IDS</a:t>
            </a:r>
            <a:endParaRPr lang="en-US" sz="1700" dirty="0"/>
          </a:p>
        </p:txBody>
      </p:sp>
      <p:sp>
        <p:nvSpPr>
          <p:cNvPr id="7" name="Text 5"/>
          <p:cNvSpPr txBox="1"/>
          <p:nvPr/>
        </p:nvSpPr>
        <p:spPr>
          <a:xfrm>
            <a:off x="109728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Fits on an ESP32, but never adapts</a:t>
            </a:r>
            <a:endParaRPr lang="en-US" sz="1400" dirty="0"/>
          </a:p>
        </p:txBody>
      </p:sp>
      <p:sp>
        <p:nvSpPr>
          <p:cNvPr id="8" name="Text 6"/>
          <p:cNvSpPr txBox="1"/>
          <p:nvPr/>
        </p:nvSpPr>
        <p:spPr>
          <a:xfrm>
            <a:off x="1097280" y="3456432"/>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[1, 2, 14]</a:t>
            </a:r>
            <a:endParaRPr lang="en-US" sz="1100" dirty="0"/>
          </a:p>
        </p:txBody>
      </p:sp>
      <p:sp>
        <p:nvSpPr>
          <p:cNvPr id="9" name="Shape 7"/>
          <p:cNvSpPr/>
          <p:nvPr/>
        </p:nvSpPr>
        <p:spPr>
          <a:xfrm>
            <a:off x="4434840" y="2240280"/>
            <a:ext cx="3337560" cy="1600200"/>
          </a:xfrm>
          <a:prstGeom prst="roundRect">
            <a:avLst>
              <a:gd name="adj" fmla="val 6857"/>
            </a:avLst>
          </a:prstGeom>
          <a:solidFill>
            <a:srgbClr val="F5F5F7"/>
          </a:solidFill>
          <a:ln/>
        </p:spPr>
      </p:sp>
      <p:sp>
        <p:nvSpPr>
          <p:cNvPr id="10" name="Text 8"/>
          <p:cNvSpPr txBox="1"/>
          <p:nvPr/>
        </p:nvSpPr>
        <p:spPr>
          <a:xfrm>
            <a:off x="470916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Drift adaptation</a:t>
            </a:r>
            <a:endParaRPr lang="en-US" sz="1700" dirty="0"/>
          </a:p>
        </p:txBody>
      </p:sp>
      <p:sp>
        <p:nvSpPr>
          <p:cNvPr id="11" name="Text 9"/>
          <p:cNvSpPr txBox="1"/>
          <p:nvPr/>
        </p:nvSpPr>
        <p:spPr>
          <a:xfrm>
            <a:off x="470916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Adapts cheaply, but trusts every update</a:t>
            </a:r>
            <a:endParaRPr lang="en-US" sz="1400" dirty="0"/>
          </a:p>
        </p:txBody>
      </p:sp>
      <p:sp>
        <p:nvSpPr>
          <p:cNvPr id="12" name="Text 10"/>
          <p:cNvSpPr txBox="1"/>
          <p:nvPr/>
        </p:nvSpPr>
        <p:spPr>
          <a:xfrm>
            <a:off x="4709160" y="3456432"/>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[3, 4, 5]</a:t>
            </a:r>
            <a:endParaRPr lang="en-US" sz="1100" dirty="0"/>
          </a:p>
        </p:txBody>
      </p:sp>
      <p:sp>
        <p:nvSpPr>
          <p:cNvPr id="13" name="Shape 11"/>
          <p:cNvSpPr/>
          <p:nvPr/>
        </p:nvSpPr>
        <p:spPr>
          <a:xfrm>
            <a:off x="8046720" y="2240280"/>
            <a:ext cx="3337560" cy="1600200"/>
          </a:xfrm>
          <a:prstGeom prst="roundRect">
            <a:avLst>
              <a:gd name="adj" fmla="val 6857"/>
            </a:avLst>
          </a:prstGeom>
          <a:solidFill>
            <a:srgbClr val="F5F5F7"/>
          </a:solidFill>
          <a:ln/>
        </p:spPr>
      </p:sp>
      <p:sp>
        <p:nvSpPr>
          <p:cNvPr id="14" name="Text 12"/>
          <p:cNvSpPr txBox="1"/>
          <p:nvPr/>
        </p:nvSpPr>
        <p:spPr>
          <a:xfrm>
            <a:off x="832104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Poisoning defenses</a:t>
            </a:r>
            <a:endParaRPr lang="en-US" sz="1700" dirty="0"/>
          </a:p>
        </p:txBody>
      </p:sp>
      <p:sp>
        <p:nvSpPr>
          <p:cNvPr id="15" name="Text 13"/>
          <p:cNvSpPr txBox="1"/>
          <p:nvPr/>
        </p:nvSpPr>
        <p:spPr>
          <a:xfrm>
            <a:off x="832104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Robust, but only across many devices</a:t>
            </a:r>
            <a:endParaRPr lang="en-US" sz="1400" dirty="0"/>
          </a:p>
        </p:txBody>
      </p:sp>
      <p:sp>
        <p:nvSpPr>
          <p:cNvPr id="16" name="Text 14"/>
          <p:cNvSpPr txBox="1"/>
          <p:nvPr/>
        </p:nvSpPr>
        <p:spPr>
          <a:xfrm>
            <a:off x="8321040" y="3456432"/>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[8, 9, 10]</a:t>
            </a:r>
            <a:endParaRPr lang="en-US" sz="1100" dirty="0"/>
          </a:p>
        </p:txBody>
      </p:sp>
      <p:sp>
        <p:nvSpPr>
          <p:cNvPr id="17" name="Shape 15"/>
          <p:cNvSpPr/>
          <p:nvPr/>
        </p:nvSpPr>
        <p:spPr>
          <a:xfrm>
            <a:off x="822960" y="4069080"/>
            <a:ext cx="10561320" cy="2011680"/>
          </a:xfrm>
          <a:prstGeom prst="roundRect">
            <a:avLst>
              <a:gd name="adj" fmla="val 5455"/>
            </a:avLst>
          </a:prstGeom>
          <a:solidFill>
            <a:srgbClr val="1D1D1F"/>
          </a:solidFill>
          <a:ln/>
        </p:spPr>
      </p:sp>
      <p:sp>
        <p:nvSpPr>
          <p:cNvPr id="18" name="Text 16"/>
          <p:cNvSpPr txBox="1"/>
          <p:nvPr/>
        </p:nvSpPr>
        <p:spPr>
          <a:xfrm>
            <a:off x="1188720" y="4297680"/>
            <a:ext cx="4572000" cy="274320"/>
          </a:xfrm>
          <a:prstGeom prst="rect">
            <a:avLst/>
          </a:prstGeom>
          <a:noFill/>
          <a:ln/>
        </p:spPr>
        <p:txBody>
          <a:bodyPr wrap="square" lIns="0" tIns="0" rIns="0" bIns="0" rtlCol="0" anchor="ctr"/>
          <a:lstStyle/>
          <a:p>
            <a:pPr indent="0" marL="0">
              <a:buNone/>
            </a:pPr>
            <a:r>
              <a:rPr lang="en-US" sz="1200" b="1" spc="200" kern="0" dirty="0">
                <a:solidFill>
                  <a:srgbClr val="0071E3"/>
                </a:solidFill>
                <a:latin typeface="Calibri" pitchFamily="34" charset="0"/>
                <a:ea typeface="Calibri" pitchFamily="34" charset="-122"/>
                <a:cs typeface="Calibri" pitchFamily="34" charset="-120"/>
              </a:rPr>
              <a:t>THE GAP WE FILL</a:t>
            </a:r>
            <a:endParaRPr lang="en-US" sz="1200" dirty="0"/>
          </a:p>
        </p:txBody>
      </p:sp>
      <p:sp>
        <p:nvSpPr>
          <p:cNvPr id="19" name="Text 17"/>
          <p:cNvSpPr txBox="1"/>
          <p:nvPr/>
        </p:nvSpPr>
        <p:spPr>
          <a:xfrm>
            <a:off x="1188720" y="4590288"/>
            <a:ext cx="9875520" cy="731520"/>
          </a:xfrm>
          <a:prstGeom prst="rect">
            <a:avLst/>
          </a:prstGeom>
          <a:noFill/>
          <a:ln/>
        </p:spPr>
        <p:txBody>
          <a:bodyPr wrap="square" lIns="0" tIns="0" rIns="0" bIns="0" rtlCol="0" anchor="t"/>
          <a:lstStyle/>
          <a:p>
            <a:pPr indent="0" marL="0">
              <a:lnSpc>
                <a:spcPct val="108000"/>
              </a:lnSpc>
              <a:buNone/>
            </a:pPr>
            <a:r>
              <a:rPr lang="en-US" sz="1900" b="1" dirty="0">
                <a:solidFill>
                  <a:srgbClr val="FFFFFF"/>
                </a:solidFill>
                <a:latin typeface="Calibri" pitchFamily="34" charset="0"/>
                <a:ea typeface="Calibri" pitchFamily="34" charset="-122"/>
                <a:cs typeface="Calibri" pitchFamily="34" charset="-120"/>
              </a:rPr>
              <a:t>A poisoning defense that needs no peer devices, runs inside a microcontroller's budget, and holds against a patient attacker over many update cycles.</a:t>
            </a:r>
            <a:endParaRPr lang="en-US" sz="1900" dirty="0"/>
          </a:p>
        </p:txBody>
      </p:sp>
      <p:sp>
        <p:nvSpPr>
          <p:cNvPr id="20" name="Text 18"/>
          <p:cNvSpPr txBox="1"/>
          <p:nvPr/>
        </p:nvSpPr>
        <p:spPr>
          <a:xfrm>
            <a:off x="1188720" y="5394960"/>
            <a:ext cx="9875520" cy="502920"/>
          </a:xfrm>
          <a:prstGeom prst="rect">
            <a:avLst/>
          </a:prstGeom>
          <a:noFill/>
          <a:ln/>
        </p:spPr>
        <p:txBody>
          <a:bodyPr wrap="square" lIns="0" tIns="0" rIns="0" bIns="0" rtlCol="0" anchor="t"/>
          <a:lstStyle/>
          <a:p>
            <a:pPr indent="0" marL="0">
              <a:buNone/>
            </a:pPr>
            <a:r>
              <a:rPr lang="en-US" sz="1300" dirty="0">
                <a:solidFill>
                  <a:srgbClr val="C7C7CC"/>
                </a:solidFill>
                <a:latin typeface="Calibri" pitchFamily="34" charset="0"/>
                <a:ea typeface="Calibri" pitchFamily="34" charset="-122"/>
                <a:cs typeface="Calibri" pitchFamily="34" charset="-120"/>
              </a:rPr>
              <a:t>Honest note: the boiling-frog attack on adaptive IDS was demonstrated in 2021 and again in a 2026 thesis [6, 12]. Our novelty is the defense, not the attack.</a:t>
            </a:r>
            <a:endParaRPr lang="en-US" sz="1300" dirty="0"/>
          </a:p>
        </p:txBody>
      </p:sp>
      <p:sp>
        <p:nvSpPr>
          <p:cNvPr id="21" name="Text 19"/>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[2] IEEE Pervasive Computing 2018  ·  [5] SIAM SDM 2007  ·  [9] ICML 2018  ·  [10] DISS at NDSS 2020  ·  [12] UMass Dartmouth, 2026</a:t>
            </a:r>
            <a:endParaRPr lang="en-US" sz="1000" dirty="0"/>
          </a:p>
        </p:txBody>
      </p:sp>
      <p:sp>
        <p:nvSpPr>
          <p:cNvPr id="22" name="Text 20"/>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QUESTIONS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Three questions, one per claim.</a:t>
            </a:r>
            <a:endParaRPr lang="en-US" sz="2800" dirty="0"/>
          </a:p>
        </p:txBody>
      </p:sp>
      <p:sp>
        <p:nvSpPr>
          <p:cNvPr id="5" name="Shape 3"/>
          <p:cNvSpPr/>
          <p:nvPr/>
        </p:nvSpPr>
        <p:spPr>
          <a:xfrm>
            <a:off x="822960" y="2240280"/>
            <a:ext cx="10561320" cy="1005840"/>
          </a:xfrm>
          <a:prstGeom prst="roundRect">
            <a:avLst>
              <a:gd name="adj" fmla="val 10909"/>
            </a:avLst>
          </a:prstGeom>
          <a:solidFill>
            <a:srgbClr val="F5F5F7"/>
          </a:solidFill>
          <a:ln/>
        </p:spPr>
      </p:sp>
      <p:sp>
        <p:nvSpPr>
          <p:cNvPr id="6" name="Text 4"/>
          <p:cNvSpPr txBox="1"/>
          <p:nvPr/>
        </p:nvSpPr>
        <p:spPr>
          <a:xfrm>
            <a:off x="1143000" y="224028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RQ1</a:t>
            </a:r>
            <a:endParaRPr lang="en-US" sz="2200" dirty="0"/>
          </a:p>
        </p:txBody>
      </p:sp>
      <p:sp>
        <p:nvSpPr>
          <p:cNvPr id="7" name="Text 5"/>
          <p:cNvSpPr txBox="1"/>
          <p:nvPr/>
        </p:nvSpPr>
        <p:spPr>
          <a:xfrm>
            <a:off x="2286000" y="224028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Can a single device vet its own updates with no peers, using robust statistics over its own update history?</a:t>
            </a:r>
            <a:endParaRPr lang="en-US" sz="1700" dirty="0"/>
          </a:p>
        </p:txBody>
      </p:sp>
      <p:sp>
        <p:nvSpPr>
          <p:cNvPr id="8" name="Shape 6"/>
          <p:cNvSpPr/>
          <p:nvPr/>
        </p:nvSpPr>
        <p:spPr>
          <a:xfrm>
            <a:off x="822960" y="3429000"/>
            <a:ext cx="10561320" cy="1005840"/>
          </a:xfrm>
          <a:prstGeom prst="roundRect">
            <a:avLst>
              <a:gd name="adj" fmla="val 10909"/>
            </a:avLst>
          </a:prstGeom>
          <a:solidFill>
            <a:srgbClr val="F5F5F7"/>
          </a:solidFill>
          <a:ln/>
        </p:spPr>
      </p:sp>
      <p:sp>
        <p:nvSpPr>
          <p:cNvPr id="9" name="Text 7"/>
          <p:cNvSpPr txBox="1"/>
          <p:nvPr/>
        </p:nvSpPr>
        <p:spPr>
          <a:xfrm>
            <a:off x="1143000" y="342900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RQ2</a:t>
            </a:r>
            <a:endParaRPr lang="en-US" sz="2200" dirty="0"/>
          </a:p>
        </p:txBody>
      </p:sp>
      <p:sp>
        <p:nvSpPr>
          <p:cNvPr id="10" name="Text 8"/>
          <p:cNvSpPr txBox="1"/>
          <p:nvPr/>
        </p:nvSpPr>
        <p:spPr>
          <a:xfrm>
            <a:off x="2286000" y="342900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Does a cumulative drift budget stop an attacker who keeps every single step small enough to look normal?</a:t>
            </a:r>
            <a:endParaRPr lang="en-US" sz="1700" dirty="0"/>
          </a:p>
        </p:txBody>
      </p:sp>
      <p:sp>
        <p:nvSpPr>
          <p:cNvPr id="11" name="Shape 9"/>
          <p:cNvSpPr/>
          <p:nvPr/>
        </p:nvSpPr>
        <p:spPr>
          <a:xfrm>
            <a:off x="822960" y="4617720"/>
            <a:ext cx="10561320" cy="1005840"/>
          </a:xfrm>
          <a:prstGeom prst="roundRect">
            <a:avLst>
              <a:gd name="adj" fmla="val 10909"/>
            </a:avLst>
          </a:prstGeom>
          <a:solidFill>
            <a:srgbClr val="F5F5F7"/>
          </a:solidFill>
          <a:ln/>
        </p:spPr>
      </p:sp>
      <p:sp>
        <p:nvSpPr>
          <p:cNvPr id="12" name="Text 10"/>
          <p:cNvSpPr txBox="1"/>
          <p:nvPr/>
        </p:nvSpPr>
        <p:spPr>
          <a:xfrm>
            <a:off x="1143000" y="461772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RQ3</a:t>
            </a:r>
            <a:endParaRPr lang="en-US" sz="2200" dirty="0"/>
          </a:p>
        </p:txBody>
      </p:sp>
      <p:sp>
        <p:nvSpPr>
          <p:cNvPr id="13" name="Text 11"/>
          <p:cNvSpPr txBox="1"/>
          <p:nvPr/>
        </p:nvSpPr>
        <p:spPr>
          <a:xfrm>
            <a:off x="2286000" y="461772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What does this protection cost on a real ESP32: memory, latency, energy, and slower adaptation to honest drift?</a:t>
            </a:r>
            <a:endParaRPr lang="en-US" sz="1700" dirty="0"/>
          </a:p>
        </p:txBody>
      </p:sp>
      <p:sp>
        <p:nvSpPr>
          <p:cNvPr id="14" name="Text 12"/>
          <p:cNvSpPr txBox="1"/>
          <p:nvPr/>
        </p:nvSpPr>
        <p:spPr>
          <a:xfrm>
            <a:off x="822960" y="5760720"/>
            <a:ext cx="10515600" cy="530352"/>
          </a:xfrm>
          <a:prstGeom prst="rect">
            <a:avLst/>
          </a:prstGeom>
          <a:noFill/>
          <a:ln/>
        </p:spPr>
        <p:txBody>
          <a:bodyPr wrap="square" lIns="0" tIns="0" rIns="0" bIns="0" rtlCol="0" anchor="t"/>
          <a:lstStyle/>
          <a:p>
            <a:pPr indent="0" marL="0">
              <a:buNone/>
            </a:pPr>
            <a:r>
              <a:rPr lang="en-US" sz="1400" i="1" dirty="0">
                <a:solidFill>
                  <a:srgbClr val="86868B"/>
                </a:solidFill>
                <a:latin typeface="Calibri" pitchFamily="34" charset="0"/>
                <a:ea typeface="Calibri" pitchFamily="34" charset="-122"/>
                <a:cs typeface="Calibri" pitchFamily="34" charset="-120"/>
              </a:rPr>
              <a:t>Hypothesis: the two layers together keep the target attack detectable across many poisoning cycles, while naive adaptation collapses.</a:t>
            </a:r>
            <a:endParaRPr lang="en-US" sz="14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PROPOSED APPROACH  ·  TIMEGUARD</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Every update the detector proposes has to pass two checks.</a:t>
            </a:r>
            <a:endParaRPr lang="en-US" sz="2800" dirty="0"/>
          </a:p>
        </p:txBody>
      </p:sp>
      <p:sp>
        <p:nvSpPr>
          <p:cNvPr id="5" name="Shape 3"/>
          <p:cNvSpPr/>
          <p:nvPr/>
        </p:nvSpPr>
        <p:spPr>
          <a:xfrm>
            <a:off x="822960" y="2240280"/>
            <a:ext cx="1874520" cy="914400"/>
          </a:xfrm>
          <a:prstGeom prst="roundRect">
            <a:avLst>
              <a:gd name="adj" fmla="val 12000"/>
            </a:avLst>
          </a:prstGeom>
          <a:solidFill>
            <a:srgbClr val="F5F5F7"/>
          </a:solidFill>
          <a:ln/>
        </p:spPr>
      </p:sp>
      <p:sp>
        <p:nvSpPr>
          <p:cNvPr id="6" name="Text 4"/>
          <p:cNvSpPr txBox="1"/>
          <p:nvPr/>
        </p:nvSpPr>
        <p:spPr>
          <a:xfrm>
            <a:off x="100584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Traffic</a:t>
            </a:r>
            <a:endParaRPr lang="en-US" sz="1500" dirty="0"/>
          </a:p>
        </p:txBody>
      </p:sp>
      <p:sp>
        <p:nvSpPr>
          <p:cNvPr id="7" name="Text 5"/>
          <p:cNvSpPr txBox="1"/>
          <p:nvPr/>
        </p:nvSpPr>
        <p:spPr>
          <a:xfrm>
            <a:off x="100584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Kitsune stats [1]</a:t>
            </a:r>
            <a:endParaRPr lang="en-US" sz="1200" dirty="0"/>
          </a:p>
        </p:txBody>
      </p:sp>
      <p:sp>
        <p:nvSpPr>
          <p:cNvPr id="8" name="Shape 6"/>
          <p:cNvSpPr/>
          <p:nvPr/>
        </p:nvSpPr>
        <p:spPr>
          <a:xfrm>
            <a:off x="2761488" y="2697480"/>
            <a:ext cx="237744" cy="0"/>
          </a:xfrm>
          <a:prstGeom prst="line">
            <a:avLst/>
          </a:prstGeom>
          <a:noFill/>
          <a:ln w="19050">
            <a:solidFill>
              <a:srgbClr val="86868B"/>
            </a:solidFill>
            <a:prstDash val="solid"/>
            <a:tailEnd type="triangle"/>
          </a:ln>
        </p:spPr>
      </p:sp>
      <p:sp>
        <p:nvSpPr>
          <p:cNvPr id="9" name="Shape 7"/>
          <p:cNvSpPr/>
          <p:nvPr/>
        </p:nvSpPr>
        <p:spPr>
          <a:xfrm>
            <a:off x="3063240" y="2240280"/>
            <a:ext cx="1874520" cy="914400"/>
          </a:xfrm>
          <a:prstGeom prst="roundRect">
            <a:avLst>
              <a:gd name="adj" fmla="val 12000"/>
            </a:avLst>
          </a:prstGeom>
          <a:solidFill>
            <a:srgbClr val="F5F5F7"/>
          </a:solidFill>
          <a:ln/>
        </p:spPr>
      </p:sp>
      <p:sp>
        <p:nvSpPr>
          <p:cNvPr id="10" name="Text 8"/>
          <p:cNvSpPr txBox="1"/>
          <p:nvPr/>
        </p:nvSpPr>
        <p:spPr>
          <a:xfrm>
            <a:off x="324612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Detector</a:t>
            </a:r>
            <a:endParaRPr lang="en-US" sz="1500" dirty="0"/>
          </a:p>
        </p:txBody>
      </p:sp>
      <p:sp>
        <p:nvSpPr>
          <p:cNvPr id="11" name="Text 9"/>
          <p:cNvSpPr txBox="1"/>
          <p:nvPr/>
        </p:nvSpPr>
        <p:spPr>
          <a:xfrm>
            <a:off x="324612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OS-ELM model</a:t>
            </a:r>
            <a:endParaRPr lang="en-US" sz="1200" dirty="0"/>
          </a:p>
        </p:txBody>
      </p:sp>
      <p:sp>
        <p:nvSpPr>
          <p:cNvPr id="12" name="Shape 10"/>
          <p:cNvSpPr/>
          <p:nvPr/>
        </p:nvSpPr>
        <p:spPr>
          <a:xfrm>
            <a:off x="5001768" y="2697480"/>
            <a:ext cx="237744" cy="0"/>
          </a:xfrm>
          <a:prstGeom prst="line">
            <a:avLst/>
          </a:prstGeom>
          <a:noFill/>
          <a:ln w="19050">
            <a:solidFill>
              <a:srgbClr val="86868B"/>
            </a:solidFill>
            <a:prstDash val="solid"/>
            <a:tailEnd type="triangle"/>
          </a:ln>
        </p:spPr>
      </p:sp>
      <p:sp>
        <p:nvSpPr>
          <p:cNvPr id="13" name="Shape 11"/>
          <p:cNvSpPr/>
          <p:nvPr/>
        </p:nvSpPr>
        <p:spPr>
          <a:xfrm>
            <a:off x="5303520" y="2240280"/>
            <a:ext cx="1874520" cy="914400"/>
          </a:xfrm>
          <a:prstGeom prst="roundRect">
            <a:avLst>
              <a:gd name="adj" fmla="val 12000"/>
            </a:avLst>
          </a:prstGeom>
          <a:solidFill>
            <a:srgbClr val="F5F5F7"/>
          </a:solidFill>
          <a:ln/>
        </p:spPr>
      </p:sp>
      <p:sp>
        <p:nvSpPr>
          <p:cNvPr id="14" name="Text 12"/>
          <p:cNvSpPr txBox="1"/>
          <p:nvPr/>
        </p:nvSpPr>
        <p:spPr>
          <a:xfrm>
            <a:off x="548640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Drift trigger</a:t>
            </a:r>
            <a:endParaRPr lang="en-US" sz="1500" dirty="0"/>
          </a:p>
        </p:txBody>
      </p:sp>
      <p:sp>
        <p:nvSpPr>
          <p:cNvPr id="15" name="Text 13"/>
          <p:cNvSpPr txBox="1"/>
          <p:nvPr/>
        </p:nvSpPr>
        <p:spPr>
          <a:xfrm>
            <a:off x="548640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ADWIN [5]</a:t>
            </a:r>
            <a:endParaRPr lang="en-US" sz="1200" dirty="0"/>
          </a:p>
        </p:txBody>
      </p:sp>
      <p:sp>
        <p:nvSpPr>
          <p:cNvPr id="16" name="Shape 14"/>
          <p:cNvSpPr/>
          <p:nvPr/>
        </p:nvSpPr>
        <p:spPr>
          <a:xfrm>
            <a:off x="7242048" y="2697480"/>
            <a:ext cx="237744" cy="0"/>
          </a:xfrm>
          <a:prstGeom prst="line">
            <a:avLst/>
          </a:prstGeom>
          <a:noFill/>
          <a:ln w="19050">
            <a:solidFill>
              <a:srgbClr val="86868B"/>
            </a:solidFill>
            <a:prstDash val="solid"/>
            <a:tailEnd type="triangle"/>
          </a:ln>
        </p:spPr>
      </p:sp>
      <p:sp>
        <p:nvSpPr>
          <p:cNvPr id="17" name="Shape 15"/>
          <p:cNvSpPr/>
          <p:nvPr/>
        </p:nvSpPr>
        <p:spPr>
          <a:xfrm>
            <a:off x="7543800" y="2240280"/>
            <a:ext cx="1874520" cy="914400"/>
          </a:xfrm>
          <a:prstGeom prst="roundRect">
            <a:avLst>
              <a:gd name="adj" fmla="val 12000"/>
            </a:avLst>
          </a:prstGeom>
          <a:solidFill>
            <a:srgbClr val="F5F5F7"/>
          </a:solidFill>
          <a:ln/>
        </p:spPr>
      </p:sp>
      <p:sp>
        <p:nvSpPr>
          <p:cNvPr id="18" name="Text 16"/>
          <p:cNvSpPr txBox="1"/>
          <p:nvPr/>
        </p:nvSpPr>
        <p:spPr>
          <a:xfrm>
            <a:off x="7726680" y="2331720"/>
            <a:ext cx="1508760" cy="365760"/>
          </a:xfrm>
          <a:prstGeom prst="rect">
            <a:avLst/>
          </a:prstGeom>
          <a:noFill/>
          <a:ln/>
        </p:spPr>
        <p:txBody>
          <a:bodyPr wrap="square" lIns="0" tIns="0" rIns="0" bIns="0" rtlCol="0" anchor="ctr"/>
          <a:lstStyle/>
          <a:p>
            <a:pPr indent="0" marL="0">
              <a:buNone/>
            </a:pPr>
            <a:r>
              <a:rPr lang="en-US" sz="1500" b="1" dirty="0">
                <a:solidFill>
                  <a:srgbClr val="D70015"/>
                </a:solidFill>
                <a:latin typeface="Calibri" pitchFamily="34" charset="0"/>
                <a:ea typeface="Calibri" pitchFamily="34" charset="-122"/>
                <a:cs typeface="Calibri" pitchFamily="34" charset="-120"/>
              </a:rPr>
              <a:t>New update</a:t>
            </a:r>
            <a:endParaRPr lang="en-US" sz="1500" dirty="0"/>
          </a:p>
        </p:txBody>
      </p:sp>
      <p:sp>
        <p:nvSpPr>
          <p:cNvPr id="19" name="Text 17"/>
          <p:cNvSpPr txBox="1"/>
          <p:nvPr/>
        </p:nvSpPr>
        <p:spPr>
          <a:xfrm>
            <a:off x="772668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poison enters here</a:t>
            </a:r>
            <a:endParaRPr lang="en-US" sz="1200" dirty="0"/>
          </a:p>
        </p:txBody>
      </p:sp>
      <p:sp>
        <p:nvSpPr>
          <p:cNvPr id="20" name="Shape 18"/>
          <p:cNvSpPr/>
          <p:nvPr/>
        </p:nvSpPr>
        <p:spPr>
          <a:xfrm>
            <a:off x="9482328" y="2697480"/>
            <a:ext cx="329184" cy="0"/>
          </a:xfrm>
          <a:prstGeom prst="line">
            <a:avLst/>
          </a:prstGeom>
          <a:noFill/>
          <a:ln w="19050">
            <a:solidFill>
              <a:srgbClr val="86868B"/>
            </a:solidFill>
            <a:prstDash val="solid"/>
            <a:tailEnd type="triangle"/>
          </a:ln>
        </p:spPr>
      </p:sp>
      <p:sp>
        <p:nvSpPr>
          <p:cNvPr id="21" name="Shape 19"/>
          <p:cNvSpPr/>
          <p:nvPr/>
        </p:nvSpPr>
        <p:spPr>
          <a:xfrm>
            <a:off x="9720072" y="2240280"/>
            <a:ext cx="1645920" cy="914400"/>
          </a:xfrm>
          <a:prstGeom prst="roundRect">
            <a:avLst>
              <a:gd name="adj" fmla="val 12000"/>
            </a:avLst>
          </a:prstGeom>
          <a:solidFill>
            <a:srgbClr val="1D1D1F"/>
          </a:solidFill>
          <a:ln/>
        </p:spPr>
      </p:sp>
      <p:sp>
        <p:nvSpPr>
          <p:cNvPr id="22" name="Text 20"/>
          <p:cNvSpPr txBox="1"/>
          <p:nvPr/>
        </p:nvSpPr>
        <p:spPr>
          <a:xfrm>
            <a:off x="9902952" y="2240280"/>
            <a:ext cx="137160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Commit, reject, or freeze</a:t>
            </a:r>
            <a:endParaRPr lang="en-US" sz="1300" dirty="0"/>
          </a:p>
        </p:txBody>
      </p:sp>
      <p:sp>
        <p:nvSpPr>
          <p:cNvPr id="23" name="Shape 21"/>
          <p:cNvSpPr/>
          <p:nvPr/>
        </p:nvSpPr>
        <p:spPr>
          <a:xfrm>
            <a:off x="822960" y="3474720"/>
            <a:ext cx="5166360" cy="2606040"/>
          </a:xfrm>
          <a:prstGeom prst="roundRect">
            <a:avLst>
              <a:gd name="adj" fmla="val 4211"/>
            </a:avLst>
          </a:prstGeom>
          <a:solidFill>
            <a:srgbClr val="F5F5F7"/>
          </a:solidFill>
          <a:ln/>
        </p:spPr>
      </p:sp>
      <p:sp>
        <p:nvSpPr>
          <p:cNvPr id="24" name="Text 22"/>
          <p:cNvSpPr txBox="1"/>
          <p:nvPr/>
        </p:nvSpPr>
        <p:spPr>
          <a:xfrm>
            <a:off x="114300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Layer 1  ·  TimeKrum</a:t>
            </a:r>
            <a:endParaRPr lang="en-US" sz="1700" dirty="0"/>
          </a:p>
        </p:txBody>
      </p:sp>
      <p:sp>
        <p:nvSpPr>
          <p:cNvPr id="25" name="Text 23"/>
          <p:cNvSpPr txBox="1"/>
          <p:nvPr/>
        </p:nvSpPr>
        <p:spPr>
          <a:xfrm>
            <a:off x="114300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Does it match my own recent history?</a:t>
            </a:r>
            <a:endParaRPr lang="en-US" sz="1500" dirty="0"/>
          </a:p>
        </p:txBody>
      </p:sp>
      <p:sp>
        <p:nvSpPr>
          <p:cNvPr id="26" name="Text 24"/>
          <p:cNvSpPr txBox="1"/>
          <p:nvPr/>
        </p:nvSpPr>
        <p:spPr>
          <a:xfrm>
            <a:off x="1143000" y="4526280"/>
            <a:ext cx="4526280" cy="100584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Krum [8] compares updates across many devices. We compare a new update with the device's last k accepted updates instead, so no peers are needed.</a:t>
            </a:r>
            <a:endParaRPr lang="en-US" sz="1350" dirty="0"/>
          </a:p>
        </p:txBody>
      </p:sp>
      <p:sp>
        <p:nvSpPr>
          <p:cNvPr id="27" name="Text 25"/>
          <p:cNvSpPr txBox="1"/>
          <p:nvPr/>
        </p:nvSpPr>
        <p:spPr>
          <a:xfrm>
            <a:off x="1143000" y="5623560"/>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Catches abrupt poison</a:t>
            </a:r>
            <a:endParaRPr lang="en-US" sz="1300" dirty="0"/>
          </a:p>
        </p:txBody>
      </p:sp>
      <p:sp>
        <p:nvSpPr>
          <p:cNvPr id="28" name="Shape 26"/>
          <p:cNvSpPr/>
          <p:nvPr/>
        </p:nvSpPr>
        <p:spPr>
          <a:xfrm>
            <a:off x="6217920" y="3474720"/>
            <a:ext cx="5166360" cy="2606040"/>
          </a:xfrm>
          <a:prstGeom prst="roundRect">
            <a:avLst>
              <a:gd name="adj" fmla="val 4211"/>
            </a:avLst>
          </a:prstGeom>
          <a:solidFill>
            <a:srgbClr val="F5F5F7"/>
          </a:solidFill>
          <a:ln/>
        </p:spPr>
      </p:sp>
      <p:sp>
        <p:nvSpPr>
          <p:cNvPr id="29" name="Text 27"/>
          <p:cNvSpPr txBox="1"/>
          <p:nvPr/>
        </p:nvSpPr>
        <p:spPr>
          <a:xfrm>
            <a:off x="653796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Layer 2  ·  Drift budget</a:t>
            </a:r>
            <a:endParaRPr lang="en-US" sz="1700" dirty="0"/>
          </a:p>
        </p:txBody>
      </p:sp>
      <p:sp>
        <p:nvSpPr>
          <p:cNvPr id="30" name="Text 28"/>
          <p:cNvSpPr txBox="1"/>
          <p:nvPr/>
        </p:nvSpPr>
        <p:spPr>
          <a:xfrm>
            <a:off x="653796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Have I moved too far, too fast, in total?</a:t>
            </a:r>
            <a:endParaRPr lang="en-US" sz="1500" dirty="0"/>
          </a:p>
        </p:txBody>
      </p:sp>
      <p:sp>
        <p:nvSpPr>
          <p:cNvPr id="31" name="Text 29"/>
          <p:cNvSpPr txBox="1"/>
          <p:nvPr/>
        </p:nvSpPr>
        <p:spPr>
          <a:xfrm>
            <a:off x="6537960" y="4526280"/>
            <a:ext cx="4526280" cy="100584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Caps how far the model may drift from a trusted anchor over time, with the rate learned from clean data. Tiny steps still add up and hit the cap.</a:t>
            </a:r>
            <a:endParaRPr lang="en-US" sz="1350" dirty="0"/>
          </a:p>
        </p:txBody>
      </p:sp>
      <p:sp>
        <p:nvSpPr>
          <p:cNvPr id="32" name="Text 30"/>
          <p:cNvSpPr txBox="1"/>
          <p:nvPr/>
        </p:nvSpPr>
        <p:spPr>
          <a:xfrm>
            <a:off x="6537960" y="5623560"/>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Catches patient poison</a:t>
            </a:r>
            <a:endParaRPr lang="en-US" sz="1300" dirty="0"/>
          </a:p>
        </p:txBody>
      </p:sp>
      <p:sp>
        <p:nvSpPr>
          <p:cNvPr id="33" name="Text 31"/>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THE KEY INSIGHT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A clever attacker stays consistent. So one check is not enough.</a:t>
            </a:r>
            <a:endParaRPr lang="en-US" sz="2800" dirty="0"/>
          </a:p>
        </p:txBody>
      </p:sp>
      <p:sp>
        <p:nvSpPr>
          <p:cNvPr id="5" name="Text 3"/>
          <p:cNvSpPr txBox="1"/>
          <p:nvPr/>
        </p:nvSpPr>
        <p:spPr>
          <a:xfrm>
            <a:off x="822960" y="2148840"/>
            <a:ext cx="4846320" cy="2377440"/>
          </a:xfrm>
          <a:prstGeom prst="rect">
            <a:avLst/>
          </a:prstGeom>
          <a:noFill/>
          <a:ln/>
        </p:spPr>
        <p:txBody>
          <a:bodyPr wrap="square" lIns="0" tIns="0" rIns="0" bIns="0" rtlCol="0" anchor="t"/>
          <a:lstStyle/>
          <a:p>
            <a:pPr indent="0" marL="0">
              <a:lnSpc>
                <a:spcPct val="115000"/>
              </a:lnSpc>
              <a:buNone/>
            </a:pPr>
            <a:r>
              <a:rPr lang="en-US" sz="1600" dirty="0">
                <a:solidFill>
                  <a:srgbClr val="424245"/>
                </a:solidFill>
                <a:latin typeface="Calibri" pitchFamily="34" charset="0"/>
                <a:ea typeface="Calibri" pitchFamily="34" charset="-122"/>
                <a:cs typeface="Calibri" pitchFamily="34" charset="-120"/>
              </a:rPr>
              <a:t>Slow poisoning is built so that each step looks like the one before it. Prior work found that small, consistent deviations slip past robust filters, even when many peers are available [10]. So a consistency check alone will miss it.</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035040" y="2194560"/>
          <a:ext cx="5349240" cy="914400"/>
        </p:xfrm>
        <a:graphic>
          <a:graphicData uri="http://schemas.openxmlformats.org/drawingml/2006/table">
            <a:tbl>
              <a:tblPr/>
              <a:tblGrid>
                <a:gridCol w="1783080"/>
                <a:gridCol w="1737360"/>
                <a:gridCol w="1828800"/>
              </a:tblGrid>
              <a:tr h="45720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86868B"/>
                          </a:solidFill>
                          <a:latin typeface="Calibri" pitchFamily="34" charset="0"/>
                          <a:ea typeface="Calibri" pitchFamily="34" charset="-122"/>
                          <a:cs typeface="Calibri" pitchFamily="34" charset="-120"/>
                        </a:rPr>
                        <a:t>ABRUPT POISON</a:t>
                      </a:r>
                      <a:endParaRPr lang="en-US" sz="12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86868B"/>
                          </a:solidFill>
                          <a:latin typeface="Calibri" pitchFamily="34" charset="0"/>
                          <a:ea typeface="Calibri" pitchFamily="34" charset="-122"/>
                          <a:cs typeface="Calibri" pitchFamily="34" charset="-120"/>
                        </a:rPr>
                        <a:t>PATIENT POISON</a:t>
                      </a:r>
                      <a:endParaRPr lang="en-US" sz="12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1D1D1F"/>
                          </a:solidFill>
                          <a:latin typeface="Calibri" pitchFamily="34" charset="0"/>
                          <a:ea typeface="Calibri" pitchFamily="34" charset="-122"/>
                          <a:cs typeface="Calibri" pitchFamily="34" charset="-120"/>
                        </a:rPr>
                        <a:t>Layer 1 alone</a:t>
                      </a:r>
                      <a:endParaRPr lang="en-US" sz="14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48A3D"/>
                          </a:solidFill>
                          <a:latin typeface="Calibri" pitchFamily="34" charset="0"/>
                          <a:ea typeface="Calibri" pitchFamily="34" charset="-122"/>
                          <a:cs typeface="Calibri" pitchFamily="34" charset="-120"/>
                        </a:rPr>
                        <a:t>Caught</a:t>
                      </a:r>
                      <a:endParaRPr lang="en-US" sz="15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5F5F7"/>
                    </a:solidFill>
                  </a:tcPr>
                </a:tc>
                <a:tc>
                  <a:txBody>
                    <a:bodyPr/>
                    <a:lstStyle/>
                    <a:p>
                      <a:pPr algn="ctr" indent="0" marL="0">
                        <a:buNone/>
                      </a:pPr>
                      <a:r>
                        <a:rPr lang="en-US" sz="1500" b="1" dirty="0">
                          <a:solidFill>
                            <a:srgbClr val="D70015"/>
                          </a:solidFill>
                          <a:latin typeface="Calibri" pitchFamily="34" charset="0"/>
                          <a:ea typeface="Calibri" pitchFamily="34" charset="-122"/>
                          <a:cs typeface="Calibri" pitchFamily="34" charset="-120"/>
                        </a:rPr>
                        <a:t>Missed</a:t>
                      </a:r>
                      <a:endParaRPr lang="en-US" sz="15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5F5F7"/>
                    </a:solidFill>
                  </a:tcPr>
                </a:tc>
              </a:tr>
              <a:tr h="777240">
                <a:tc>
                  <a:txBody>
                    <a:bodyPr/>
                    <a:lstStyle/>
                    <a:p>
                      <a:pPr indent="0" marL="0">
                        <a:buNone/>
                      </a:pPr>
                      <a:r>
                        <a:rPr lang="en-US" sz="1400" b="1" dirty="0">
                          <a:solidFill>
                            <a:srgbClr val="1D1D1F"/>
                          </a:solidFill>
                          <a:latin typeface="Calibri" pitchFamily="34" charset="0"/>
                          <a:ea typeface="Calibri" pitchFamily="34" charset="-122"/>
                          <a:cs typeface="Calibri" pitchFamily="34" charset="-120"/>
                        </a:rPr>
                        <a:t>Layer 2 alone</a:t>
                      </a:r>
                      <a:endParaRPr lang="en-US" sz="14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48A3D"/>
                          </a:solidFill>
                          <a:latin typeface="Calibri" pitchFamily="34" charset="0"/>
                          <a:ea typeface="Calibri" pitchFamily="34" charset="-122"/>
                          <a:cs typeface="Calibri" pitchFamily="34" charset="-120"/>
                        </a:rPr>
                        <a:t>Caught</a:t>
                      </a:r>
                      <a:endParaRPr lang="en-US" sz="15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5F5F7"/>
                    </a:solidFill>
                  </a:tcPr>
                </a:tc>
                <a:tc>
                  <a:txBody>
                    <a:bodyPr/>
                    <a:lstStyle/>
                    <a:p>
                      <a:pPr algn="ctr" indent="0" marL="0">
                        <a:buNone/>
                      </a:pPr>
                      <a:r>
                        <a:rPr lang="en-US" sz="1500" b="1" dirty="0">
                          <a:solidFill>
                            <a:srgbClr val="248A3D"/>
                          </a:solidFill>
                          <a:latin typeface="Calibri" pitchFamily="34" charset="0"/>
                          <a:ea typeface="Calibri" pitchFamily="34" charset="-122"/>
                          <a:cs typeface="Calibri" pitchFamily="34" charset="-120"/>
                        </a:rPr>
                        <a:t>Caught, but slow to adapt</a:t>
                      </a:r>
                      <a:endParaRPr lang="en-US" sz="15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5F5F7"/>
                    </a:solidFill>
                  </a:tcPr>
                </a:tc>
              </a:tr>
              <a:tr h="777240">
                <a:tc>
                  <a:txBody>
                    <a:bodyPr/>
                    <a:lstStyle/>
                    <a:p>
                      <a:pPr indent="0" marL="0">
                        <a:buNone/>
                      </a:pPr>
                      <a:r>
                        <a:rPr lang="en-US" sz="1400" b="1" dirty="0">
                          <a:solidFill>
                            <a:srgbClr val="1D1D1F"/>
                          </a:solidFill>
                          <a:latin typeface="Calibri" pitchFamily="34" charset="0"/>
                          <a:ea typeface="Calibri" pitchFamily="34" charset="-122"/>
                          <a:cs typeface="Calibri" pitchFamily="34" charset="-120"/>
                        </a:rPr>
                        <a:t>TimeGuard (both)</a:t>
                      </a:r>
                      <a:endParaRPr lang="en-US" sz="14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48A3D"/>
                          </a:solidFill>
                          <a:latin typeface="Calibri" pitchFamily="34" charset="0"/>
                          <a:ea typeface="Calibri" pitchFamily="34" charset="-122"/>
                          <a:cs typeface="Calibri" pitchFamily="34" charset="-120"/>
                        </a:rPr>
                        <a:t>Caught</a:t>
                      </a:r>
                      <a:endParaRPr lang="en-US" sz="15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5F5F7"/>
                    </a:solidFill>
                  </a:tcPr>
                </a:tc>
                <a:tc>
                  <a:txBody>
                    <a:bodyPr/>
                    <a:lstStyle/>
                    <a:p>
                      <a:pPr algn="ctr" indent="0" marL="0">
                        <a:buNone/>
                      </a:pPr>
                      <a:r>
                        <a:rPr lang="en-US" sz="1500" b="1" dirty="0">
                          <a:solidFill>
                            <a:srgbClr val="248A3D"/>
                          </a:solidFill>
                          <a:latin typeface="Calibri" pitchFamily="34" charset="0"/>
                          <a:ea typeface="Calibri" pitchFamily="34" charset="-122"/>
                          <a:cs typeface="Calibri" pitchFamily="34" charset="-120"/>
                        </a:rPr>
                        <a:t>Caught</a:t>
                      </a:r>
                      <a:endParaRPr lang="en-US" sz="1500" dirty="0">
                        <a:latin typeface="Calibri" charset="0"/>
                        <a:ea typeface="Calibri" charset="0"/>
                        <a:cs typeface="Calibri"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5F5F7"/>
                    </a:solidFill>
                  </a:tcPr>
                </a:tc>
              </a:tr>
            </a:tbl>
          </a:graphicData>
        </a:graphic>
      </p:graphicFrame>
      <p:sp>
        <p:nvSpPr>
          <p:cNvPr id="7" name="Text 4"/>
          <p:cNvSpPr txBox="1"/>
          <p:nvPr/>
        </p:nvSpPr>
        <p:spPr>
          <a:xfrm>
            <a:off x="6035040" y="5120640"/>
            <a:ext cx="5349240" cy="274320"/>
          </a:xfrm>
          <a:prstGeom prst="rect">
            <a:avLst/>
          </a:prstGeom>
          <a:noFill/>
          <a:ln/>
        </p:spPr>
        <p:txBody>
          <a:bodyPr wrap="square" lIns="0" tIns="0" rIns="0" bIns="0" rtlCol="0" anchor="ctr"/>
          <a:lstStyle/>
          <a:p>
            <a:pPr indent="0" marL="0">
              <a:buNone/>
            </a:pPr>
            <a:r>
              <a:rPr lang="en-US" sz="1150" i="1" dirty="0">
                <a:solidFill>
                  <a:srgbClr val="86868B"/>
                </a:solidFill>
                <a:latin typeface="Calibri" pitchFamily="34" charset="0"/>
                <a:ea typeface="Calibri" pitchFamily="34" charset="-122"/>
                <a:cs typeface="Calibri" pitchFamily="34" charset="-120"/>
              </a:rPr>
              <a:t>Expected pattern. Our ablation will test each cell.</a:t>
            </a:r>
            <a:endParaRPr lang="en-US" sz="1150" dirty="0"/>
          </a:p>
        </p:txBody>
      </p:sp>
      <p:sp>
        <p:nvSpPr>
          <p:cNvPr id="8" name="Text 5"/>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[10] Nguyen et al., DISS Workshop at NDSS 2020</a:t>
            </a:r>
            <a:endParaRPr lang="en-US" sz="1000" dirty="0"/>
          </a:p>
        </p:txBody>
      </p:sp>
      <p:sp>
        <p:nvSpPr>
          <p:cNvPr id="9" name="Text 6"/>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PLATFORM, TOOLS AND BASELINES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What we build on, and what we have to beat.</a:t>
            </a:r>
            <a:endParaRPr lang="en-US" sz="2800" dirty="0"/>
          </a:p>
        </p:txBody>
      </p:sp>
      <p:sp>
        <p:nvSpPr>
          <p:cNvPr id="5" name="Shape 3"/>
          <p:cNvSpPr/>
          <p:nvPr/>
        </p:nvSpPr>
        <p:spPr>
          <a:xfrm>
            <a:off x="822960" y="2194560"/>
            <a:ext cx="5029200" cy="3886200"/>
          </a:xfrm>
          <a:prstGeom prst="roundRect">
            <a:avLst>
              <a:gd name="adj" fmla="val 2824"/>
            </a:avLst>
          </a:prstGeom>
          <a:solidFill>
            <a:srgbClr val="F5F5F7"/>
          </a:solidFill>
          <a:ln/>
        </p:spPr>
      </p:sp>
      <p:sp>
        <p:nvSpPr>
          <p:cNvPr id="6" name="Text 4"/>
          <p:cNvSpPr txBox="1"/>
          <p:nvPr/>
        </p:nvSpPr>
        <p:spPr>
          <a:xfrm>
            <a:off x="1143000" y="2395728"/>
            <a:ext cx="438912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Build on</a:t>
            </a:r>
            <a:endParaRPr lang="en-US" sz="1700" dirty="0"/>
          </a:p>
        </p:txBody>
      </p:sp>
      <p:sp>
        <p:nvSpPr>
          <p:cNvPr id="7" name="Text 5"/>
          <p:cNvSpPr txBox="1"/>
          <p:nvPr/>
        </p:nvSpPr>
        <p:spPr>
          <a:xfrm>
            <a:off x="1143000" y="2852928"/>
            <a:ext cx="4434840" cy="3017520"/>
          </a:xfrm>
          <a:prstGeom prst="rect">
            <a:avLst/>
          </a:prstGeom>
          <a:noFill/>
          <a:ln/>
        </p:spPr>
        <p:txBody>
          <a:bodyPr wrap="square" lIns="0" tIns="0" rIns="0" bIns="0" rtlCol="0" anchor="t"/>
          <a:lstStyle/>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Hardware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ESP32 for inference, guard, and cost measurement</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Software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Python, NumPy, river (ADWIN), TensorFlow Lite Micro</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Data</a:t>
            </a:r>
            <a:endParaRPr lang="en-US" sz="1450" dirty="0"/>
          </a:p>
          <a:p>
            <a:pPr indent="0" marL="0">
              <a:lnSpc>
                <a:spcPct val="106000"/>
              </a:lnSpc>
              <a:buNone/>
            </a:pPr>
            <a:r>
              <a:rPr lang="en-US" sz="1450" dirty="0">
                <a:solidFill>
                  <a:srgbClr val="424245"/>
                </a:solidFill>
                <a:latin typeface="Calibri" pitchFamily="34" charset="0"/>
                <a:ea typeface="Calibri" pitchFamily="34" charset="-122"/>
                <a:cs typeface="Calibri" pitchFamily="34" charset="-120"/>
              </a:rPr>
              <a:t>N-BaIoT [2]: 9 real devices, so new devices create natural drift. CICIoT2023 [11] as a second check.</a:t>
            </a:r>
            <a:endParaRPr lang="en-US" sz="1450" dirty="0"/>
          </a:p>
        </p:txBody>
      </p:sp>
      <p:sp>
        <p:nvSpPr>
          <p:cNvPr id="8" name="Shape 6"/>
          <p:cNvSpPr/>
          <p:nvPr/>
        </p:nvSpPr>
        <p:spPr>
          <a:xfrm>
            <a:off x="6080760" y="2194560"/>
            <a:ext cx="5303520" cy="3886200"/>
          </a:xfrm>
          <a:prstGeom prst="roundRect">
            <a:avLst>
              <a:gd name="adj" fmla="val 2824"/>
            </a:avLst>
          </a:prstGeom>
          <a:solidFill>
            <a:srgbClr val="F5F5F7"/>
          </a:solidFill>
          <a:ln/>
        </p:spPr>
      </p:sp>
      <p:sp>
        <p:nvSpPr>
          <p:cNvPr id="9" name="Text 7"/>
          <p:cNvSpPr txBox="1"/>
          <p:nvPr/>
        </p:nvSpPr>
        <p:spPr>
          <a:xfrm>
            <a:off x="6400800" y="2395728"/>
            <a:ext cx="466344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Baselines</a:t>
            </a:r>
            <a:endParaRPr lang="en-US" sz="1700" dirty="0"/>
          </a:p>
        </p:txBody>
      </p:sp>
      <p:sp>
        <p:nvSpPr>
          <p:cNvPr id="10" name="Text 8"/>
          <p:cNvSpPr txBox="1"/>
          <p:nvPr/>
        </p:nvSpPr>
        <p:spPr>
          <a:xfrm>
            <a:off x="6400800" y="2880360"/>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Static detector</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never adapts, safe but stale</a:t>
            </a:r>
            <a:endParaRPr lang="en-US" sz="1450" dirty="0"/>
          </a:p>
        </p:txBody>
      </p:sp>
      <p:sp>
        <p:nvSpPr>
          <p:cNvPr id="11" name="Text 9"/>
          <p:cNvSpPr txBox="1"/>
          <p:nvPr/>
        </p:nvSpPr>
        <p:spPr>
          <a:xfrm>
            <a:off x="6400800" y="3483864"/>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Naive adaptive [4]</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commits every update (key contrast)</a:t>
            </a:r>
            <a:endParaRPr lang="en-US" sz="1450" dirty="0"/>
          </a:p>
        </p:txBody>
      </p:sp>
      <p:sp>
        <p:nvSpPr>
          <p:cNvPr id="12" name="Text 10"/>
          <p:cNvSpPr txBox="1"/>
          <p:nvPr/>
        </p:nvSpPr>
        <p:spPr>
          <a:xfrm>
            <a:off x="6400800" y="4087368"/>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Frozen anchor [3]</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AOC-IDS style trusted anchor</a:t>
            </a:r>
            <a:endParaRPr lang="en-US" sz="1450" dirty="0"/>
          </a:p>
        </p:txBody>
      </p:sp>
      <p:sp>
        <p:nvSpPr>
          <p:cNvPr id="13" name="Text 11"/>
          <p:cNvSpPr txBox="1"/>
          <p:nvPr/>
        </p:nvSpPr>
        <p:spPr>
          <a:xfrm>
            <a:off x="6400800" y="4690872"/>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RONI-lite [13]</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classic retrain-and-compare defense</a:t>
            </a:r>
            <a:endParaRPr lang="en-US" sz="1450" dirty="0"/>
          </a:p>
        </p:txBody>
      </p:sp>
      <p:sp>
        <p:nvSpPr>
          <p:cNvPr id="14" name="Text 12"/>
          <p:cNvSpPr txBox="1"/>
          <p:nvPr/>
        </p:nvSpPr>
        <p:spPr>
          <a:xfrm>
            <a:off x="6400800" y="5294376"/>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Layer 1 only, Layer 2 only</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our own ablation</a:t>
            </a:r>
            <a:endParaRPr lang="en-US" sz="1450" dirty="0"/>
          </a:p>
        </p:txBody>
      </p:sp>
      <p:sp>
        <p:nvSpPr>
          <p:cNvPr id="15" name="Text 1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[2] IEEE Pervasive Computing 2018  ·  [11] MDPI Sensors 2023  ·  [13] USENIX LEET 2008</a:t>
            </a:r>
            <a:endParaRPr lang="en-US" sz="1000" dirty="0"/>
          </a:p>
        </p:txBody>
      </p:sp>
      <p:sp>
        <p:nvSpPr>
          <p:cNvPr id="16" name="Text 1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EVALUATION METRICS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One figure decides it. The rest keep us honest.</a:t>
            </a:r>
            <a:endParaRPr lang="en-US" sz="2800" dirty="0"/>
          </a:p>
        </p:txBody>
      </p:sp>
      <p:graphicFrame>
        <p:nvGraphicFramePr>
          <p:cNvPr id="5" name="Chart 0" descr=""/>
          <p:cNvGraphicFramePr/>
          <p:nvPr/>
        </p:nvGraphicFramePr>
        <p:xfrm>
          <a:off x="822960" y="2103120"/>
          <a:ext cx="576072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897880"/>
            <a:ext cx="5760720" cy="274320"/>
          </a:xfrm>
          <a:prstGeom prst="rect">
            <a:avLst/>
          </a:prstGeom>
          <a:noFill/>
          <a:ln/>
        </p:spPr>
        <p:txBody>
          <a:bodyPr wrap="square" lIns="0" tIns="0" rIns="0" bIns="0" rtlCol="0" anchor="ctr"/>
          <a:lstStyle/>
          <a:p>
            <a:pPr indent="0" marL="0">
              <a:buNone/>
            </a:pPr>
            <a:r>
              <a:rPr lang="en-US" sz="1100" i="1" dirty="0">
                <a:solidFill>
                  <a:srgbClr val="86868B"/>
                </a:solidFill>
                <a:latin typeface="Calibri" pitchFamily="34" charset="0"/>
                <a:ea typeface="Calibri" pitchFamily="34" charset="-122"/>
                <a:cs typeface="Calibri" pitchFamily="34" charset="-120"/>
              </a:rPr>
              <a:t>Sketch of the expected result, not data yet.</a:t>
            </a:r>
            <a:endParaRPr lang="en-US" sz="1100" dirty="0"/>
          </a:p>
        </p:txBody>
      </p:sp>
      <p:sp>
        <p:nvSpPr>
          <p:cNvPr id="7" name="Shape 4"/>
          <p:cNvSpPr/>
          <p:nvPr/>
        </p:nvSpPr>
        <p:spPr>
          <a:xfrm>
            <a:off x="6903720" y="2148840"/>
            <a:ext cx="4480560" cy="868680"/>
          </a:xfrm>
          <a:prstGeom prst="roundRect">
            <a:avLst>
              <a:gd name="adj" fmla="val 12632"/>
            </a:avLst>
          </a:prstGeom>
          <a:solidFill>
            <a:srgbClr val="1D1D1F"/>
          </a:solidFill>
          <a:ln/>
        </p:spPr>
      </p:sp>
      <p:sp>
        <p:nvSpPr>
          <p:cNvPr id="8" name="Text 5"/>
          <p:cNvSpPr txBox="1"/>
          <p:nvPr/>
        </p:nvSpPr>
        <p:spPr>
          <a:xfrm>
            <a:off x="7178040" y="2240280"/>
            <a:ext cx="3931920" cy="292608"/>
          </a:xfrm>
          <a:prstGeom prst="rect">
            <a:avLst/>
          </a:prstGeom>
          <a:noFill/>
          <a:ln/>
        </p:spPr>
        <p:txBody>
          <a:bodyPr wrap="square" lIns="0" tIns="0" rIns="0" bIns="0" rtlCol="0" anchor="ctr"/>
          <a:lstStyle/>
          <a:p>
            <a:pPr indent="0" marL="0">
              <a:buNone/>
            </a:pPr>
            <a:r>
              <a:rPr lang="en-US" sz="1400" b="1" dirty="0">
                <a:solidFill>
                  <a:srgbClr val="0071E3"/>
                </a:solidFill>
                <a:latin typeface="Calibri" pitchFamily="34" charset="0"/>
                <a:ea typeface="Calibri" pitchFamily="34" charset="-122"/>
                <a:cs typeface="Calibri" pitchFamily="34" charset="-120"/>
              </a:rPr>
              <a:t>Headline</a:t>
            </a:r>
            <a:endParaRPr lang="en-US" sz="1400" dirty="0"/>
          </a:p>
        </p:txBody>
      </p:sp>
      <p:sp>
        <p:nvSpPr>
          <p:cNvPr id="9" name="Text 6"/>
          <p:cNvSpPr txBox="1"/>
          <p:nvPr/>
        </p:nvSpPr>
        <p:spPr>
          <a:xfrm>
            <a:off x="7178040" y="2532888"/>
            <a:ext cx="3931920" cy="4114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Attack success rate and cycles-to-compromise</a:t>
            </a:r>
            <a:endParaRPr lang="en-US" sz="1250" dirty="0"/>
          </a:p>
        </p:txBody>
      </p:sp>
      <p:sp>
        <p:nvSpPr>
          <p:cNvPr id="10" name="Shape 7"/>
          <p:cNvSpPr/>
          <p:nvPr/>
        </p:nvSpPr>
        <p:spPr>
          <a:xfrm>
            <a:off x="6903720" y="3108960"/>
            <a:ext cx="4480560" cy="868680"/>
          </a:xfrm>
          <a:prstGeom prst="roundRect">
            <a:avLst>
              <a:gd name="adj" fmla="val 12632"/>
            </a:avLst>
          </a:prstGeom>
          <a:solidFill>
            <a:srgbClr val="F5F5F7"/>
          </a:solidFill>
          <a:ln/>
        </p:spPr>
      </p:sp>
      <p:sp>
        <p:nvSpPr>
          <p:cNvPr id="11" name="Text 8"/>
          <p:cNvSpPr txBox="1"/>
          <p:nvPr/>
        </p:nvSpPr>
        <p:spPr>
          <a:xfrm>
            <a:off x="7178040" y="3200400"/>
            <a:ext cx="3931920" cy="292608"/>
          </a:xfrm>
          <a:prstGeom prst="rect">
            <a:avLst/>
          </a:prstGeom>
          <a:noFill/>
          <a:ln/>
        </p:spPr>
        <p:txBody>
          <a:bodyPr wrap="square" lIns="0" tIns="0" rIns="0" bIns="0" rtlCol="0" anchor="ctr"/>
          <a:lstStyle/>
          <a:p>
            <a:pPr indent="0" marL="0">
              <a:buNone/>
            </a:pPr>
            <a:r>
              <a:rPr lang="en-US" sz="1400" b="1" dirty="0">
                <a:solidFill>
                  <a:srgbClr val="1D1D1F"/>
                </a:solidFill>
                <a:latin typeface="Calibri" pitchFamily="34" charset="0"/>
                <a:ea typeface="Calibri" pitchFamily="34" charset="-122"/>
                <a:cs typeface="Calibri" pitchFamily="34" charset="-120"/>
              </a:rPr>
              <a:t>Honest drift</a:t>
            </a:r>
            <a:endParaRPr lang="en-US" sz="1400" dirty="0"/>
          </a:p>
        </p:txBody>
      </p:sp>
      <p:sp>
        <p:nvSpPr>
          <p:cNvPr id="12" name="Text 9"/>
          <p:cNvSpPr txBox="1"/>
          <p:nvPr/>
        </p:nvSpPr>
        <p:spPr>
          <a:xfrm>
            <a:off x="7178040" y="3493008"/>
            <a:ext cx="3931920" cy="411480"/>
          </a:xfrm>
          <a:prstGeom prst="rect">
            <a:avLst/>
          </a:prstGeom>
          <a:noFill/>
          <a:ln/>
        </p:spPr>
        <p:txBody>
          <a:bodyPr wrap="square" lIns="0" tIns="0" rIns="0" bIns="0" rtlCol="0" anchor="t"/>
          <a:lstStyle/>
          <a:p>
            <a:pPr indent="0" marL="0">
              <a:buNone/>
            </a:pPr>
            <a:r>
              <a:rPr lang="en-US" sz="1250" dirty="0">
                <a:solidFill>
                  <a:srgbClr val="424245"/>
                </a:solidFill>
                <a:latin typeface="Calibri" pitchFamily="34" charset="0"/>
                <a:ea typeface="Calibri" pitchFamily="34" charset="-122"/>
                <a:cs typeface="Calibri" pitchFamily="34" charset="-120"/>
              </a:rPr>
              <a:t>False-positive rate and recovery lag when a new device joins</a:t>
            </a:r>
            <a:endParaRPr lang="en-US" sz="1250" dirty="0"/>
          </a:p>
        </p:txBody>
      </p:sp>
      <p:sp>
        <p:nvSpPr>
          <p:cNvPr id="13" name="Shape 10"/>
          <p:cNvSpPr/>
          <p:nvPr/>
        </p:nvSpPr>
        <p:spPr>
          <a:xfrm>
            <a:off x="6903720" y="4069080"/>
            <a:ext cx="4480560" cy="868680"/>
          </a:xfrm>
          <a:prstGeom prst="roundRect">
            <a:avLst>
              <a:gd name="adj" fmla="val 12632"/>
            </a:avLst>
          </a:prstGeom>
          <a:solidFill>
            <a:srgbClr val="F5F5F7"/>
          </a:solidFill>
          <a:ln/>
        </p:spPr>
      </p:sp>
      <p:sp>
        <p:nvSpPr>
          <p:cNvPr id="14" name="Text 11"/>
          <p:cNvSpPr txBox="1"/>
          <p:nvPr/>
        </p:nvSpPr>
        <p:spPr>
          <a:xfrm>
            <a:off x="7178040" y="4160520"/>
            <a:ext cx="3931920" cy="292608"/>
          </a:xfrm>
          <a:prstGeom prst="rect">
            <a:avLst/>
          </a:prstGeom>
          <a:noFill/>
          <a:ln/>
        </p:spPr>
        <p:txBody>
          <a:bodyPr wrap="square" lIns="0" tIns="0" rIns="0" bIns="0" rtlCol="0" anchor="ctr"/>
          <a:lstStyle/>
          <a:p>
            <a:pPr indent="0" marL="0">
              <a:buNone/>
            </a:pPr>
            <a:r>
              <a:rPr lang="en-US" sz="1400" b="1" dirty="0">
                <a:solidFill>
                  <a:srgbClr val="1D1D1F"/>
                </a:solidFill>
                <a:latin typeface="Calibri" pitchFamily="34" charset="0"/>
                <a:ea typeface="Calibri" pitchFamily="34" charset="-122"/>
                <a:cs typeface="Calibri" pitchFamily="34" charset="-120"/>
              </a:rPr>
              <a:t>Detection</a:t>
            </a:r>
            <a:endParaRPr lang="en-US" sz="1400" dirty="0"/>
          </a:p>
        </p:txBody>
      </p:sp>
      <p:sp>
        <p:nvSpPr>
          <p:cNvPr id="15" name="Text 12"/>
          <p:cNvSpPr txBox="1"/>
          <p:nvPr/>
        </p:nvSpPr>
        <p:spPr>
          <a:xfrm>
            <a:off x="7178040" y="4453128"/>
            <a:ext cx="3931920" cy="411480"/>
          </a:xfrm>
          <a:prstGeom prst="rect">
            <a:avLst/>
          </a:prstGeom>
          <a:noFill/>
          <a:ln/>
        </p:spPr>
        <p:txBody>
          <a:bodyPr wrap="square" lIns="0" tIns="0" rIns="0" bIns="0" rtlCol="0" anchor="t"/>
          <a:lstStyle/>
          <a:p>
            <a:pPr indent="0" marL="0">
              <a:buNone/>
            </a:pPr>
            <a:r>
              <a:rPr lang="en-US" sz="1250" dirty="0">
                <a:solidFill>
                  <a:srgbClr val="424245"/>
                </a:solidFill>
                <a:latin typeface="Calibri" pitchFamily="34" charset="0"/>
                <a:ea typeface="Calibri" pitchFamily="34" charset="-122"/>
                <a:cs typeface="Calibri" pitchFamily="34" charset="-120"/>
              </a:rPr>
              <a:t>F1, AUROC, TPR at 1% FPR</a:t>
            </a:r>
            <a:endParaRPr lang="en-US" sz="1250" dirty="0"/>
          </a:p>
        </p:txBody>
      </p:sp>
      <p:sp>
        <p:nvSpPr>
          <p:cNvPr id="16" name="Shape 13"/>
          <p:cNvSpPr/>
          <p:nvPr/>
        </p:nvSpPr>
        <p:spPr>
          <a:xfrm>
            <a:off x="6903720" y="5029200"/>
            <a:ext cx="4480560" cy="868680"/>
          </a:xfrm>
          <a:prstGeom prst="roundRect">
            <a:avLst>
              <a:gd name="adj" fmla="val 12632"/>
            </a:avLst>
          </a:prstGeom>
          <a:solidFill>
            <a:srgbClr val="F5F5F7"/>
          </a:solidFill>
          <a:ln/>
        </p:spPr>
      </p:sp>
      <p:sp>
        <p:nvSpPr>
          <p:cNvPr id="17" name="Text 14"/>
          <p:cNvSpPr txBox="1"/>
          <p:nvPr/>
        </p:nvSpPr>
        <p:spPr>
          <a:xfrm>
            <a:off x="7178040" y="5120640"/>
            <a:ext cx="3931920" cy="292608"/>
          </a:xfrm>
          <a:prstGeom prst="rect">
            <a:avLst/>
          </a:prstGeom>
          <a:noFill/>
          <a:ln/>
        </p:spPr>
        <p:txBody>
          <a:bodyPr wrap="square" lIns="0" tIns="0" rIns="0" bIns="0" rtlCol="0" anchor="ctr"/>
          <a:lstStyle/>
          <a:p>
            <a:pPr indent="0" marL="0">
              <a:buNone/>
            </a:pPr>
            <a:r>
              <a:rPr lang="en-US" sz="1400" b="1" dirty="0">
                <a:solidFill>
                  <a:srgbClr val="1D1D1F"/>
                </a:solidFill>
                <a:latin typeface="Calibri" pitchFamily="34" charset="0"/>
                <a:ea typeface="Calibri" pitchFamily="34" charset="-122"/>
                <a:cs typeface="Calibri" pitchFamily="34" charset="-120"/>
              </a:rPr>
              <a:t>On the ESP32</a:t>
            </a:r>
            <a:endParaRPr lang="en-US" sz="1400" dirty="0"/>
          </a:p>
        </p:txBody>
      </p:sp>
      <p:sp>
        <p:nvSpPr>
          <p:cNvPr id="18" name="Text 15"/>
          <p:cNvSpPr txBox="1"/>
          <p:nvPr/>
        </p:nvSpPr>
        <p:spPr>
          <a:xfrm>
            <a:off x="7178040" y="5413248"/>
            <a:ext cx="3931920" cy="411480"/>
          </a:xfrm>
          <a:prstGeom prst="rect">
            <a:avLst/>
          </a:prstGeom>
          <a:noFill/>
          <a:ln/>
        </p:spPr>
        <p:txBody>
          <a:bodyPr wrap="square" lIns="0" tIns="0" rIns="0" bIns="0" rtlCol="0" anchor="t"/>
          <a:lstStyle/>
          <a:p>
            <a:pPr indent="0" marL="0">
              <a:buNone/>
            </a:pPr>
            <a:r>
              <a:rPr lang="en-US" sz="1250" dirty="0">
                <a:solidFill>
                  <a:srgbClr val="424245"/>
                </a:solidFill>
                <a:latin typeface="Calibri" pitchFamily="34" charset="0"/>
                <a:ea typeface="Calibri" pitchFamily="34" charset="-122"/>
                <a:cs typeface="Calibri" pitchFamily="34" charset="-120"/>
              </a:rPr>
              <a:t>RAM, flash, microseconds per packet, milliseconds and millijoules per update</a:t>
            </a:r>
            <a:endParaRPr lang="en-US" sz="1250" dirty="0"/>
          </a:p>
        </p:txBody>
      </p:sp>
      <p:sp>
        <p:nvSpPr>
          <p:cNvPr id="19" name="Text 16"/>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0071E3"/>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EXPECTED CONTRIBUTION</a:t>
            </a:r>
            <a:endParaRPr lang="en-US" sz="1250" dirty="0"/>
          </a:p>
        </p:txBody>
      </p:sp>
      <p:sp>
        <p:nvSpPr>
          <p:cNvPr id="4" name="Text 2"/>
          <p:cNvSpPr txBox="1"/>
          <p:nvPr/>
        </p:nvSpPr>
        <p:spPr>
          <a:xfrm>
            <a:off x="822960" y="137160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01</a:t>
            </a:r>
            <a:endParaRPr lang="en-US" sz="2200" dirty="0"/>
          </a:p>
        </p:txBody>
      </p:sp>
      <p:sp>
        <p:nvSpPr>
          <p:cNvPr id="5" name="Text 3"/>
          <p:cNvSpPr txBox="1"/>
          <p:nvPr/>
        </p:nvSpPr>
        <p:spPr>
          <a:xfrm>
            <a:off x="1737360" y="137160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TimeGuard</a:t>
            </a:r>
            <a:endParaRPr lang="en-US" sz="2000" dirty="0"/>
          </a:p>
        </p:txBody>
      </p:sp>
      <p:sp>
        <p:nvSpPr>
          <p:cNvPr id="6" name="Text 4"/>
          <p:cNvSpPr txBox="1"/>
          <p:nvPr/>
        </p:nvSpPr>
        <p:spPr>
          <a:xfrm>
            <a:off x="1737360" y="178308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A peer-free poisoning defense for a self-updating IDS, which we did not find in 78 papers. It takes robust aggregation, which normally compares many devices, and runs it over time on one device.</a:t>
            </a:r>
            <a:endParaRPr lang="en-US" sz="1450" dirty="0"/>
          </a:p>
        </p:txBody>
      </p:sp>
      <p:sp>
        <p:nvSpPr>
          <p:cNvPr id="7" name="Text 5"/>
          <p:cNvSpPr txBox="1"/>
          <p:nvPr/>
        </p:nvSpPr>
        <p:spPr>
          <a:xfrm>
            <a:off x="822960" y="260604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02</a:t>
            </a:r>
            <a:endParaRPr lang="en-US" sz="2200" dirty="0"/>
          </a:p>
        </p:txBody>
      </p:sp>
      <p:sp>
        <p:nvSpPr>
          <p:cNvPr id="8" name="Text 6"/>
          <p:cNvSpPr txBox="1"/>
          <p:nvPr/>
        </p:nvSpPr>
        <p:spPr>
          <a:xfrm>
            <a:off x="1737360" y="260604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 negative result worth knowing</a:t>
            </a:r>
            <a:endParaRPr lang="en-US" sz="2000" dirty="0"/>
          </a:p>
        </p:txBody>
      </p:sp>
      <p:sp>
        <p:nvSpPr>
          <p:cNvPr id="9" name="Text 7"/>
          <p:cNvSpPr txBox="1"/>
          <p:nvPr/>
        </p:nvSpPr>
        <p:spPr>
          <a:xfrm>
            <a:off x="1737360" y="301752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Evidence that a consistency check alone misses a patient attacker, and a bounded drift budget closes the hole.</a:t>
            </a:r>
            <a:endParaRPr lang="en-US" sz="1450" dirty="0"/>
          </a:p>
        </p:txBody>
      </p:sp>
      <p:sp>
        <p:nvSpPr>
          <p:cNvPr id="10" name="Text 8"/>
          <p:cNvSpPr txBox="1"/>
          <p:nvPr/>
        </p:nvSpPr>
        <p:spPr>
          <a:xfrm>
            <a:off x="822960" y="384048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03</a:t>
            </a:r>
            <a:endParaRPr lang="en-US" sz="2200" dirty="0"/>
          </a:p>
        </p:txBody>
      </p:sp>
      <p:sp>
        <p:nvSpPr>
          <p:cNvPr id="11" name="Text 9"/>
          <p:cNvSpPr txBox="1"/>
          <p:nvPr/>
        </p:nvSpPr>
        <p:spPr>
          <a:xfrm>
            <a:off x="1737360" y="384048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Real cost on real hardware</a:t>
            </a:r>
            <a:endParaRPr lang="en-US" sz="2000" dirty="0"/>
          </a:p>
        </p:txBody>
      </p:sp>
      <p:sp>
        <p:nvSpPr>
          <p:cNvPr id="12" name="Text 10"/>
          <p:cNvSpPr txBox="1"/>
          <p:nvPr/>
        </p:nvSpPr>
        <p:spPr>
          <a:xfrm>
            <a:off x="1737360" y="425196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Measured ESP32 memory, latency and energy for securing on-device adaptation, a cost none of the 28 papers we read reports.</a:t>
            </a:r>
            <a:endParaRPr lang="en-US" sz="1450" dirty="0"/>
          </a:p>
        </p:txBody>
      </p:sp>
      <p:sp>
        <p:nvSpPr>
          <p:cNvPr id="13" name="Shape 11"/>
          <p:cNvSpPr/>
          <p:nvPr/>
        </p:nvSpPr>
        <p:spPr>
          <a:xfrm>
            <a:off x="822960" y="5303520"/>
            <a:ext cx="128016" cy="128016"/>
          </a:xfrm>
          <a:prstGeom prst="ellipse">
            <a:avLst/>
          </a:prstGeom>
          <a:solidFill>
            <a:srgbClr val="0071E3"/>
          </a:solidFill>
          <a:ln/>
        </p:spPr>
      </p:sp>
      <p:sp>
        <p:nvSpPr>
          <p:cNvPr id="14" name="Text 12"/>
          <p:cNvSpPr txBox="1"/>
          <p:nvPr/>
        </p:nvSpPr>
        <p:spPr>
          <a:xfrm>
            <a:off x="1051560"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1 to 3</a:t>
            </a:r>
            <a:endParaRPr lang="en-US" sz="1400" dirty="0"/>
          </a:p>
        </p:txBody>
      </p:sp>
      <p:sp>
        <p:nvSpPr>
          <p:cNvPr id="15" name="Text 13"/>
          <p:cNvSpPr txBox="1"/>
          <p:nvPr/>
        </p:nvSpPr>
        <p:spPr>
          <a:xfrm>
            <a:off x="1051560"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Detector, naive baseline, attack</a:t>
            </a:r>
            <a:endParaRPr lang="en-US" sz="1200" dirty="0"/>
          </a:p>
        </p:txBody>
      </p:sp>
      <p:sp>
        <p:nvSpPr>
          <p:cNvPr id="16" name="Shape 14"/>
          <p:cNvSpPr/>
          <p:nvPr/>
        </p:nvSpPr>
        <p:spPr>
          <a:xfrm>
            <a:off x="3456432" y="5303520"/>
            <a:ext cx="128016" cy="128016"/>
          </a:xfrm>
          <a:prstGeom prst="ellipse">
            <a:avLst/>
          </a:prstGeom>
          <a:solidFill>
            <a:srgbClr val="0071E3"/>
          </a:solidFill>
          <a:ln/>
        </p:spPr>
      </p:sp>
      <p:sp>
        <p:nvSpPr>
          <p:cNvPr id="17" name="Text 15"/>
          <p:cNvSpPr txBox="1"/>
          <p:nvPr/>
        </p:nvSpPr>
        <p:spPr>
          <a:xfrm>
            <a:off x="3685032"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 4, mid-review</a:t>
            </a:r>
            <a:endParaRPr lang="en-US" sz="1400" dirty="0"/>
          </a:p>
        </p:txBody>
      </p:sp>
      <p:sp>
        <p:nvSpPr>
          <p:cNvPr id="18" name="Text 16"/>
          <p:cNvSpPr txBox="1"/>
          <p:nvPr/>
        </p:nvSpPr>
        <p:spPr>
          <a:xfrm>
            <a:off x="3685032"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Layer 1 plus first results</a:t>
            </a:r>
            <a:endParaRPr lang="en-US" sz="1200" dirty="0"/>
          </a:p>
        </p:txBody>
      </p:sp>
      <p:sp>
        <p:nvSpPr>
          <p:cNvPr id="19" name="Shape 17"/>
          <p:cNvSpPr/>
          <p:nvPr/>
        </p:nvSpPr>
        <p:spPr>
          <a:xfrm>
            <a:off x="6089904" y="5303520"/>
            <a:ext cx="128016" cy="128016"/>
          </a:xfrm>
          <a:prstGeom prst="ellipse">
            <a:avLst/>
          </a:prstGeom>
          <a:solidFill>
            <a:srgbClr val="0071E3"/>
          </a:solidFill>
          <a:ln/>
        </p:spPr>
      </p:sp>
      <p:sp>
        <p:nvSpPr>
          <p:cNvPr id="20" name="Text 18"/>
          <p:cNvSpPr txBox="1"/>
          <p:nvPr/>
        </p:nvSpPr>
        <p:spPr>
          <a:xfrm>
            <a:off x="6318504"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5 to 7</a:t>
            </a:r>
            <a:endParaRPr lang="en-US" sz="1400" dirty="0"/>
          </a:p>
        </p:txBody>
      </p:sp>
      <p:sp>
        <p:nvSpPr>
          <p:cNvPr id="21" name="Text 19"/>
          <p:cNvSpPr txBox="1"/>
          <p:nvPr/>
        </p:nvSpPr>
        <p:spPr>
          <a:xfrm>
            <a:off x="6318504"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Layer 2, ablation, ESP32 port</a:t>
            </a:r>
            <a:endParaRPr lang="en-US" sz="1200" dirty="0"/>
          </a:p>
        </p:txBody>
      </p:sp>
      <p:sp>
        <p:nvSpPr>
          <p:cNvPr id="22" name="Shape 20"/>
          <p:cNvSpPr/>
          <p:nvPr/>
        </p:nvSpPr>
        <p:spPr>
          <a:xfrm>
            <a:off x="8723376" y="5303520"/>
            <a:ext cx="128016" cy="128016"/>
          </a:xfrm>
          <a:prstGeom prst="ellipse">
            <a:avLst/>
          </a:prstGeom>
          <a:solidFill>
            <a:srgbClr val="0071E3"/>
          </a:solidFill>
          <a:ln/>
        </p:spPr>
      </p:sp>
      <p:sp>
        <p:nvSpPr>
          <p:cNvPr id="23" name="Text 21"/>
          <p:cNvSpPr txBox="1"/>
          <p:nvPr/>
        </p:nvSpPr>
        <p:spPr>
          <a:xfrm>
            <a:off x="8951976"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8 to 9</a:t>
            </a:r>
            <a:endParaRPr lang="en-US" sz="1400" dirty="0"/>
          </a:p>
        </p:txBody>
      </p:sp>
      <p:sp>
        <p:nvSpPr>
          <p:cNvPr id="24" name="Text 22"/>
          <p:cNvSpPr txBox="1"/>
          <p:nvPr/>
        </p:nvSpPr>
        <p:spPr>
          <a:xfrm>
            <a:off x="8951976"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Sweeps, IEEE report, demo</a:t>
            </a:r>
            <a:endParaRPr lang="en-US" sz="1200" dirty="0"/>
          </a:p>
        </p:txBody>
      </p:sp>
      <p:sp>
        <p:nvSpPr>
          <p:cNvPr id="25" name="Text 2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8686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REFERENCES</a:t>
            </a:r>
            <a:endParaRPr lang="en-US" sz="1250" dirty="0"/>
          </a:p>
        </p:txBody>
      </p:sp>
      <p:sp>
        <p:nvSpPr>
          <p:cNvPr id="4" name="Text 2"/>
          <p:cNvSpPr txBox="1"/>
          <p:nvPr/>
        </p:nvSpPr>
        <p:spPr>
          <a:xfrm>
            <a:off x="822960" y="1234440"/>
            <a:ext cx="10561320" cy="4937760"/>
          </a:xfrm>
          <a:prstGeom prst="rect">
            <a:avLst/>
          </a:prstGeom>
          <a:noFill/>
          <a:ln/>
        </p:spPr>
        <p:txBody>
          <a:bodyPr wrap="square" lIns="0" tIns="0" rIns="0" bIns="0" rtlCol="0" anchor="t"/>
          <a:lstStyle/>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[1] Y. Mirsky et al., Kitsune: An Ensemble of Autoencoders for Online Network Intrusion Detection, NDSS 2018.</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[2] Y. Meidan et al., N-BaIoT: Network-Based Detection of IoT Botnet Attacks Using Deep Autoencoders, IEEE Pervasive Computing, 2018.</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[3] Zhang et al., AOC-IDS: Autonomous Online Framework with Contrastive Learning for Intrusion Detection, IEEE INFOCOM 2024.</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[4] L. Yang and A. Shami, A Lightweight Concept Drift Detection and Adaptation Framework for IoT Data Streams, IEEE IoT Magazine, 2021.</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[5] A. Bifet and R. Gavaldà, Learning from Time-Changing Data with Adaptive Windowing, SIAM SDM 2007.</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[6] M. Kravchik, B. Biggio, A. Shabtai, Poisoning Attacks on Cyber Attack Detectors for Industrial Control Systems, ACM SAC 2021.</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[7] Data Poisoning Attack against Neural Network-Based On-Device Learning Anomaly Detector by Physical Attacks on Sensors, MDPI Sensors 24(19), 2024.</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[8] P. Blanchard et al., Machine Learning with Adversaries: Byzantine Tolerant Gradient Descent, NeurIPS 2017.</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[9] D. Yin et al., Byzantine-Robust Distributed Learning: Towards Optimal Statistical Rates, ICML 2018.</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[10] T. D. Nguyen et al., Poisoning Attacks on Federated Learning-based IoT Intrusion Detection System, DISS Workshop at NDSS 2020.</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[11] E. C. P. Neto et al., CICIoT2023: A Real-Time Dataset and Benchmark for Large-Scale Attacks in IoT Environment, MDPI Sensors, 2023.</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[12] Demonstrating and Characterizing Frog-Boiling Poisoning Against Drift-Aware Continual Learners, thesis talk, UMass Dartmouth, Aug 2026.</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[13] B. Nelson et al., Exploiting Machine Learning to Subvert Your Spam Filter, USENIX LEET 2008.</a:t>
            </a:r>
            <a:endParaRPr lang="en-US" sz="1150" dirty="0"/>
          </a:p>
          <a:p>
            <a:pPr indent="0" marL="0">
              <a:lnSpc>
                <a:spcPct val="100000"/>
              </a:lnSpc>
              <a:spcAft>
                <a:spcPts val="500"/>
              </a:spcAft>
              <a:buNone/>
            </a:pPr>
            <a:r>
              <a:rPr lang="en-US" sz="1150" dirty="0">
                <a:solidFill>
                  <a:srgbClr val="424245"/>
                </a:solidFill>
                <a:latin typeface="Calibri" pitchFamily="34" charset="0"/>
                <a:ea typeface="Calibri" pitchFamily="34" charset="-122"/>
                <a:cs typeface="Calibri" pitchFamily="34" charset="-120"/>
              </a:rPr>
              <a:t>[14] Intrusion Detection on Resource-Constrained IoT Devices with Hardware-Aware ML and DL, IEEE ETECOM 2025 (arXiv 2512.02272).</a:t>
            </a:r>
            <a:endParaRPr lang="en-US" sz="1150" dirty="0"/>
          </a:p>
        </p:txBody>
      </p:sp>
      <p:sp>
        <p:nvSpPr>
          <p:cNvPr id="5" name="Text 3"/>
          <p:cNvSpPr txBox="1"/>
          <p:nvPr/>
        </p:nvSpPr>
        <p:spPr>
          <a:xfrm>
            <a:off x="822960" y="6327648"/>
            <a:ext cx="100584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Full review of 28 deep-read papers: literature-review.md in our repository.</a:t>
            </a:r>
            <a:endParaRPr lang="en-US" sz="1000" dirty="0"/>
          </a:p>
        </p:txBody>
      </p:sp>
      <p:sp>
        <p:nvSpPr>
          <p:cNvPr id="6" name="Text 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2026-09-22T23:03:08Z</dcterms:created>
  <dcterms:modified xsi:type="dcterms:W3CDTF">2026-09-22T23:03:08Z</dcterms:modified>
</cp:coreProperties>
</file>