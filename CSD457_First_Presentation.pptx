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20 seconds. One sentence: our detector updates itself to stay accurate, and we make sure an attacker cannot abuse those updates. Whole talk is about 7 minutes, leaving 3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50 seconds. Three beats. On-device detection works. It has to adapt because traffic drifts. Adapting opens a door, and attackers have already walked through it in published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70 seconds. These five come from a sweep of 78 papers, 28 read in full. Read the right column: stale, unchecked, attack only, no defense, needs peers. That column is the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50 seconds. Say the credit line out loud, especially ANTIDOTE. It shows we read deeply and it narrows our claim to something we can defend: continuous learning on the device.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seconds. RQ1 is the method, RQ2 is a new attack we found on existing defenses, RQ3 is real-world exposure and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70 seconds. The whole idea in one line: honest drift can go anywhere, poisoning has to go toward the attack. So we project each update onto the attack direction and ration only that part. Cost on an ESP32 is a few dot products per update.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This is the slide that shows real research. Finding 1 killed our first idea. Finding 2 is new and also broke our own earlier design. Finding 3 is why this matters for IoT specifically.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seconds. We compare against the naive detector and against every kind of defense, including the 2009 classic.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Be clear this is synthetic. Left: red line is the naive detector poisoned in 24 cycles. Middle: the two defenses that freeze or reject keep the attack visible but false alarms explode once honest drift starts. Right: the attacker leaves at cycle 45 and the frozen defense never recovers. That is the freeze attack. Blue is ours in every panel. Next step is the same experiment on N-BaIoT and the ESP32.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seconds, then questions. Likely questions: 1) Is this just ANTIDOTE? No: ANTIDOTE retrains a PCA model on a server; ours adapts continuously on a microcontroller and never freezes. 2) What about attacks with no known signature? Honest limit: the rationed direction needs a signature; we will test using directions learned from our own alarms. 3) What if honest drift heads toward an attack? In simulation false alarms rose to about 7 percent, then recovered; we will measure it on real data. 4) Is the simulation real? No, synthetic; real data by mid-review.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Leave it up during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D1D1F"/>
        </a:solidFill>
      </p:bgPr>
    </p:bg>
    <p:spTree>
      <p:nvGrpSpPr>
        <p:cNvPr id="1" name=""/>
        <p:cNvGrpSpPr/>
        <p:nvPr/>
      </p:nvGrpSpPr>
      <p:grpSpPr>
        <a:xfrm>
          <a:off x="0" y="0"/>
          <a:ext cx="0" cy="0"/>
          <a:chOff x="0" y="0"/>
          <a:chExt cx="0" cy="0"/>
        </a:xfrm>
      </p:grpSpPr>
      <p:sp>
        <p:nvSpPr>
          <p:cNvPr id="2" name="Shape 0"/>
          <p:cNvSpPr/>
          <p:nvPr/>
        </p:nvSpPr>
        <p:spPr>
          <a:xfrm>
            <a:off x="822960" y="818388"/>
            <a:ext cx="100584" cy="100584"/>
          </a:xfrm>
          <a:prstGeom prst="ellipse">
            <a:avLst/>
          </a:prstGeom>
          <a:solidFill>
            <a:srgbClr val="86868B"/>
          </a:solidFill>
          <a:ln/>
        </p:spPr>
      </p:sp>
      <p:sp>
        <p:nvSpPr>
          <p:cNvPr id="3" name="Text 1"/>
          <p:cNvSpPr txBox="1"/>
          <p:nvPr/>
        </p:nvSpPr>
        <p:spPr>
          <a:xfrm>
            <a:off x="1024128" y="722376"/>
            <a:ext cx="9144000" cy="292608"/>
          </a:xfrm>
          <a:prstGeom prst="rect">
            <a:avLst/>
          </a:prstGeom>
          <a:noFill/>
          <a:ln/>
        </p:spPr>
        <p:txBody>
          <a:bodyPr wrap="square" lIns="0" tIns="0" rIns="0" bIns="0" rtlCol="0" anchor="ctr"/>
          <a:lstStyle/>
          <a:p>
            <a:pPr indent="0" marL="0">
              <a:buNone/>
            </a:pPr>
            <a:r>
              <a:rPr lang="en-US" sz="1250" b="1" spc="220" kern="0" dirty="0">
                <a:solidFill>
                  <a:srgbClr val="86868B"/>
                </a:solidFill>
                <a:latin typeface="Calibri" pitchFamily="34" charset="0"/>
                <a:ea typeface="Calibri" pitchFamily="34" charset="-122"/>
                <a:cs typeface="Calibri" pitchFamily="34" charset="-120"/>
              </a:rPr>
              <a:t>CSD457  ·  INTERNET OF THINGS  ·  GROUP G-04</a:t>
            </a:r>
            <a:endParaRPr lang="en-US" sz="1250" dirty="0"/>
          </a:p>
        </p:txBody>
      </p:sp>
      <p:sp>
        <p:nvSpPr>
          <p:cNvPr id="4" name="Text 2"/>
          <p:cNvSpPr txBox="1"/>
          <p:nvPr/>
        </p:nvSpPr>
        <p:spPr>
          <a:xfrm>
            <a:off x="822960" y="1920240"/>
            <a:ext cx="10515600" cy="2011680"/>
          </a:xfrm>
          <a:prstGeom prst="rect">
            <a:avLst/>
          </a:prstGeom>
          <a:noFill/>
          <a:ln/>
        </p:spPr>
        <p:txBody>
          <a:bodyPr wrap="square" lIns="0" tIns="0" rIns="0" bIns="0" rtlCol="0" anchor="ctr"/>
          <a:lstStyle/>
          <a:p>
            <a:pPr indent="0" marL="0">
              <a:lnSpc>
                <a:spcPct val="103000"/>
              </a:lnSpc>
              <a:buNone/>
            </a:pPr>
            <a:r>
              <a:rPr lang="en-US" sz="4400" b="1" dirty="0">
                <a:solidFill>
                  <a:srgbClr val="0071E3"/>
                </a:solidFill>
                <a:latin typeface="Calibri" pitchFamily="34" charset="0"/>
                <a:ea typeface="Calibri" pitchFamily="34" charset="-122"/>
                <a:cs typeface="Calibri" pitchFamily="34" charset="-120"/>
              </a:rPr>
              <a:t>Poison-Resilient </a:t>
            </a:r>
            <a:pPr indent="0" marL="0">
              <a:lnSpc>
                <a:spcPct val="103000"/>
              </a:lnSpc>
              <a:buNone/>
            </a:pPr>
            <a:r>
              <a:rPr lang="en-US" sz="4400" b="1" dirty="0">
                <a:solidFill>
                  <a:srgbClr val="FFFFFF"/>
                </a:solidFill>
                <a:latin typeface="Calibri" pitchFamily="34" charset="0"/>
                <a:ea typeface="Calibri" pitchFamily="34" charset="-122"/>
                <a:cs typeface="Calibri" pitchFamily="34" charset="-120"/>
              </a:rPr>
              <a:t>On-Device Intrusion Detection for Drifting IoT</a:t>
            </a:r>
            <a:endParaRPr lang="en-US" sz="4400" dirty="0"/>
          </a:p>
        </p:txBody>
      </p:sp>
      <p:sp>
        <p:nvSpPr>
          <p:cNvPr id="5" name="Text 3"/>
          <p:cNvSpPr txBox="1"/>
          <p:nvPr/>
        </p:nvSpPr>
        <p:spPr>
          <a:xfrm>
            <a:off x="822960" y="4114800"/>
            <a:ext cx="9966960" cy="822960"/>
          </a:xfrm>
          <a:prstGeom prst="rect">
            <a:avLst/>
          </a:prstGeom>
          <a:noFill/>
          <a:ln/>
        </p:spPr>
        <p:txBody>
          <a:bodyPr wrap="square" lIns="0" tIns="0" rIns="0" bIns="0" rtlCol="0" anchor="ctr"/>
          <a:lstStyle/>
          <a:p>
            <a:pPr indent="0" marL="0">
              <a:lnSpc>
                <a:spcPct val="110000"/>
              </a:lnSpc>
              <a:buNone/>
            </a:pPr>
            <a:r>
              <a:rPr lang="en-US" sz="1800" dirty="0">
                <a:solidFill>
                  <a:srgbClr val="C7C7CC"/>
                </a:solidFill>
                <a:latin typeface="Calibri" pitchFamily="34" charset="0"/>
                <a:ea typeface="Calibri" pitchFamily="34" charset="-122"/>
                <a:cs typeface="Calibri" pitchFamily="34" charset="-120"/>
              </a:rPr>
              <a:t>A self-updating detector on an ESP32 that checks its own updates, so an attacker cannot slowly teach it that attacks are normal.</a:t>
            </a:r>
            <a:endParaRPr lang="en-US" sz="1800" dirty="0"/>
          </a:p>
        </p:txBody>
      </p:sp>
      <p:sp>
        <p:nvSpPr>
          <p:cNvPr id="6" name="Text 4"/>
          <p:cNvSpPr txBox="1"/>
          <p:nvPr/>
        </p:nvSpPr>
        <p:spPr>
          <a:xfrm>
            <a:off x="822960" y="5989320"/>
            <a:ext cx="10515600"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First Presentation, Proposal</a:t>
            </a:r>
            <a:pPr indent="0" marL="0">
              <a:buNone/>
            </a:pPr>
            <a:r>
              <a:rPr lang="en-US" sz="1300" dirty="0">
                <a:solidFill>
                  <a:srgbClr val="86868B"/>
                </a:solidFill>
                <a:latin typeface="Calibri" pitchFamily="34" charset="0"/>
                <a:ea typeface="Calibri" pitchFamily="34" charset="-122"/>
                <a:cs typeface="Calibri" pitchFamily="34" charset="-120"/>
              </a:rPr>
              <a:t>        Rishit Kamboj and Farhan Naik        24 September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2960" y="772668"/>
            <a:ext cx="100584" cy="100584"/>
          </a:xfrm>
          <a:prstGeom prst="ellipse">
            <a:avLst/>
          </a:prstGeom>
          <a:solidFill>
            <a:srgbClr val="0071E3"/>
          </a:solidFill>
          <a:ln/>
        </p:spPr>
      </p:sp>
      <p:sp>
        <p:nvSpPr>
          <p:cNvPr id="3" name="Text 1"/>
          <p:cNvSpPr txBox="1"/>
          <p:nvPr/>
        </p:nvSpPr>
        <p:spPr>
          <a:xfrm>
            <a:off x="1024128" y="676656"/>
            <a:ext cx="9144000" cy="292608"/>
          </a:xfrm>
          <a:prstGeom prst="rect">
            <a:avLst/>
          </a:prstGeom>
          <a:noFill/>
          <a:ln/>
        </p:spPr>
        <p:txBody>
          <a:bodyPr wrap="square" lIns="0" tIns="0" rIns="0" bIns="0" rtlCol="0" anchor="ctr"/>
          <a:lstStyle/>
          <a:p>
            <a:pPr indent="0" marL="0">
              <a:buNone/>
            </a:pPr>
            <a:r>
              <a:rPr lang="en-US" sz="1250" b="1" spc="220" kern="0" dirty="0">
                <a:solidFill>
                  <a:srgbClr val="0071E3"/>
                </a:solidFill>
                <a:latin typeface="Calibri" pitchFamily="34" charset="0"/>
                <a:ea typeface="Calibri" pitchFamily="34" charset="-122"/>
                <a:cs typeface="Calibri" pitchFamily="34" charset="-120"/>
              </a:rPr>
              <a:t>PROBLEM STATEMENT</a:t>
            </a:r>
            <a:endParaRPr lang="en-US" sz="1250" dirty="0"/>
          </a:p>
        </p:txBody>
      </p:sp>
      <p:sp>
        <p:nvSpPr>
          <p:cNvPr id="4" name="Text 2"/>
          <p:cNvSpPr txBox="1"/>
          <p:nvPr/>
        </p:nvSpPr>
        <p:spPr>
          <a:xfrm>
            <a:off x="822960" y="1188720"/>
            <a:ext cx="10515600" cy="868680"/>
          </a:xfrm>
          <a:prstGeom prst="rect">
            <a:avLst/>
          </a:prstGeom>
          <a:noFill/>
          <a:ln/>
        </p:spPr>
        <p:txBody>
          <a:bodyPr wrap="square" lIns="0" tIns="0" rIns="0" bIns="0" rtlCol="0" anchor="t"/>
          <a:lstStyle/>
          <a:p>
            <a:pPr indent="0" marL="0">
              <a:lnSpc>
                <a:spcPct val="103000"/>
              </a:lnSpc>
              <a:buNone/>
            </a:pPr>
            <a:r>
              <a:rPr lang="en-US" sz="3000" b="1" dirty="0">
                <a:solidFill>
                  <a:srgbClr val="1D1D1F"/>
                </a:solidFill>
                <a:latin typeface="Calibri" pitchFamily="34" charset="0"/>
                <a:ea typeface="Calibri" pitchFamily="34" charset="-122"/>
                <a:cs typeface="Calibri" pitchFamily="34" charset="-120"/>
              </a:rPr>
              <a:t>A detector that learns on the device can be taught to be blind.</a:t>
            </a:r>
            <a:endParaRPr lang="en-US" sz="3000" dirty="0"/>
          </a:p>
        </p:txBody>
      </p:sp>
      <p:sp>
        <p:nvSpPr>
          <p:cNvPr id="5" name="Text 3"/>
          <p:cNvSpPr txBox="1"/>
          <p:nvPr/>
        </p:nvSpPr>
        <p:spPr>
          <a:xfrm>
            <a:off x="822960" y="2423160"/>
            <a:ext cx="457200" cy="457200"/>
          </a:xfrm>
          <a:prstGeom prst="ellipse">
            <a:avLst/>
          </a:prstGeom>
          <a:solidFill>
            <a:srgbClr val="0071E3"/>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6" name="Text 4"/>
          <p:cNvSpPr txBox="1"/>
          <p:nvPr/>
        </p:nvSpPr>
        <p:spPr>
          <a:xfrm>
            <a:off x="1554480" y="2404872"/>
            <a:ext cx="9692640" cy="365760"/>
          </a:xfrm>
          <a:prstGeom prst="rect">
            <a:avLst/>
          </a:prstGeom>
          <a:noFill/>
          <a:ln/>
        </p:spPr>
        <p:txBody>
          <a:bodyPr wrap="square" lIns="0" tIns="0" rIns="0" bIns="0" rtlCol="0" anchor="ctr"/>
          <a:lstStyle/>
          <a:p>
            <a:pPr indent="0" marL="0">
              <a:buNone/>
            </a:pPr>
            <a:r>
              <a:rPr lang="en-US" sz="1800" b="1" dirty="0">
                <a:solidFill>
                  <a:srgbClr val="1D1D1F"/>
                </a:solidFill>
                <a:latin typeface="Calibri" pitchFamily="34" charset="0"/>
                <a:ea typeface="Calibri" pitchFamily="34" charset="-122"/>
                <a:cs typeface="Calibri" pitchFamily="34" charset="-120"/>
              </a:rPr>
              <a:t>Detection belongs on the device.</a:t>
            </a:r>
            <a:endParaRPr lang="en-US" sz="1800" dirty="0"/>
          </a:p>
        </p:txBody>
      </p:sp>
      <p:sp>
        <p:nvSpPr>
          <p:cNvPr id="7" name="Text 5"/>
          <p:cNvSpPr txBox="1"/>
          <p:nvPr/>
        </p:nvSpPr>
        <p:spPr>
          <a:xfrm>
            <a:off x="1554480" y="2770632"/>
            <a:ext cx="9692640" cy="640080"/>
          </a:xfrm>
          <a:prstGeom prst="rect">
            <a:avLst/>
          </a:prstGeom>
          <a:noFill/>
          <a:ln/>
        </p:spPr>
        <p:txBody>
          <a:bodyPr wrap="square" lIns="0" tIns="0" rIns="0" bIns="0" rtlCol="0" anchor="t"/>
          <a:lstStyle/>
          <a:p>
            <a:pPr indent="0" marL="0">
              <a:lnSpc>
                <a:spcPct val="108000"/>
              </a:lnSpc>
              <a:buNone/>
            </a:pPr>
            <a:r>
              <a:rPr lang="en-US" sz="1500" dirty="0">
                <a:solidFill>
                  <a:srgbClr val="424245"/>
                </a:solidFill>
                <a:latin typeface="Calibri" pitchFamily="34" charset="0"/>
                <a:ea typeface="Calibri" pitchFamily="34" charset="-122"/>
                <a:cs typeface="Calibri" pitchFamily="34" charset="-120"/>
              </a:rPr>
              <a:t>Lightweight IDS models already reach 96 to 99% accuracy on ESP32-class boards [1, 14].</a:t>
            </a:r>
            <a:endParaRPr lang="en-US" sz="1500" dirty="0"/>
          </a:p>
        </p:txBody>
      </p:sp>
      <p:sp>
        <p:nvSpPr>
          <p:cNvPr id="8" name="Text 6"/>
          <p:cNvSpPr txBox="1"/>
          <p:nvPr/>
        </p:nvSpPr>
        <p:spPr>
          <a:xfrm>
            <a:off x="822960" y="3611880"/>
            <a:ext cx="457200" cy="457200"/>
          </a:xfrm>
          <a:prstGeom prst="ellipse">
            <a:avLst/>
          </a:prstGeom>
          <a:solidFill>
            <a:srgbClr val="0071E3"/>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9" name="Text 7"/>
          <p:cNvSpPr txBox="1"/>
          <p:nvPr/>
        </p:nvSpPr>
        <p:spPr>
          <a:xfrm>
            <a:off x="1554480" y="3593592"/>
            <a:ext cx="9692640" cy="365760"/>
          </a:xfrm>
          <a:prstGeom prst="rect">
            <a:avLst/>
          </a:prstGeom>
          <a:noFill/>
          <a:ln/>
        </p:spPr>
        <p:txBody>
          <a:bodyPr wrap="square" lIns="0" tIns="0" rIns="0" bIns="0" rtlCol="0" anchor="ctr"/>
          <a:lstStyle/>
          <a:p>
            <a:pPr indent="0" marL="0">
              <a:buNone/>
            </a:pPr>
            <a:r>
              <a:rPr lang="en-US" sz="1800" b="1" dirty="0">
                <a:solidFill>
                  <a:srgbClr val="1D1D1F"/>
                </a:solidFill>
                <a:latin typeface="Calibri" pitchFamily="34" charset="0"/>
                <a:ea typeface="Calibri" pitchFamily="34" charset="-122"/>
                <a:cs typeface="Calibri" pitchFamily="34" charset="-120"/>
              </a:rPr>
              <a:t>But normal traffic drifts.</a:t>
            </a:r>
            <a:endParaRPr lang="en-US" sz="1800" dirty="0"/>
          </a:p>
        </p:txBody>
      </p:sp>
      <p:sp>
        <p:nvSpPr>
          <p:cNvPr id="10" name="Text 8"/>
          <p:cNvSpPr txBox="1"/>
          <p:nvPr/>
        </p:nvSpPr>
        <p:spPr>
          <a:xfrm>
            <a:off x="1554480" y="3959352"/>
            <a:ext cx="9692640" cy="640080"/>
          </a:xfrm>
          <a:prstGeom prst="rect">
            <a:avLst/>
          </a:prstGeom>
          <a:noFill/>
          <a:ln/>
        </p:spPr>
        <p:txBody>
          <a:bodyPr wrap="square" lIns="0" tIns="0" rIns="0" bIns="0" rtlCol="0" anchor="t"/>
          <a:lstStyle/>
          <a:p>
            <a:pPr indent="0" marL="0">
              <a:lnSpc>
                <a:spcPct val="108000"/>
              </a:lnSpc>
              <a:buNone/>
            </a:pPr>
            <a:r>
              <a:rPr lang="en-US" sz="1500" dirty="0">
                <a:solidFill>
                  <a:srgbClr val="424245"/>
                </a:solidFill>
                <a:latin typeface="Calibri" pitchFamily="34" charset="0"/>
                <a:ea typeface="Calibri" pitchFamily="34" charset="-122"/>
                <a:cs typeface="Calibri" pitchFamily="34" charset="-120"/>
              </a:rPr>
              <a:t>New devices, firmware and usage patterns make a frozen model stale, so it must update itself [3, 4].</a:t>
            </a:r>
            <a:endParaRPr lang="en-US" sz="1500" dirty="0"/>
          </a:p>
        </p:txBody>
      </p:sp>
      <p:sp>
        <p:nvSpPr>
          <p:cNvPr id="11" name="Text 9"/>
          <p:cNvSpPr txBox="1"/>
          <p:nvPr/>
        </p:nvSpPr>
        <p:spPr>
          <a:xfrm>
            <a:off x="822960" y="4800600"/>
            <a:ext cx="457200" cy="457200"/>
          </a:xfrm>
          <a:prstGeom prst="ellipse">
            <a:avLst/>
          </a:prstGeom>
          <a:solidFill>
            <a:srgbClr val="0071E3"/>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2" name="Text 10"/>
          <p:cNvSpPr txBox="1"/>
          <p:nvPr/>
        </p:nvSpPr>
        <p:spPr>
          <a:xfrm>
            <a:off x="1554480" y="4782312"/>
            <a:ext cx="9692640" cy="365760"/>
          </a:xfrm>
          <a:prstGeom prst="rect">
            <a:avLst/>
          </a:prstGeom>
          <a:noFill/>
          <a:ln/>
        </p:spPr>
        <p:txBody>
          <a:bodyPr wrap="square" lIns="0" tIns="0" rIns="0" bIns="0" rtlCol="0" anchor="ctr"/>
          <a:lstStyle/>
          <a:p>
            <a:pPr indent="0" marL="0">
              <a:buNone/>
            </a:pPr>
            <a:r>
              <a:rPr lang="en-US" sz="1800" b="1" dirty="0">
                <a:solidFill>
                  <a:srgbClr val="1D1D1F"/>
                </a:solidFill>
                <a:latin typeface="Calibri" pitchFamily="34" charset="0"/>
                <a:ea typeface="Calibri" pitchFamily="34" charset="-122"/>
                <a:cs typeface="Calibri" pitchFamily="34" charset="-120"/>
              </a:rPr>
              <a:t>And the update is the weak point.</a:t>
            </a:r>
            <a:endParaRPr lang="en-US" sz="1800" dirty="0"/>
          </a:p>
        </p:txBody>
      </p:sp>
      <p:sp>
        <p:nvSpPr>
          <p:cNvPr id="13" name="Text 11"/>
          <p:cNvSpPr txBox="1"/>
          <p:nvPr/>
        </p:nvSpPr>
        <p:spPr>
          <a:xfrm>
            <a:off x="1554480" y="5148072"/>
            <a:ext cx="9692640" cy="640080"/>
          </a:xfrm>
          <a:prstGeom prst="rect">
            <a:avLst/>
          </a:prstGeom>
          <a:noFill/>
          <a:ln/>
        </p:spPr>
        <p:txBody>
          <a:bodyPr wrap="square" lIns="0" tIns="0" rIns="0" bIns="0" rtlCol="0" anchor="t"/>
          <a:lstStyle/>
          <a:p>
            <a:pPr indent="0" marL="0">
              <a:lnSpc>
                <a:spcPct val="108000"/>
              </a:lnSpc>
              <a:buNone/>
            </a:pPr>
            <a:r>
              <a:rPr lang="en-US" sz="1500" dirty="0">
                <a:solidFill>
                  <a:srgbClr val="424245"/>
                </a:solidFill>
                <a:latin typeface="Calibri" pitchFamily="34" charset="0"/>
                <a:ea typeface="Calibri" pitchFamily="34" charset="-122"/>
                <a:cs typeface="Calibri" pitchFamily="34" charset="-120"/>
              </a:rPr>
              <a:t>An attacker who controls a small share of traffic can shift 'normal' a little each cycle until a real attack passes as benign. This boiling-frog poisoning is already demonstrated [6, 7].</a:t>
            </a:r>
            <a:endParaRPr lang="en-US" sz="1500" dirty="0"/>
          </a:p>
        </p:txBody>
      </p:sp>
      <p:sp>
        <p:nvSpPr>
          <p:cNvPr id="14" name="Text 12"/>
          <p:cNvSpPr txBox="1"/>
          <p:nvPr/>
        </p:nvSpPr>
        <p:spPr>
          <a:xfrm>
            <a:off x="822960" y="6327648"/>
            <a:ext cx="10515600" cy="274320"/>
          </a:xfrm>
          <a:prstGeom prst="rect">
            <a:avLst/>
          </a:prstGeom>
          <a:noFill/>
          <a:ln/>
        </p:spPr>
        <p:txBody>
          <a:bodyPr wrap="square" lIns="0" tIns="0" rIns="0" bIns="0" rtlCol="0" anchor="ctr"/>
          <a:lstStyle/>
          <a:p>
            <a:pPr indent="0" marL="0">
              <a:buNone/>
            </a:pPr>
            <a:r>
              <a:rPr lang="en-US" sz="1000" i="1" dirty="0">
                <a:solidFill>
                  <a:srgbClr val="86868B"/>
                </a:solidFill>
                <a:latin typeface="Calibri" pitchFamily="34" charset="0"/>
                <a:ea typeface="Calibri" pitchFamily="34" charset="-122"/>
                <a:cs typeface="Calibri" pitchFamily="34" charset="-120"/>
              </a:rPr>
              <a:t>[1] NDSS 2018  ·  [3] IEEE INFOCOM 2024  ·  [4] IEEE IoT Magazine 2021  ·  [6] ACM SAC 2021  ·  [7] MDPI Sensors 2024  ·  [14] IEEE ETECOM 2025</a:t>
            </a:r>
            <a:endParaRPr lang="en-US" sz="1000" dirty="0"/>
          </a:p>
        </p:txBody>
      </p:sp>
      <p:sp>
        <p:nvSpPr>
          <p:cNvPr id="15" name="Text 13"/>
          <p:cNvSpPr txBox="1"/>
          <p:nvPr/>
        </p:nvSpPr>
        <p:spPr>
          <a:xfrm>
            <a:off x="11064240" y="6327648"/>
            <a:ext cx="365760" cy="274320"/>
          </a:xfrm>
          <a:prstGeom prst="rect">
            <a:avLst/>
          </a:prstGeom>
          <a:noFill/>
          <a:ln/>
        </p:spPr>
        <p:txBody>
          <a:bodyPr wrap="square" lIns="0" tIns="0" rIns="0" bIns="0" rtlCol="0" anchor="ctr"/>
          <a:lstStyle/>
          <a:p>
            <a:pPr algn="r" indent="0" marL="0">
              <a:buNone/>
            </a:pPr>
            <a:r>
              <a:rPr lang="en-US" sz="1000" dirty="0">
                <a:solidFill>
                  <a:srgbClr val="C7C7CC"/>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2960" y="772668"/>
            <a:ext cx="100584" cy="100584"/>
          </a:xfrm>
          <a:prstGeom prst="ellipse">
            <a:avLst/>
          </a:prstGeom>
          <a:solidFill>
            <a:srgbClr val="0071E3"/>
          </a:solidFill>
          <a:ln/>
        </p:spPr>
      </p:sp>
      <p:sp>
        <p:nvSpPr>
          <p:cNvPr id="3" name="Text 1"/>
          <p:cNvSpPr txBox="1"/>
          <p:nvPr/>
        </p:nvSpPr>
        <p:spPr>
          <a:xfrm>
            <a:off x="1024128" y="676656"/>
            <a:ext cx="9144000" cy="292608"/>
          </a:xfrm>
          <a:prstGeom prst="rect">
            <a:avLst/>
          </a:prstGeom>
          <a:noFill/>
          <a:ln/>
        </p:spPr>
        <p:txBody>
          <a:bodyPr wrap="square" lIns="0" tIns="0" rIns="0" bIns="0" rtlCol="0" anchor="ctr"/>
          <a:lstStyle/>
          <a:p>
            <a:pPr indent="0" marL="0">
              <a:buNone/>
            </a:pPr>
            <a:r>
              <a:rPr lang="en-US" sz="1250" b="1" spc="220" kern="0" dirty="0">
                <a:solidFill>
                  <a:srgbClr val="0071E3"/>
                </a:solidFill>
                <a:latin typeface="Calibri" pitchFamily="34" charset="0"/>
                <a:ea typeface="Calibri" pitchFamily="34" charset="-122"/>
                <a:cs typeface="Calibri" pitchFamily="34" charset="-120"/>
              </a:rPr>
              <a:t>EXISTING WORK  ·  5 PAPERS</a:t>
            </a:r>
            <a:endParaRPr lang="en-US" sz="1250" dirty="0"/>
          </a:p>
        </p:txBody>
      </p:sp>
      <p:sp>
        <p:nvSpPr>
          <p:cNvPr id="4" name="Text 2"/>
          <p:cNvSpPr txBox="1"/>
          <p:nvPr/>
        </p:nvSpPr>
        <p:spPr>
          <a:xfrm>
            <a:off x="822960" y="1188720"/>
            <a:ext cx="10515600" cy="868680"/>
          </a:xfrm>
          <a:prstGeom prst="rect">
            <a:avLst/>
          </a:prstGeom>
          <a:noFill/>
          <a:ln/>
        </p:spPr>
        <p:txBody>
          <a:bodyPr wrap="square" lIns="0" tIns="0" rIns="0" bIns="0" rtlCol="0" anchor="t"/>
          <a:lstStyle/>
          <a:p>
            <a:pPr indent="0" marL="0">
              <a:lnSpc>
                <a:spcPct val="103000"/>
              </a:lnSpc>
              <a:buNone/>
            </a:pPr>
            <a:r>
              <a:rPr lang="en-US" sz="2800" b="1" dirty="0">
                <a:solidFill>
                  <a:srgbClr val="1D1D1F"/>
                </a:solidFill>
                <a:latin typeface="Calibri" pitchFamily="34" charset="0"/>
                <a:ea typeface="Calibri" pitchFamily="34" charset="-122"/>
                <a:cs typeface="Calibri" pitchFamily="34" charset="-120"/>
              </a:rPr>
              <a:t>Every piece exists. Nobody has put them on one device.</a:t>
            </a:r>
            <a:endParaRPr lang="en-US" sz="2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2960" y="2194560"/>
          <a:ext cx="10561320" cy="914400"/>
        </p:xfrm>
        <a:graphic>
          <a:graphicData uri="http://schemas.openxmlformats.org/drawingml/2006/table">
            <a:tbl>
              <a:tblPr/>
              <a:tblGrid>
                <a:gridCol w="1920240"/>
                <a:gridCol w="1554480"/>
                <a:gridCol w="3611880"/>
                <a:gridCol w="3474720"/>
              </a:tblGrid>
              <a:tr h="384048">
                <a:tc>
                  <a:txBody>
                    <a:bodyPr/>
                    <a:lstStyle/>
                    <a:p>
                      <a:pPr indent="0" marL="0">
                        <a:buNone/>
                      </a:pPr>
                      <a:r>
                        <a:rPr lang="en-US" sz="1150" b="1" dirty="0">
                          <a:solidFill>
                            <a:srgbClr val="86868B"/>
                          </a:solidFill>
                          <a:latin typeface="Calibri" pitchFamily="34" charset="0"/>
                          <a:ea typeface="Calibri" pitchFamily="34" charset="-122"/>
                          <a:cs typeface="Calibri" pitchFamily="34" charset="-120"/>
                        </a:rPr>
                        <a:t>PAPER</a:t>
                      </a:r>
                      <a:endParaRPr lang="en-US" sz="115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12700" cap="flat" cmpd="sng" algn="ctr">
                      <a:solidFill>
                        <a:srgbClr val="E8E8ED"/>
                      </a:solidFill>
                      <a:prstDash val="solid"/>
                      <a:round/>
                      <a:headEnd type="none" w="med" len="med"/>
                      <a:tailEnd type="none" w="med" len="med"/>
                    </a:lnB>
                    <a:solidFill>
                      <a:srgbClr val="FFFFFF"/>
                    </a:solidFill>
                  </a:tcPr>
                </a:tc>
                <a:tc>
                  <a:txBody>
                    <a:bodyPr/>
                    <a:lstStyle/>
                    <a:p>
                      <a:pPr indent="0" marL="0">
                        <a:buNone/>
                      </a:pPr>
                      <a:r>
                        <a:rPr lang="en-US" sz="1150" b="1" dirty="0">
                          <a:solidFill>
                            <a:srgbClr val="86868B"/>
                          </a:solidFill>
                          <a:latin typeface="Calibri" pitchFamily="34" charset="0"/>
                          <a:ea typeface="Calibri" pitchFamily="34" charset="-122"/>
                          <a:cs typeface="Calibri" pitchFamily="34" charset="-120"/>
                        </a:rPr>
                        <a:t>VENUE</a:t>
                      </a:r>
                      <a:endParaRPr lang="en-US" sz="115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12700" cap="flat" cmpd="sng" algn="ctr">
                      <a:solidFill>
                        <a:srgbClr val="E8E8ED"/>
                      </a:solidFill>
                      <a:prstDash val="solid"/>
                      <a:round/>
                      <a:headEnd type="none" w="med" len="med"/>
                      <a:tailEnd type="none" w="med" len="med"/>
                    </a:lnB>
                    <a:solidFill>
                      <a:srgbClr val="FFFFFF"/>
                    </a:solidFill>
                  </a:tcPr>
                </a:tc>
                <a:tc>
                  <a:txBody>
                    <a:bodyPr/>
                    <a:lstStyle/>
                    <a:p>
                      <a:pPr indent="0" marL="0">
                        <a:buNone/>
                      </a:pPr>
                      <a:r>
                        <a:rPr lang="en-US" sz="1150" b="1" dirty="0">
                          <a:solidFill>
                            <a:srgbClr val="86868B"/>
                          </a:solidFill>
                          <a:latin typeface="Calibri" pitchFamily="34" charset="0"/>
                          <a:ea typeface="Calibri" pitchFamily="34" charset="-122"/>
                          <a:cs typeface="Calibri" pitchFamily="34" charset="-120"/>
                        </a:rPr>
                        <a:t>WHAT IT SHOWS</a:t>
                      </a:r>
                      <a:endParaRPr lang="en-US" sz="115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12700" cap="flat" cmpd="sng" algn="ctr">
                      <a:solidFill>
                        <a:srgbClr val="E8E8ED"/>
                      </a:solidFill>
                      <a:prstDash val="solid"/>
                      <a:round/>
                      <a:headEnd type="none" w="med" len="med"/>
                      <a:tailEnd type="none" w="med" len="med"/>
                    </a:lnB>
                    <a:solidFill>
                      <a:srgbClr val="FFFFFF"/>
                    </a:solidFill>
                  </a:tcPr>
                </a:tc>
                <a:tc>
                  <a:txBody>
                    <a:bodyPr/>
                    <a:lstStyle/>
                    <a:p>
                      <a:pPr indent="0" marL="0">
                        <a:buNone/>
                      </a:pPr>
                      <a:r>
                        <a:rPr lang="en-US" sz="1150" b="1" dirty="0">
                          <a:solidFill>
                            <a:srgbClr val="86868B"/>
                          </a:solidFill>
                          <a:latin typeface="Calibri" pitchFamily="34" charset="0"/>
                          <a:ea typeface="Calibri" pitchFamily="34" charset="-122"/>
                          <a:cs typeface="Calibri" pitchFamily="34" charset="-120"/>
                        </a:rPr>
                        <a:t>WHAT IT LEAVES OPEN</a:t>
                      </a:r>
                      <a:endParaRPr lang="en-US" sz="115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12700" cap="flat" cmpd="sng" algn="ctr">
                      <a:solidFill>
                        <a:srgbClr val="E8E8ED"/>
                      </a:solidFill>
                      <a:prstDash val="solid"/>
                      <a:round/>
                      <a:headEnd type="none" w="med" len="med"/>
                      <a:tailEnd type="none" w="med" len="med"/>
                    </a:lnB>
                    <a:solidFill>
                      <a:srgbClr val="FFFFFF"/>
                    </a:solidFill>
                  </a:tcPr>
                </a:tc>
              </a:tr>
              <a:tr h="603504">
                <a:tc>
                  <a:txBody>
                    <a:bodyPr/>
                    <a:lstStyle/>
                    <a:p>
                      <a:pPr indent="0" marL="0">
                        <a:buNone/>
                      </a:pPr>
                      <a:r>
                        <a:rPr lang="en-US" sz="1300" b="1" dirty="0">
                          <a:solidFill>
                            <a:srgbClr val="1D1D1F"/>
                          </a:solidFill>
                          <a:latin typeface="Calibri" pitchFamily="34" charset="0"/>
                          <a:ea typeface="Calibri" pitchFamily="34" charset="-122"/>
                          <a:cs typeface="Calibri" pitchFamily="34" charset="-120"/>
                        </a:rPr>
                        <a:t>Kitsune [1]</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8E8ED"/>
                      </a:solidFill>
                      <a:prstDash val="solid"/>
                      <a:round/>
                      <a:headEnd type="none" w="med" len="med"/>
                      <a:tailEnd type="none" w="med" len="med"/>
                    </a:lnB>
                  </a:tcPr>
                </a:tc>
                <a:tc>
                  <a:txBody>
                    <a:bodyPr/>
                    <a:lstStyle/>
                    <a:p>
                      <a:pPr indent="0" marL="0">
                        <a:buNone/>
                      </a:pPr>
                      <a:r>
                        <a:rPr lang="en-US" sz="1300" dirty="0">
                          <a:solidFill>
                            <a:srgbClr val="424245"/>
                          </a:solidFill>
                          <a:latin typeface="Calibri" pitchFamily="34" charset="0"/>
                          <a:ea typeface="Calibri" pitchFamily="34" charset="-122"/>
                          <a:cs typeface="Calibri" pitchFamily="34" charset="-120"/>
                        </a:rPr>
                        <a:t>NDSS 2018</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8E8ED"/>
                      </a:solidFill>
                      <a:prstDash val="solid"/>
                      <a:round/>
                      <a:headEnd type="none" w="med" len="med"/>
                      <a:tailEnd type="none" w="med" len="med"/>
                    </a:lnB>
                  </a:tcPr>
                </a:tc>
                <a:tc>
                  <a:txBody>
                    <a:bodyPr/>
                    <a:lstStyle/>
                    <a:p>
                      <a:pPr indent="0" marL="0">
                        <a:buNone/>
                      </a:pPr>
                      <a:r>
                        <a:rPr lang="en-US" sz="1300" dirty="0">
                          <a:solidFill>
                            <a:srgbClr val="424245"/>
                          </a:solidFill>
                          <a:latin typeface="Calibri" pitchFamily="34" charset="0"/>
                          <a:ea typeface="Calibri" pitchFamily="34" charset="-122"/>
                          <a:cs typeface="Calibri" pitchFamily="34" charset="-120"/>
                        </a:rPr>
                        <a:t>Online autoencoder IDS light enough for small devices</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8E8ED"/>
                      </a:solidFill>
                      <a:prstDash val="solid"/>
                      <a:round/>
                      <a:headEnd type="none" w="med" len="med"/>
                      <a:tailEnd type="none" w="med" len="med"/>
                    </a:lnB>
                  </a:tcPr>
                </a:tc>
                <a:tc>
                  <a:txBody>
                    <a:bodyPr/>
                    <a:lstStyle/>
                    <a:p>
                      <a:pPr indent="0" marL="0">
                        <a:buNone/>
                      </a:pPr>
                      <a:r>
                        <a:rPr lang="en-US" sz="1300" dirty="0">
                          <a:solidFill>
                            <a:srgbClr val="D70015"/>
                          </a:solidFill>
                          <a:latin typeface="Calibri" pitchFamily="34" charset="0"/>
                          <a:ea typeface="Calibri" pitchFamily="34" charset="-122"/>
                          <a:cs typeface="Calibri" pitchFamily="34" charset="-120"/>
                        </a:rPr>
                        <a:t>Freezes after training, so it goes stale</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8E8ED"/>
                      </a:solidFill>
                      <a:prstDash val="solid"/>
                      <a:round/>
                      <a:headEnd type="none" w="med" len="med"/>
                      <a:tailEnd type="none" w="med" len="med"/>
                    </a:lnB>
                  </a:tcPr>
                </a:tc>
              </a:tr>
              <a:tr h="603504">
                <a:tc>
                  <a:txBody>
                    <a:bodyPr/>
                    <a:lstStyle/>
                    <a:p>
                      <a:pPr indent="0" marL="0">
                        <a:buNone/>
                      </a:pPr>
                      <a:r>
                        <a:rPr lang="en-US" sz="1300" b="1" dirty="0">
                          <a:solidFill>
                            <a:srgbClr val="1D1D1F"/>
                          </a:solidFill>
                          <a:latin typeface="Calibri" pitchFamily="34" charset="0"/>
                          <a:ea typeface="Calibri" pitchFamily="34" charset="-122"/>
                          <a:cs typeface="Calibri" pitchFamily="34" charset="-120"/>
                        </a:rPr>
                        <a:t>AOC-IDS [3]</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8E8ED"/>
                      </a:solidFill>
                      <a:prstDash val="solid"/>
                      <a:round/>
                      <a:headEnd type="none" w="med" len="med"/>
                      <a:tailEnd type="none" w="med" len="med"/>
                    </a:lnB>
                  </a:tcPr>
                </a:tc>
                <a:tc>
                  <a:txBody>
                    <a:bodyPr/>
                    <a:lstStyle/>
                    <a:p>
                      <a:pPr indent="0" marL="0">
                        <a:buNone/>
                      </a:pPr>
                      <a:r>
                        <a:rPr lang="en-US" sz="1300" dirty="0">
                          <a:solidFill>
                            <a:srgbClr val="424245"/>
                          </a:solidFill>
                          <a:latin typeface="Calibri" pitchFamily="34" charset="0"/>
                          <a:ea typeface="Calibri" pitchFamily="34" charset="-122"/>
                          <a:cs typeface="Calibri" pitchFamily="34" charset="-120"/>
                        </a:rPr>
                        <a:t>INFOCOM 2024</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8E8ED"/>
                      </a:solidFill>
                      <a:prstDash val="solid"/>
                      <a:round/>
                      <a:headEnd type="none" w="med" len="med"/>
                      <a:tailEnd type="none" w="med" len="med"/>
                    </a:lnB>
                  </a:tcPr>
                </a:tc>
                <a:tc>
                  <a:txBody>
                    <a:bodyPr/>
                    <a:lstStyle/>
                    <a:p>
                      <a:pPr indent="0" marL="0">
                        <a:buNone/>
                      </a:pPr>
                      <a:r>
                        <a:rPr lang="en-US" sz="1300" dirty="0">
                          <a:solidFill>
                            <a:srgbClr val="424245"/>
                          </a:solidFill>
                          <a:latin typeface="Calibri" pitchFamily="34" charset="0"/>
                          <a:ea typeface="Calibri" pitchFamily="34" charset="-122"/>
                          <a:cs typeface="Calibri" pitchFamily="34" charset="-120"/>
                        </a:rPr>
                        <a:t>IDS that adapts online around a trusted anchor</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8E8ED"/>
                      </a:solidFill>
                      <a:prstDash val="solid"/>
                      <a:round/>
                      <a:headEnd type="none" w="med" len="med"/>
                      <a:tailEnd type="none" w="med" len="med"/>
                    </a:lnB>
                  </a:tcPr>
                </a:tc>
                <a:tc>
                  <a:txBody>
                    <a:bodyPr/>
                    <a:lstStyle/>
                    <a:p>
                      <a:pPr indent="0" marL="0">
                        <a:buNone/>
                      </a:pPr>
                      <a:r>
                        <a:rPr lang="en-US" sz="1300" dirty="0">
                          <a:solidFill>
                            <a:srgbClr val="D70015"/>
                          </a:solidFill>
                          <a:latin typeface="Calibri" pitchFamily="34" charset="0"/>
                          <a:ea typeface="Calibri" pitchFamily="34" charset="-122"/>
                          <a:cs typeface="Calibri" pitchFamily="34" charset="-120"/>
                        </a:rPr>
                        <a:t>Server-scale; commits every update unchecked</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8E8ED"/>
                      </a:solidFill>
                      <a:prstDash val="solid"/>
                      <a:round/>
                      <a:headEnd type="none" w="med" len="med"/>
                      <a:tailEnd type="none" w="med" len="med"/>
                    </a:lnB>
                  </a:tcPr>
                </a:tc>
              </a:tr>
              <a:tr h="603504">
                <a:tc>
                  <a:txBody>
                    <a:bodyPr/>
                    <a:lstStyle/>
                    <a:p>
                      <a:pPr indent="0" marL="0">
                        <a:buNone/>
                      </a:pPr>
                      <a:r>
                        <a:rPr lang="en-US" sz="1300" b="1" dirty="0">
                          <a:solidFill>
                            <a:srgbClr val="1D1D1F"/>
                          </a:solidFill>
                          <a:latin typeface="Calibri" pitchFamily="34" charset="0"/>
                          <a:ea typeface="Calibri" pitchFamily="34" charset="-122"/>
                          <a:cs typeface="Calibri" pitchFamily="34" charset="-120"/>
                        </a:rPr>
                        <a:t>Kravchik et al. [6]</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8E8ED"/>
                      </a:solidFill>
                      <a:prstDash val="solid"/>
                      <a:round/>
                      <a:headEnd type="none" w="med" len="med"/>
                      <a:tailEnd type="none" w="med" len="med"/>
                    </a:lnB>
                  </a:tcPr>
                </a:tc>
                <a:tc>
                  <a:txBody>
                    <a:bodyPr/>
                    <a:lstStyle/>
                    <a:p>
                      <a:pPr indent="0" marL="0">
                        <a:buNone/>
                      </a:pPr>
                      <a:r>
                        <a:rPr lang="en-US" sz="1300" dirty="0">
                          <a:solidFill>
                            <a:srgbClr val="424245"/>
                          </a:solidFill>
                          <a:latin typeface="Calibri" pitchFamily="34" charset="0"/>
                          <a:ea typeface="Calibri" pitchFamily="34" charset="-122"/>
                          <a:cs typeface="Calibri" pitchFamily="34" charset="-120"/>
                        </a:rPr>
                        <a:t>ACM SAC 2021</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8E8ED"/>
                      </a:solidFill>
                      <a:prstDash val="solid"/>
                      <a:round/>
                      <a:headEnd type="none" w="med" len="med"/>
                      <a:tailEnd type="none" w="med" len="med"/>
                    </a:lnB>
                  </a:tcPr>
                </a:tc>
                <a:tc>
                  <a:txBody>
                    <a:bodyPr/>
                    <a:lstStyle/>
                    <a:p>
                      <a:pPr indent="0" marL="0">
                        <a:buNone/>
                      </a:pPr>
                      <a:r>
                        <a:rPr lang="en-US" sz="1300" dirty="0">
                          <a:solidFill>
                            <a:srgbClr val="424245"/>
                          </a:solidFill>
                          <a:latin typeface="Calibri" pitchFamily="34" charset="0"/>
                          <a:ea typeface="Calibri" pitchFamily="34" charset="-122"/>
                          <a:cs typeface="Calibri" pitchFamily="34" charset="-120"/>
                        </a:rPr>
                        <a:t>Slow poisoning breaks online-retrained detectors</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8E8ED"/>
                      </a:solidFill>
                      <a:prstDash val="solid"/>
                      <a:round/>
                      <a:headEnd type="none" w="med" len="med"/>
                      <a:tailEnd type="none" w="med" len="med"/>
                    </a:lnB>
                  </a:tcPr>
                </a:tc>
                <a:tc>
                  <a:txBody>
                    <a:bodyPr/>
                    <a:lstStyle/>
                    <a:p>
                      <a:pPr indent="0" marL="0">
                        <a:buNone/>
                      </a:pPr>
                      <a:r>
                        <a:rPr lang="en-US" sz="1300" dirty="0">
                          <a:solidFill>
                            <a:srgbClr val="D70015"/>
                          </a:solidFill>
                          <a:latin typeface="Calibri" pitchFamily="34" charset="0"/>
                          <a:ea typeface="Calibri" pitchFamily="34" charset="-122"/>
                          <a:cs typeface="Calibri" pitchFamily="34" charset="-120"/>
                        </a:rPr>
                        <a:t>Attack only, on industrial systems</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8E8ED"/>
                      </a:solidFill>
                      <a:prstDash val="solid"/>
                      <a:round/>
                      <a:headEnd type="none" w="med" len="med"/>
                      <a:tailEnd type="none" w="med" len="med"/>
                    </a:lnB>
                  </a:tcPr>
                </a:tc>
              </a:tr>
              <a:tr h="603504">
                <a:tc>
                  <a:txBody>
                    <a:bodyPr/>
                    <a:lstStyle/>
                    <a:p>
                      <a:pPr indent="0" marL="0">
                        <a:buNone/>
                      </a:pPr>
                      <a:r>
                        <a:rPr lang="en-US" sz="1300" b="1" dirty="0">
                          <a:solidFill>
                            <a:srgbClr val="1D1D1F"/>
                          </a:solidFill>
                          <a:latin typeface="Calibri" pitchFamily="34" charset="0"/>
                          <a:ea typeface="Calibri" pitchFamily="34" charset="-122"/>
                          <a:cs typeface="Calibri" pitchFamily="34" charset="-120"/>
                        </a:rPr>
                        <a:t>ONLAD attack [7]</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8E8ED"/>
                      </a:solidFill>
                      <a:prstDash val="solid"/>
                      <a:round/>
                      <a:headEnd type="none" w="med" len="med"/>
                      <a:tailEnd type="none" w="med" len="med"/>
                    </a:lnB>
                  </a:tcPr>
                </a:tc>
                <a:tc>
                  <a:txBody>
                    <a:bodyPr/>
                    <a:lstStyle/>
                    <a:p>
                      <a:pPr indent="0" marL="0">
                        <a:buNone/>
                      </a:pPr>
                      <a:r>
                        <a:rPr lang="en-US" sz="1300" dirty="0">
                          <a:solidFill>
                            <a:srgbClr val="424245"/>
                          </a:solidFill>
                          <a:latin typeface="Calibri" pitchFamily="34" charset="0"/>
                          <a:ea typeface="Calibri" pitchFamily="34" charset="-122"/>
                          <a:cs typeface="Calibri" pitchFamily="34" charset="-120"/>
                        </a:rPr>
                        <a:t>Sensors 2024</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8E8ED"/>
                      </a:solidFill>
                      <a:prstDash val="solid"/>
                      <a:round/>
                      <a:headEnd type="none" w="med" len="med"/>
                      <a:tailEnd type="none" w="med" len="med"/>
                    </a:lnB>
                  </a:tcPr>
                </a:tc>
                <a:tc>
                  <a:txBody>
                    <a:bodyPr/>
                    <a:lstStyle/>
                    <a:p>
                      <a:pPr indent="0" marL="0">
                        <a:buNone/>
                      </a:pPr>
                      <a:r>
                        <a:rPr lang="en-US" sz="1300" dirty="0">
                          <a:solidFill>
                            <a:srgbClr val="424245"/>
                          </a:solidFill>
                          <a:latin typeface="Calibri" pitchFamily="34" charset="0"/>
                          <a:ea typeface="Calibri" pitchFamily="34" charset="-122"/>
                          <a:cs typeface="Calibri" pitchFamily="34" charset="-120"/>
                        </a:rPr>
                        <a:t>100% poisoning success on an on-device learner</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8E8ED"/>
                      </a:solidFill>
                      <a:prstDash val="solid"/>
                      <a:round/>
                      <a:headEnd type="none" w="med" len="med"/>
                      <a:tailEnd type="none" w="med" len="med"/>
                    </a:lnB>
                  </a:tcPr>
                </a:tc>
                <a:tc>
                  <a:txBody>
                    <a:bodyPr/>
                    <a:lstStyle/>
                    <a:p>
                      <a:pPr indent="0" marL="0">
                        <a:buNone/>
                      </a:pPr>
                      <a:r>
                        <a:rPr lang="en-US" sz="1300" dirty="0">
                          <a:solidFill>
                            <a:srgbClr val="D70015"/>
                          </a:solidFill>
                          <a:latin typeface="Calibri" pitchFamily="34" charset="0"/>
                          <a:ea typeface="Calibri" pitchFamily="34" charset="-122"/>
                          <a:cs typeface="Calibri" pitchFamily="34" charset="-120"/>
                        </a:rPr>
                        <a:t>Proposes no defense at all</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8E8ED"/>
                      </a:solidFill>
                      <a:prstDash val="solid"/>
                      <a:round/>
                      <a:headEnd type="none" w="med" len="med"/>
                      <a:tailEnd type="none" w="med" len="med"/>
                    </a:lnB>
                  </a:tcPr>
                </a:tc>
              </a:tr>
              <a:tr h="603504">
                <a:tc>
                  <a:txBody>
                    <a:bodyPr/>
                    <a:lstStyle/>
                    <a:p>
                      <a:pPr indent="0" marL="0">
                        <a:buNone/>
                      </a:pPr>
                      <a:r>
                        <a:rPr lang="en-US" sz="1300" b="1" dirty="0">
                          <a:solidFill>
                            <a:srgbClr val="1D1D1F"/>
                          </a:solidFill>
                          <a:latin typeface="Calibri" pitchFamily="34" charset="0"/>
                          <a:ea typeface="Calibri" pitchFamily="34" charset="-122"/>
                          <a:cs typeface="Calibri" pitchFamily="34" charset="-120"/>
                        </a:rPr>
                        <a:t>Krum [8]</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8E8ED"/>
                      </a:solidFill>
                      <a:prstDash val="solid"/>
                      <a:round/>
                      <a:headEnd type="none" w="med" len="med"/>
                      <a:tailEnd type="none" w="med" len="med"/>
                    </a:lnB>
                  </a:tcPr>
                </a:tc>
                <a:tc>
                  <a:txBody>
                    <a:bodyPr/>
                    <a:lstStyle/>
                    <a:p>
                      <a:pPr indent="0" marL="0">
                        <a:buNone/>
                      </a:pPr>
                      <a:r>
                        <a:rPr lang="en-US" sz="1300" dirty="0">
                          <a:solidFill>
                            <a:srgbClr val="424245"/>
                          </a:solidFill>
                          <a:latin typeface="Calibri" pitchFamily="34" charset="0"/>
                          <a:ea typeface="Calibri" pitchFamily="34" charset="-122"/>
                          <a:cs typeface="Calibri" pitchFamily="34" charset="-120"/>
                        </a:rPr>
                        <a:t>NeurIPS 2017</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8E8ED"/>
                      </a:solidFill>
                      <a:prstDash val="solid"/>
                      <a:round/>
                      <a:headEnd type="none" w="med" len="med"/>
                      <a:tailEnd type="none" w="med" len="med"/>
                    </a:lnB>
                  </a:tcPr>
                </a:tc>
                <a:tc>
                  <a:txBody>
                    <a:bodyPr/>
                    <a:lstStyle/>
                    <a:p>
                      <a:pPr indent="0" marL="0">
                        <a:buNone/>
                      </a:pPr>
                      <a:r>
                        <a:rPr lang="en-US" sz="1300" dirty="0">
                          <a:solidFill>
                            <a:srgbClr val="424245"/>
                          </a:solidFill>
                          <a:latin typeface="Calibri" pitchFamily="34" charset="0"/>
                          <a:ea typeface="Calibri" pitchFamily="34" charset="-122"/>
                          <a:cs typeface="Calibri" pitchFamily="34" charset="-120"/>
                        </a:rPr>
                        <a:t>Provably robust filtering of poisoned updates</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8E8ED"/>
                      </a:solidFill>
                      <a:prstDash val="solid"/>
                      <a:round/>
                      <a:headEnd type="none" w="med" len="med"/>
                      <a:tailEnd type="none" w="med" len="med"/>
                    </a:lnB>
                  </a:tcPr>
                </a:tc>
                <a:tc>
                  <a:txBody>
                    <a:bodyPr/>
                    <a:lstStyle/>
                    <a:p>
                      <a:pPr indent="0" marL="0">
                        <a:buNone/>
                      </a:pPr>
                      <a:r>
                        <a:rPr lang="en-US" sz="1300" dirty="0">
                          <a:solidFill>
                            <a:srgbClr val="D70015"/>
                          </a:solidFill>
                          <a:latin typeface="Calibri" pitchFamily="34" charset="0"/>
                          <a:ea typeface="Calibri" pitchFamily="34" charset="-122"/>
                          <a:cs typeface="Calibri" pitchFamily="34" charset="-120"/>
                        </a:rPr>
                        <a:t>Needs many peer devices; one ESP32 has none</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8E8ED"/>
                      </a:solidFill>
                      <a:prstDash val="solid"/>
                      <a:round/>
                      <a:headEnd type="none" w="med" len="med"/>
                      <a:tailEnd type="none" w="med" len="med"/>
                    </a:lnB>
                  </a:tcPr>
                </a:tc>
              </a:tr>
            </a:tbl>
          </a:graphicData>
        </a:graphic>
      </p:graphicFrame>
      <p:sp>
        <p:nvSpPr>
          <p:cNvPr id="6" name="Text 3"/>
          <p:cNvSpPr txBox="1"/>
          <p:nvPr/>
        </p:nvSpPr>
        <p:spPr>
          <a:xfrm>
            <a:off x="822960" y="6327648"/>
            <a:ext cx="10515600" cy="274320"/>
          </a:xfrm>
          <a:prstGeom prst="rect">
            <a:avLst/>
          </a:prstGeom>
          <a:noFill/>
          <a:ln/>
        </p:spPr>
        <p:txBody>
          <a:bodyPr wrap="square" lIns="0" tIns="0" rIns="0" bIns="0" rtlCol="0" anchor="ctr"/>
          <a:lstStyle/>
          <a:p>
            <a:pPr indent="0" marL="0">
              <a:buNone/>
            </a:pPr>
            <a:r>
              <a:rPr lang="en-US" sz="1000" i="1" dirty="0">
                <a:solidFill>
                  <a:srgbClr val="86868B"/>
                </a:solidFill>
                <a:latin typeface="Calibri" pitchFamily="34" charset="0"/>
                <a:ea typeface="Calibri" pitchFamily="34" charset="-122"/>
                <a:cs typeface="Calibri" pitchFamily="34" charset="-120"/>
              </a:rPr>
              <a:t>Selected from 78 papers found and 28 read in full. Full citations on the last slide.</a:t>
            </a:r>
            <a:endParaRPr lang="en-US" sz="1000" dirty="0"/>
          </a:p>
        </p:txBody>
      </p:sp>
      <p:sp>
        <p:nvSpPr>
          <p:cNvPr id="7" name="Text 4"/>
          <p:cNvSpPr txBox="1"/>
          <p:nvPr/>
        </p:nvSpPr>
        <p:spPr>
          <a:xfrm>
            <a:off x="11064240" y="6327648"/>
            <a:ext cx="365760" cy="274320"/>
          </a:xfrm>
          <a:prstGeom prst="rect">
            <a:avLst/>
          </a:prstGeom>
          <a:noFill/>
          <a:ln/>
        </p:spPr>
        <p:txBody>
          <a:bodyPr wrap="square" lIns="0" tIns="0" rIns="0" bIns="0" rtlCol="0" anchor="ctr"/>
          <a:lstStyle/>
          <a:p>
            <a:pPr algn="r" indent="0" marL="0">
              <a:buNone/>
            </a:pPr>
            <a:r>
              <a:rPr lang="en-US" sz="1000" dirty="0">
                <a:solidFill>
                  <a:srgbClr val="C7C7CC"/>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2960" y="772668"/>
            <a:ext cx="100584" cy="100584"/>
          </a:xfrm>
          <a:prstGeom prst="ellipse">
            <a:avLst/>
          </a:prstGeom>
          <a:solidFill>
            <a:srgbClr val="0071E3"/>
          </a:solidFill>
          <a:ln/>
        </p:spPr>
      </p:sp>
      <p:sp>
        <p:nvSpPr>
          <p:cNvPr id="3" name="Text 1"/>
          <p:cNvSpPr txBox="1"/>
          <p:nvPr/>
        </p:nvSpPr>
        <p:spPr>
          <a:xfrm>
            <a:off x="1024128" y="676656"/>
            <a:ext cx="9144000" cy="292608"/>
          </a:xfrm>
          <a:prstGeom prst="rect">
            <a:avLst/>
          </a:prstGeom>
          <a:noFill/>
          <a:ln/>
        </p:spPr>
        <p:txBody>
          <a:bodyPr wrap="square" lIns="0" tIns="0" rIns="0" bIns="0" rtlCol="0" anchor="ctr"/>
          <a:lstStyle/>
          <a:p>
            <a:pPr indent="0" marL="0">
              <a:buNone/>
            </a:pPr>
            <a:r>
              <a:rPr lang="en-US" sz="1250" b="1" spc="220" kern="0" dirty="0">
                <a:solidFill>
                  <a:srgbClr val="0071E3"/>
                </a:solidFill>
                <a:latin typeface="Calibri" pitchFamily="34" charset="0"/>
                <a:ea typeface="Calibri" pitchFamily="34" charset="-122"/>
                <a:cs typeface="Calibri" pitchFamily="34" charset="-120"/>
              </a:rPr>
              <a:t>RESEARCH GAP</a:t>
            </a:r>
            <a:endParaRPr lang="en-US" sz="1250" dirty="0"/>
          </a:p>
        </p:txBody>
      </p:sp>
      <p:sp>
        <p:nvSpPr>
          <p:cNvPr id="4" name="Text 2"/>
          <p:cNvSpPr txBox="1"/>
          <p:nvPr/>
        </p:nvSpPr>
        <p:spPr>
          <a:xfrm>
            <a:off x="822960" y="1188720"/>
            <a:ext cx="10515600" cy="868680"/>
          </a:xfrm>
          <a:prstGeom prst="rect">
            <a:avLst/>
          </a:prstGeom>
          <a:noFill/>
          <a:ln/>
        </p:spPr>
        <p:txBody>
          <a:bodyPr wrap="square" lIns="0" tIns="0" rIns="0" bIns="0" rtlCol="0" anchor="t"/>
          <a:lstStyle/>
          <a:p>
            <a:pPr indent="0" marL="0">
              <a:lnSpc>
                <a:spcPct val="103000"/>
              </a:lnSpc>
              <a:buNone/>
            </a:pPr>
            <a:r>
              <a:rPr lang="en-US" sz="2800" b="1" dirty="0">
                <a:solidFill>
                  <a:srgbClr val="1D1D1F"/>
                </a:solidFill>
                <a:latin typeface="Calibri" pitchFamily="34" charset="0"/>
                <a:ea typeface="Calibri" pitchFamily="34" charset="-122"/>
                <a:cs typeface="Calibri" pitchFamily="34" charset="-120"/>
              </a:rPr>
              <a:t>Defenses exist. None of them can keep learning safely on a device.</a:t>
            </a:r>
            <a:endParaRPr lang="en-US" sz="2800" dirty="0"/>
          </a:p>
        </p:txBody>
      </p:sp>
      <p:sp>
        <p:nvSpPr>
          <p:cNvPr id="5" name="Shape 3"/>
          <p:cNvSpPr/>
          <p:nvPr/>
        </p:nvSpPr>
        <p:spPr>
          <a:xfrm>
            <a:off x="822960" y="2240280"/>
            <a:ext cx="3337560" cy="1600200"/>
          </a:xfrm>
          <a:prstGeom prst="roundRect">
            <a:avLst>
              <a:gd name="adj" fmla="val 6857"/>
            </a:avLst>
          </a:prstGeom>
          <a:solidFill>
            <a:srgbClr val="F5F5F7"/>
          </a:solidFill>
          <a:ln/>
        </p:spPr>
      </p:sp>
      <p:sp>
        <p:nvSpPr>
          <p:cNvPr id="6" name="Text 4"/>
          <p:cNvSpPr txBox="1"/>
          <p:nvPr/>
        </p:nvSpPr>
        <p:spPr>
          <a:xfrm>
            <a:off x="1097280" y="2450592"/>
            <a:ext cx="2788920" cy="365760"/>
          </a:xfrm>
          <a:prstGeom prst="rect">
            <a:avLst/>
          </a:prstGeom>
          <a:noFill/>
          <a:ln/>
        </p:spPr>
        <p:txBody>
          <a:bodyPr wrap="square" lIns="0" tIns="0" rIns="0" bIns="0" rtlCol="0" anchor="ctr"/>
          <a:lstStyle/>
          <a:p>
            <a:pPr indent="0" marL="0">
              <a:buNone/>
            </a:pPr>
            <a:r>
              <a:rPr lang="en-US" sz="1700" b="1" dirty="0">
                <a:solidFill>
                  <a:srgbClr val="1D1D1F"/>
                </a:solidFill>
                <a:latin typeface="Calibri" pitchFamily="34" charset="0"/>
                <a:ea typeface="Calibri" pitchFamily="34" charset="-122"/>
                <a:cs typeface="Calibri" pitchFamily="34" charset="-120"/>
              </a:rPr>
              <a:t>On-device IDS</a:t>
            </a:r>
            <a:endParaRPr lang="en-US" sz="1700" dirty="0"/>
          </a:p>
        </p:txBody>
      </p:sp>
      <p:sp>
        <p:nvSpPr>
          <p:cNvPr id="7" name="Text 5"/>
          <p:cNvSpPr txBox="1"/>
          <p:nvPr/>
        </p:nvSpPr>
        <p:spPr>
          <a:xfrm>
            <a:off x="1097280" y="2852928"/>
            <a:ext cx="2788920" cy="594360"/>
          </a:xfrm>
          <a:prstGeom prst="rect">
            <a:avLst/>
          </a:prstGeom>
          <a:noFill/>
          <a:ln/>
        </p:spPr>
        <p:txBody>
          <a:bodyPr wrap="square" lIns="0" tIns="0" rIns="0" bIns="0" rtlCol="0" anchor="t"/>
          <a:lstStyle/>
          <a:p>
            <a:pPr indent="0" marL="0">
              <a:buNone/>
            </a:pPr>
            <a:r>
              <a:rPr lang="en-US" sz="1400" dirty="0">
                <a:solidFill>
                  <a:srgbClr val="424245"/>
                </a:solidFill>
                <a:latin typeface="Calibri" pitchFamily="34" charset="0"/>
                <a:ea typeface="Calibri" pitchFamily="34" charset="-122"/>
                <a:cs typeface="Calibri" pitchFamily="34" charset="-120"/>
              </a:rPr>
              <a:t>Fits on an ESP32, but never adapts, so it goes stale</a:t>
            </a:r>
            <a:endParaRPr lang="en-US" sz="1400" dirty="0"/>
          </a:p>
        </p:txBody>
      </p:sp>
      <p:sp>
        <p:nvSpPr>
          <p:cNvPr id="8" name="Text 6"/>
          <p:cNvSpPr txBox="1"/>
          <p:nvPr/>
        </p:nvSpPr>
        <p:spPr>
          <a:xfrm>
            <a:off x="1097280" y="3474720"/>
            <a:ext cx="2788920" cy="274320"/>
          </a:xfrm>
          <a:prstGeom prst="rect">
            <a:avLst/>
          </a:prstGeom>
          <a:noFill/>
          <a:ln/>
        </p:spPr>
        <p:txBody>
          <a:bodyPr wrap="square" lIns="0" tIns="0" rIns="0" bIns="0" rtlCol="0" anchor="ctr"/>
          <a:lstStyle/>
          <a:p>
            <a:pPr indent="0" marL="0">
              <a:buNone/>
            </a:pPr>
            <a:r>
              <a:rPr lang="en-US" sz="1100" dirty="0">
                <a:solidFill>
                  <a:srgbClr val="86868B"/>
                </a:solidFill>
                <a:latin typeface="Calibri" pitchFamily="34" charset="0"/>
                <a:ea typeface="Calibri" pitchFamily="34" charset="-122"/>
                <a:cs typeface="Calibri" pitchFamily="34" charset="-120"/>
              </a:rPr>
              <a:t>[1, 2, 14]</a:t>
            </a:r>
            <a:endParaRPr lang="en-US" sz="1100" dirty="0"/>
          </a:p>
        </p:txBody>
      </p:sp>
      <p:sp>
        <p:nvSpPr>
          <p:cNvPr id="9" name="Shape 7"/>
          <p:cNvSpPr/>
          <p:nvPr/>
        </p:nvSpPr>
        <p:spPr>
          <a:xfrm>
            <a:off x="4434840" y="2240280"/>
            <a:ext cx="3337560" cy="1600200"/>
          </a:xfrm>
          <a:prstGeom prst="roundRect">
            <a:avLst>
              <a:gd name="adj" fmla="val 6857"/>
            </a:avLst>
          </a:prstGeom>
          <a:solidFill>
            <a:srgbClr val="F5F5F7"/>
          </a:solidFill>
          <a:ln/>
        </p:spPr>
      </p:sp>
      <p:sp>
        <p:nvSpPr>
          <p:cNvPr id="10" name="Text 8"/>
          <p:cNvSpPr txBox="1"/>
          <p:nvPr/>
        </p:nvSpPr>
        <p:spPr>
          <a:xfrm>
            <a:off x="4709160" y="2450592"/>
            <a:ext cx="2788920" cy="365760"/>
          </a:xfrm>
          <a:prstGeom prst="rect">
            <a:avLst/>
          </a:prstGeom>
          <a:noFill/>
          <a:ln/>
        </p:spPr>
        <p:txBody>
          <a:bodyPr wrap="square" lIns="0" tIns="0" rIns="0" bIns="0" rtlCol="0" anchor="ctr"/>
          <a:lstStyle/>
          <a:p>
            <a:pPr indent="0" marL="0">
              <a:buNone/>
            </a:pPr>
            <a:r>
              <a:rPr lang="en-US" sz="1700" b="1" dirty="0">
                <a:solidFill>
                  <a:srgbClr val="1D1D1F"/>
                </a:solidFill>
                <a:latin typeface="Calibri" pitchFamily="34" charset="0"/>
                <a:ea typeface="Calibri" pitchFamily="34" charset="-122"/>
                <a:cs typeface="Calibri" pitchFamily="34" charset="-120"/>
              </a:rPr>
              <a:t>Adaptive IDS</a:t>
            </a:r>
            <a:endParaRPr lang="en-US" sz="1700" dirty="0"/>
          </a:p>
        </p:txBody>
      </p:sp>
      <p:sp>
        <p:nvSpPr>
          <p:cNvPr id="11" name="Text 9"/>
          <p:cNvSpPr txBox="1"/>
          <p:nvPr/>
        </p:nvSpPr>
        <p:spPr>
          <a:xfrm>
            <a:off x="4709160" y="2852928"/>
            <a:ext cx="2788920" cy="594360"/>
          </a:xfrm>
          <a:prstGeom prst="rect">
            <a:avLst/>
          </a:prstGeom>
          <a:noFill/>
          <a:ln/>
        </p:spPr>
        <p:txBody>
          <a:bodyPr wrap="square" lIns="0" tIns="0" rIns="0" bIns="0" rtlCol="0" anchor="t"/>
          <a:lstStyle/>
          <a:p>
            <a:pPr indent="0" marL="0">
              <a:buNone/>
            </a:pPr>
            <a:r>
              <a:rPr lang="en-US" sz="1400" dirty="0">
                <a:solidFill>
                  <a:srgbClr val="424245"/>
                </a:solidFill>
                <a:latin typeface="Calibri" pitchFamily="34" charset="0"/>
                <a:ea typeface="Calibri" pitchFamily="34" charset="-122"/>
                <a:cs typeface="Calibri" pitchFamily="34" charset="-120"/>
              </a:rPr>
              <a:t>Keeps up with drift, but trusts every update it makes</a:t>
            </a:r>
            <a:endParaRPr lang="en-US" sz="1400" dirty="0"/>
          </a:p>
        </p:txBody>
      </p:sp>
      <p:sp>
        <p:nvSpPr>
          <p:cNvPr id="12" name="Text 10"/>
          <p:cNvSpPr txBox="1"/>
          <p:nvPr/>
        </p:nvSpPr>
        <p:spPr>
          <a:xfrm>
            <a:off x="4709160" y="3474720"/>
            <a:ext cx="2788920" cy="274320"/>
          </a:xfrm>
          <a:prstGeom prst="rect">
            <a:avLst/>
          </a:prstGeom>
          <a:noFill/>
          <a:ln/>
        </p:spPr>
        <p:txBody>
          <a:bodyPr wrap="square" lIns="0" tIns="0" rIns="0" bIns="0" rtlCol="0" anchor="ctr"/>
          <a:lstStyle/>
          <a:p>
            <a:pPr indent="0" marL="0">
              <a:buNone/>
            </a:pPr>
            <a:r>
              <a:rPr lang="en-US" sz="1100" dirty="0">
                <a:solidFill>
                  <a:srgbClr val="86868B"/>
                </a:solidFill>
                <a:latin typeface="Calibri" pitchFamily="34" charset="0"/>
                <a:ea typeface="Calibri" pitchFamily="34" charset="-122"/>
                <a:cs typeface="Calibri" pitchFamily="34" charset="-120"/>
              </a:rPr>
              <a:t>[3, 4, 5]</a:t>
            </a:r>
            <a:endParaRPr lang="en-US" sz="1100" dirty="0"/>
          </a:p>
        </p:txBody>
      </p:sp>
      <p:sp>
        <p:nvSpPr>
          <p:cNvPr id="13" name="Shape 11"/>
          <p:cNvSpPr/>
          <p:nvPr/>
        </p:nvSpPr>
        <p:spPr>
          <a:xfrm>
            <a:off x="8046720" y="2240280"/>
            <a:ext cx="3337560" cy="1600200"/>
          </a:xfrm>
          <a:prstGeom prst="roundRect">
            <a:avLst>
              <a:gd name="adj" fmla="val 6857"/>
            </a:avLst>
          </a:prstGeom>
          <a:solidFill>
            <a:srgbClr val="F5F5F7"/>
          </a:solidFill>
          <a:ln/>
        </p:spPr>
      </p:sp>
      <p:sp>
        <p:nvSpPr>
          <p:cNvPr id="14" name="Text 12"/>
          <p:cNvSpPr txBox="1"/>
          <p:nvPr/>
        </p:nvSpPr>
        <p:spPr>
          <a:xfrm>
            <a:off x="8321040" y="2450592"/>
            <a:ext cx="2788920" cy="365760"/>
          </a:xfrm>
          <a:prstGeom prst="rect">
            <a:avLst/>
          </a:prstGeom>
          <a:noFill/>
          <a:ln/>
        </p:spPr>
        <p:txBody>
          <a:bodyPr wrap="square" lIns="0" tIns="0" rIns="0" bIns="0" rtlCol="0" anchor="ctr"/>
          <a:lstStyle/>
          <a:p>
            <a:pPr indent="0" marL="0">
              <a:buNone/>
            </a:pPr>
            <a:r>
              <a:rPr lang="en-US" sz="1700" b="1" dirty="0">
                <a:solidFill>
                  <a:srgbClr val="1D1D1F"/>
                </a:solidFill>
                <a:latin typeface="Calibri" pitchFamily="34" charset="0"/>
                <a:ea typeface="Calibri" pitchFamily="34" charset="-122"/>
                <a:cs typeface="Calibri" pitchFamily="34" charset="-120"/>
              </a:rPr>
              <a:t>Existing defenses</a:t>
            </a:r>
            <a:endParaRPr lang="en-US" sz="1700" dirty="0"/>
          </a:p>
        </p:txBody>
      </p:sp>
      <p:sp>
        <p:nvSpPr>
          <p:cNvPr id="15" name="Text 13"/>
          <p:cNvSpPr txBox="1"/>
          <p:nvPr/>
        </p:nvSpPr>
        <p:spPr>
          <a:xfrm>
            <a:off x="8321040" y="2852928"/>
            <a:ext cx="2788920" cy="594360"/>
          </a:xfrm>
          <a:prstGeom prst="rect">
            <a:avLst/>
          </a:prstGeom>
          <a:noFill/>
          <a:ln/>
        </p:spPr>
        <p:txBody>
          <a:bodyPr wrap="square" lIns="0" tIns="0" rIns="0" bIns="0" rtlCol="0" anchor="t"/>
          <a:lstStyle/>
          <a:p>
            <a:pPr indent="0" marL="0">
              <a:buNone/>
            </a:pPr>
            <a:r>
              <a:rPr lang="en-US" sz="1400" dirty="0">
                <a:solidFill>
                  <a:srgbClr val="424245"/>
                </a:solidFill>
                <a:latin typeface="Calibri" pitchFamily="34" charset="0"/>
                <a:ea typeface="Calibri" pitchFamily="34" charset="-122"/>
                <a:cs typeface="Calibri" pitchFamily="34" charset="-120"/>
              </a:rPr>
              <a:t>Need many devices, run on servers, or simply stop learning</a:t>
            </a:r>
            <a:endParaRPr lang="en-US" sz="1400" dirty="0"/>
          </a:p>
        </p:txBody>
      </p:sp>
      <p:sp>
        <p:nvSpPr>
          <p:cNvPr id="16" name="Text 14"/>
          <p:cNvSpPr txBox="1"/>
          <p:nvPr/>
        </p:nvSpPr>
        <p:spPr>
          <a:xfrm>
            <a:off x="8321040" y="3474720"/>
            <a:ext cx="2788920" cy="274320"/>
          </a:xfrm>
          <a:prstGeom prst="rect">
            <a:avLst/>
          </a:prstGeom>
          <a:noFill/>
          <a:ln/>
        </p:spPr>
        <p:txBody>
          <a:bodyPr wrap="square" lIns="0" tIns="0" rIns="0" bIns="0" rtlCol="0" anchor="ctr"/>
          <a:lstStyle/>
          <a:p>
            <a:pPr indent="0" marL="0">
              <a:buNone/>
            </a:pPr>
            <a:r>
              <a:rPr lang="en-US" sz="1100" dirty="0">
                <a:solidFill>
                  <a:srgbClr val="86868B"/>
                </a:solidFill>
                <a:latin typeface="Calibri" pitchFamily="34" charset="0"/>
                <a:ea typeface="Calibri" pitchFamily="34" charset="-122"/>
                <a:cs typeface="Calibri" pitchFamily="34" charset="-120"/>
              </a:rPr>
              <a:t>[8, 10, 13]</a:t>
            </a:r>
            <a:endParaRPr lang="en-US" sz="1100" dirty="0"/>
          </a:p>
        </p:txBody>
      </p:sp>
      <p:sp>
        <p:nvSpPr>
          <p:cNvPr id="17" name="Shape 15"/>
          <p:cNvSpPr/>
          <p:nvPr/>
        </p:nvSpPr>
        <p:spPr>
          <a:xfrm>
            <a:off x="822960" y="4069080"/>
            <a:ext cx="10561320" cy="2011680"/>
          </a:xfrm>
          <a:prstGeom prst="roundRect">
            <a:avLst>
              <a:gd name="adj" fmla="val 5455"/>
            </a:avLst>
          </a:prstGeom>
          <a:solidFill>
            <a:srgbClr val="1D1D1F"/>
          </a:solidFill>
          <a:ln/>
        </p:spPr>
      </p:sp>
      <p:sp>
        <p:nvSpPr>
          <p:cNvPr id="18" name="Text 16"/>
          <p:cNvSpPr txBox="1"/>
          <p:nvPr/>
        </p:nvSpPr>
        <p:spPr>
          <a:xfrm>
            <a:off x="1188720" y="4297680"/>
            <a:ext cx="4572000" cy="274320"/>
          </a:xfrm>
          <a:prstGeom prst="rect">
            <a:avLst/>
          </a:prstGeom>
          <a:noFill/>
          <a:ln/>
        </p:spPr>
        <p:txBody>
          <a:bodyPr wrap="square" lIns="0" tIns="0" rIns="0" bIns="0" rtlCol="0" anchor="ctr"/>
          <a:lstStyle/>
          <a:p>
            <a:pPr indent="0" marL="0">
              <a:buNone/>
            </a:pPr>
            <a:r>
              <a:rPr lang="en-US" sz="1200" b="1" spc="200" kern="0" dirty="0">
                <a:solidFill>
                  <a:srgbClr val="0071E3"/>
                </a:solidFill>
                <a:latin typeface="Calibri" pitchFamily="34" charset="0"/>
                <a:ea typeface="Calibri" pitchFamily="34" charset="-122"/>
                <a:cs typeface="Calibri" pitchFamily="34" charset="-120"/>
              </a:rPr>
              <a:t>THE GAP WE FILL</a:t>
            </a:r>
            <a:endParaRPr lang="en-US" sz="1200" dirty="0"/>
          </a:p>
        </p:txBody>
      </p:sp>
      <p:sp>
        <p:nvSpPr>
          <p:cNvPr id="19" name="Text 17"/>
          <p:cNvSpPr txBox="1"/>
          <p:nvPr/>
        </p:nvSpPr>
        <p:spPr>
          <a:xfrm>
            <a:off x="1188720" y="4590288"/>
            <a:ext cx="9875520" cy="731520"/>
          </a:xfrm>
          <a:prstGeom prst="rect">
            <a:avLst/>
          </a:prstGeom>
          <a:noFill/>
          <a:ln/>
        </p:spPr>
        <p:txBody>
          <a:bodyPr wrap="square" lIns="0" tIns="0" rIns="0" bIns="0" rtlCol="0" anchor="t"/>
          <a:lstStyle/>
          <a:p>
            <a:pPr indent="0" marL="0">
              <a:lnSpc>
                <a:spcPct val="108000"/>
              </a:lnSpc>
              <a:buNone/>
            </a:pPr>
            <a:r>
              <a:rPr lang="en-US" sz="1900" b="1" dirty="0">
                <a:solidFill>
                  <a:srgbClr val="FFFFFF"/>
                </a:solidFill>
                <a:latin typeface="Calibri" pitchFamily="34" charset="0"/>
                <a:ea typeface="Calibri" pitchFamily="34" charset="-122"/>
                <a:cs typeface="Calibri" pitchFamily="34" charset="-120"/>
              </a:rPr>
              <a:t>A detector that keeps adapting on the device, never freezes, and still cannot be walked toward an attack.</a:t>
            </a:r>
            <a:endParaRPr lang="en-US" sz="1900" dirty="0"/>
          </a:p>
        </p:txBody>
      </p:sp>
      <p:sp>
        <p:nvSpPr>
          <p:cNvPr id="20" name="Text 18"/>
          <p:cNvSpPr txBox="1"/>
          <p:nvPr/>
        </p:nvSpPr>
        <p:spPr>
          <a:xfrm>
            <a:off x="1188720" y="5376672"/>
            <a:ext cx="9875520" cy="548640"/>
          </a:xfrm>
          <a:prstGeom prst="rect">
            <a:avLst/>
          </a:prstGeom>
          <a:noFill/>
          <a:ln/>
        </p:spPr>
        <p:txBody>
          <a:bodyPr wrap="square" lIns="0" tIns="0" rIns="0" bIns="0" rtlCol="0" anchor="t"/>
          <a:lstStyle/>
          <a:p>
            <a:pPr indent="0" marL="0">
              <a:buNone/>
            </a:pPr>
            <a:r>
              <a:rPr lang="en-US" sz="1300" dirty="0">
                <a:solidFill>
                  <a:srgbClr val="C7C7CC"/>
                </a:solidFill>
                <a:latin typeface="Calibri" pitchFamily="34" charset="0"/>
                <a:ea typeface="Calibri" pitchFamily="34" charset="-122"/>
                <a:cs typeface="Calibri" pitchFamily="34" charset="-120"/>
              </a:rPr>
              <a:t>Credit where due: the attack is known [6, 12], and ANTIDOTE defended a server-side detector with robust PCA back in 2009 [13]. Our target is continuous, on-device adaptation.</a:t>
            </a:r>
            <a:endParaRPr lang="en-US" sz="1300" dirty="0"/>
          </a:p>
        </p:txBody>
      </p:sp>
      <p:sp>
        <p:nvSpPr>
          <p:cNvPr id="21" name="Text 19"/>
          <p:cNvSpPr txBox="1"/>
          <p:nvPr/>
        </p:nvSpPr>
        <p:spPr>
          <a:xfrm>
            <a:off x="822960" y="6327648"/>
            <a:ext cx="10515600" cy="274320"/>
          </a:xfrm>
          <a:prstGeom prst="rect">
            <a:avLst/>
          </a:prstGeom>
          <a:noFill/>
          <a:ln/>
        </p:spPr>
        <p:txBody>
          <a:bodyPr wrap="square" lIns="0" tIns="0" rIns="0" bIns="0" rtlCol="0" anchor="ctr"/>
          <a:lstStyle/>
          <a:p>
            <a:pPr indent="0" marL="0">
              <a:buNone/>
            </a:pPr>
            <a:r>
              <a:rPr lang="en-US" sz="1000" i="1" dirty="0">
                <a:solidFill>
                  <a:srgbClr val="86868B"/>
                </a:solidFill>
                <a:latin typeface="Calibri" pitchFamily="34" charset="0"/>
                <a:ea typeface="Calibri" pitchFamily="34" charset="-122"/>
                <a:cs typeface="Calibri" pitchFamily="34" charset="-120"/>
              </a:rPr>
              <a:t>[2] IEEE Pervasive Computing 2018  ·  [5] SIAM SDM 2007  ·  [10] DISS at NDSS 2020  ·  [12] UMass Dartmouth, 2026  ·  [13] ACM IMC 2009</a:t>
            </a:r>
            <a:endParaRPr lang="en-US" sz="1000" dirty="0"/>
          </a:p>
        </p:txBody>
      </p:sp>
      <p:sp>
        <p:nvSpPr>
          <p:cNvPr id="22" name="Text 20"/>
          <p:cNvSpPr txBox="1"/>
          <p:nvPr/>
        </p:nvSpPr>
        <p:spPr>
          <a:xfrm>
            <a:off x="11064240" y="6327648"/>
            <a:ext cx="365760" cy="274320"/>
          </a:xfrm>
          <a:prstGeom prst="rect">
            <a:avLst/>
          </a:prstGeom>
          <a:noFill/>
          <a:ln/>
        </p:spPr>
        <p:txBody>
          <a:bodyPr wrap="square" lIns="0" tIns="0" rIns="0" bIns="0" rtlCol="0" anchor="ctr"/>
          <a:lstStyle/>
          <a:p>
            <a:pPr algn="r" indent="0" marL="0">
              <a:buNone/>
            </a:pPr>
            <a:r>
              <a:rPr lang="en-US" sz="1000" dirty="0">
                <a:solidFill>
                  <a:srgbClr val="C7C7CC"/>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2960" y="772668"/>
            <a:ext cx="100584" cy="100584"/>
          </a:xfrm>
          <a:prstGeom prst="ellipse">
            <a:avLst/>
          </a:prstGeom>
          <a:solidFill>
            <a:srgbClr val="0071E3"/>
          </a:solidFill>
          <a:ln/>
        </p:spPr>
      </p:sp>
      <p:sp>
        <p:nvSpPr>
          <p:cNvPr id="3" name="Text 1"/>
          <p:cNvSpPr txBox="1"/>
          <p:nvPr/>
        </p:nvSpPr>
        <p:spPr>
          <a:xfrm>
            <a:off x="1024128" y="676656"/>
            <a:ext cx="9144000" cy="292608"/>
          </a:xfrm>
          <a:prstGeom prst="rect">
            <a:avLst/>
          </a:prstGeom>
          <a:noFill/>
          <a:ln/>
        </p:spPr>
        <p:txBody>
          <a:bodyPr wrap="square" lIns="0" tIns="0" rIns="0" bIns="0" rtlCol="0" anchor="ctr"/>
          <a:lstStyle/>
          <a:p>
            <a:pPr indent="0" marL="0">
              <a:buNone/>
            </a:pPr>
            <a:r>
              <a:rPr lang="en-US" sz="1250" b="1" spc="220" kern="0" dirty="0">
                <a:solidFill>
                  <a:srgbClr val="0071E3"/>
                </a:solidFill>
                <a:latin typeface="Calibri" pitchFamily="34" charset="0"/>
                <a:ea typeface="Calibri" pitchFamily="34" charset="-122"/>
                <a:cs typeface="Calibri" pitchFamily="34" charset="-120"/>
              </a:rPr>
              <a:t>RESEARCH QUESTIONS</a:t>
            </a:r>
            <a:endParaRPr lang="en-US" sz="1250" dirty="0"/>
          </a:p>
        </p:txBody>
      </p:sp>
      <p:sp>
        <p:nvSpPr>
          <p:cNvPr id="4" name="Text 2"/>
          <p:cNvSpPr txBox="1"/>
          <p:nvPr/>
        </p:nvSpPr>
        <p:spPr>
          <a:xfrm>
            <a:off x="822960" y="1188720"/>
            <a:ext cx="10515600" cy="868680"/>
          </a:xfrm>
          <a:prstGeom prst="rect">
            <a:avLst/>
          </a:prstGeom>
          <a:noFill/>
          <a:ln/>
        </p:spPr>
        <p:txBody>
          <a:bodyPr wrap="square" lIns="0" tIns="0" rIns="0" bIns="0" rtlCol="0" anchor="t"/>
          <a:lstStyle/>
          <a:p>
            <a:pPr indent="0" marL="0">
              <a:lnSpc>
                <a:spcPct val="103000"/>
              </a:lnSpc>
              <a:buNone/>
            </a:pPr>
            <a:r>
              <a:rPr lang="en-US" sz="2800" b="1" dirty="0">
                <a:solidFill>
                  <a:srgbClr val="1D1D1F"/>
                </a:solidFill>
                <a:latin typeface="Calibri" pitchFamily="34" charset="0"/>
                <a:ea typeface="Calibri" pitchFamily="34" charset="-122"/>
                <a:cs typeface="Calibri" pitchFamily="34" charset="-120"/>
              </a:rPr>
              <a:t>Three questions, one per claim.</a:t>
            </a:r>
            <a:endParaRPr lang="en-US" sz="2800" dirty="0"/>
          </a:p>
        </p:txBody>
      </p:sp>
      <p:sp>
        <p:nvSpPr>
          <p:cNvPr id="5" name="Shape 3"/>
          <p:cNvSpPr/>
          <p:nvPr/>
        </p:nvSpPr>
        <p:spPr>
          <a:xfrm>
            <a:off x="822960" y="2240280"/>
            <a:ext cx="10561320" cy="1005840"/>
          </a:xfrm>
          <a:prstGeom prst="roundRect">
            <a:avLst>
              <a:gd name="adj" fmla="val 10909"/>
            </a:avLst>
          </a:prstGeom>
          <a:solidFill>
            <a:srgbClr val="F5F5F7"/>
          </a:solidFill>
          <a:ln/>
        </p:spPr>
      </p:sp>
      <p:sp>
        <p:nvSpPr>
          <p:cNvPr id="6" name="Text 4"/>
          <p:cNvSpPr txBox="1"/>
          <p:nvPr/>
        </p:nvSpPr>
        <p:spPr>
          <a:xfrm>
            <a:off x="1143000" y="2240280"/>
            <a:ext cx="1097280" cy="1005840"/>
          </a:xfrm>
          <a:prstGeom prst="rect">
            <a:avLst/>
          </a:prstGeom>
          <a:noFill/>
          <a:ln/>
        </p:spPr>
        <p:txBody>
          <a:bodyPr wrap="square" lIns="0" tIns="0" rIns="0" bIns="0" rtlCol="0" anchor="ctr"/>
          <a:lstStyle/>
          <a:p>
            <a:pPr indent="0" marL="0">
              <a:buNone/>
            </a:pPr>
            <a:r>
              <a:rPr lang="en-US" sz="2200" b="1" dirty="0">
                <a:solidFill>
                  <a:srgbClr val="0071E3"/>
                </a:solidFill>
                <a:latin typeface="Calibri" pitchFamily="34" charset="0"/>
                <a:ea typeface="Calibri" pitchFamily="34" charset="-122"/>
                <a:cs typeface="Calibri" pitchFamily="34" charset="-120"/>
              </a:rPr>
              <a:t>RQ1</a:t>
            </a:r>
            <a:endParaRPr lang="en-US" sz="2200" dirty="0"/>
          </a:p>
        </p:txBody>
      </p:sp>
      <p:sp>
        <p:nvSpPr>
          <p:cNvPr id="7" name="Text 5"/>
          <p:cNvSpPr txBox="1"/>
          <p:nvPr/>
        </p:nvSpPr>
        <p:spPr>
          <a:xfrm>
            <a:off x="2286000" y="2240280"/>
            <a:ext cx="8869680" cy="1005840"/>
          </a:xfrm>
          <a:prstGeom prst="rect">
            <a:avLst/>
          </a:prstGeom>
          <a:noFill/>
          <a:ln/>
        </p:spPr>
        <p:txBody>
          <a:bodyPr wrap="square" lIns="0" tIns="0" rIns="0" bIns="0" rtlCol="0" anchor="ctr"/>
          <a:lstStyle/>
          <a:p>
            <a:pPr indent="0" marL="0">
              <a:lnSpc>
                <a:spcPct val="105000"/>
              </a:lnSpc>
              <a:buNone/>
            </a:pPr>
            <a:r>
              <a:rPr lang="en-US" sz="1700" dirty="0">
                <a:solidFill>
                  <a:srgbClr val="1D1D1F"/>
                </a:solidFill>
                <a:latin typeface="Calibri" pitchFamily="34" charset="0"/>
                <a:ea typeface="Calibri" pitchFamily="34" charset="-122"/>
                <a:cs typeface="Calibri" pitchFamily="34" charset="-120"/>
              </a:rPr>
              <a:t>Can a detector keep learning honest drift while refusing only the part of each update that moves it toward a known attack?</a:t>
            </a:r>
            <a:endParaRPr lang="en-US" sz="1700" dirty="0"/>
          </a:p>
        </p:txBody>
      </p:sp>
      <p:sp>
        <p:nvSpPr>
          <p:cNvPr id="8" name="Shape 6"/>
          <p:cNvSpPr/>
          <p:nvPr/>
        </p:nvSpPr>
        <p:spPr>
          <a:xfrm>
            <a:off x="822960" y="3429000"/>
            <a:ext cx="10561320" cy="1005840"/>
          </a:xfrm>
          <a:prstGeom prst="roundRect">
            <a:avLst>
              <a:gd name="adj" fmla="val 10909"/>
            </a:avLst>
          </a:prstGeom>
          <a:solidFill>
            <a:srgbClr val="F5F5F7"/>
          </a:solidFill>
          <a:ln/>
        </p:spPr>
      </p:sp>
      <p:sp>
        <p:nvSpPr>
          <p:cNvPr id="9" name="Text 7"/>
          <p:cNvSpPr txBox="1"/>
          <p:nvPr/>
        </p:nvSpPr>
        <p:spPr>
          <a:xfrm>
            <a:off x="1143000" y="3429000"/>
            <a:ext cx="1097280" cy="1005840"/>
          </a:xfrm>
          <a:prstGeom prst="rect">
            <a:avLst/>
          </a:prstGeom>
          <a:noFill/>
          <a:ln/>
        </p:spPr>
        <p:txBody>
          <a:bodyPr wrap="square" lIns="0" tIns="0" rIns="0" bIns="0" rtlCol="0" anchor="ctr"/>
          <a:lstStyle/>
          <a:p>
            <a:pPr indent="0" marL="0">
              <a:buNone/>
            </a:pPr>
            <a:r>
              <a:rPr lang="en-US" sz="2200" b="1" dirty="0">
                <a:solidFill>
                  <a:srgbClr val="0071E3"/>
                </a:solidFill>
                <a:latin typeface="Calibri" pitchFamily="34" charset="0"/>
                <a:ea typeface="Calibri" pitchFamily="34" charset="-122"/>
                <a:cs typeface="Calibri" pitchFamily="34" charset="-120"/>
              </a:rPr>
              <a:t>RQ2</a:t>
            </a:r>
            <a:endParaRPr lang="en-US" sz="2200" dirty="0"/>
          </a:p>
        </p:txBody>
      </p:sp>
      <p:sp>
        <p:nvSpPr>
          <p:cNvPr id="10" name="Text 8"/>
          <p:cNvSpPr txBox="1"/>
          <p:nvPr/>
        </p:nvSpPr>
        <p:spPr>
          <a:xfrm>
            <a:off x="2286000" y="3429000"/>
            <a:ext cx="8869680" cy="1005840"/>
          </a:xfrm>
          <a:prstGeom prst="rect">
            <a:avLst/>
          </a:prstGeom>
          <a:noFill/>
          <a:ln/>
        </p:spPr>
        <p:txBody>
          <a:bodyPr wrap="square" lIns="0" tIns="0" rIns="0" bIns="0" rtlCol="0" anchor="ctr"/>
          <a:lstStyle/>
          <a:p>
            <a:pPr indent="0" marL="0">
              <a:lnSpc>
                <a:spcPct val="105000"/>
              </a:lnSpc>
              <a:buNone/>
            </a:pPr>
            <a:r>
              <a:rPr lang="en-US" sz="1700" dirty="0">
                <a:solidFill>
                  <a:srgbClr val="1D1D1F"/>
                </a:solidFill>
                <a:latin typeface="Calibri" pitchFamily="34" charset="0"/>
                <a:ea typeface="Calibri" pitchFamily="34" charset="-122"/>
                <a:cs typeface="Calibri" pitchFamily="34" charset="-120"/>
              </a:rPr>
              <a:t>Can an attacker turn a defense that freezes into a denial of service, and does never-freezing adaptation prevent that?</a:t>
            </a:r>
            <a:endParaRPr lang="en-US" sz="1700" dirty="0"/>
          </a:p>
        </p:txBody>
      </p:sp>
      <p:sp>
        <p:nvSpPr>
          <p:cNvPr id="11" name="Shape 9"/>
          <p:cNvSpPr/>
          <p:nvPr/>
        </p:nvSpPr>
        <p:spPr>
          <a:xfrm>
            <a:off x="822960" y="4617720"/>
            <a:ext cx="10561320" cy="1005840"/>
          </a:xfrm>
          <a:prstGeom prst="roundRect">
            <a:avLst>
              <a:gd name="adj" fmla="val 10909"/>
            </a:avLst>
          </a:prstGeom>
          <a:solidFill>
            <a:srgbClr val="F5F5F7"/>
          </a:solidFill>
          <a:ln/>
        </p:spPr>
      </p:sp>
      <p:sp>
        <p:nvSpPr>
          <p:cNvPr id="12" name="Text 10"/>
          <p:cNvSpPr txBox="1"/>
          <p:nvPr/>
        </p:nvSpPr>
        <p:spPr>
          <a:xfrm>
            <a:off x="1143000" y="4617720"/>
            <a:ext cx="1097280" cy="1005840"/>
          </a:xfrm>
          <a:prstGeom prst="rect">
            <a:avLst/>
          </a:prstGeom>
          <a:noFill/>
          <a:ln/>
        </p:spPr>
        <p:txBody>
          <a:bodyPr wrap="square" lIns="0" tIns="0" rIns="0" bIns="0" rtlCol="0" anchor="ctr"/>
          <a:lstStyle/>
          <a:p>
            <a:pPr indent="0" marL="0">
              <a:buNone/>
            </a:pPr>
            <a:r>
              <a:rPr lang="en-US" sz="2200" b="1" dirty="0">
                <a:solidFill>
                  <a:srgbClr val="0071E3"/>
                </a:solidFill>
                <a:latin typeface="Calibri" pitchFamily="34" charset="0"/>
                <a:ea typeface="Calibri" pitchFamily="34" charset="-122"/>
                <a:cs typeface="Calibri" pitchFamily="34" charset="-120"/>
              </a:rPr>
              <a:t>RQ3</a:t>
            </a:r>
            <a:endParaRPr lang="en-US" sz="2200" dirty="0"/>
          </a:p>
        </p:txBody>
      </p:sp>
      <p:sp>
        <p:nvSpPr>
          <p:cNvPr id="13" name="Text 11"/>
          <p:cNvSpPr txBox="1"/>
          <p:nvPr/>
        </p:nvSpPr>
        <p:spPr>
          <a:xfrm>
            <a:off x="2286000" y="4617720"/>
            <a:ext cx="8869680" cy="1005840"/>
          </a:xfrm>
          <a:prstGeom prst="rect">
            <a:avLst/>
          </a:prstGeom>
          <a:noFill/>
          <a:ln/>
        </p:spPr>
        <p:txBody>
          <a:bodyPr wrap="square" lIns="0" tIns="0" rIns="0" bIns="0" rtlCol="0" anchor="ctr"/>
          <a:lstStyle/>
          <a:p>
            <a:pPr indent="0" marL="0">
              <a:lnSpc>
                <a:spcPct val="105000"/>
              </a:lnSpc>
              <a:buNone/>
            </a:pPr>
            <a:r>
              <a:rPr lang="en-US" sz="1700" dirty="0">
                <a:solidFill>
                  <a:srgbClr val="1D1D1F"/>
                </a:solidFill>
                <a:latin typeface="Calibri" pitchFamily="34" charset="0"/>
                <a:ea typeface="Calibri" pitchFamily="34" charset="-122"/>
                <a:cs typeface="Calibri" pitchFamily="34" charset="-120"/>
              </a:rPr>
              <a:t>How exposed are real low-traffic IoT devices, and what does protection cost on an ESP32 in memory, latency and energy?</a:t>
            </a:r>
            <a:endParaRPr lang="en-US" sz="1700" dirty="0"/>
          </a:p>
        </p:txBody>
      </p:sp>
      <p:sp>
        <p:nvSpPr>
          <p:cNvPr id="14" name="Text 12"/>
          <p:cNvSpPr txBox="1"/>
          <p:nvPr/>
        </p:nvSpPr>
        <p:spPr>
          <a:xfrm>
            <a:off x="822960" y="5760720"/>
            <a:ext cx="10515600" cy="530352"/>
          </a:xfrm>
          <a:prstGeom prst="rect">
            <a:avLst/>
          </a:prstGeom>
          <a:noFill/>
          <a:ln/>
        </p:spPr>
        <p:txBody>
          <a:bodyPr wrap="square" lIns="0" tIns="0" rIns="0" bIns="0" rtlCol="0" anchor="t"/>
          <a:lstStyle/>
          <a:p>
            <a:pPr indent="0" marL="0">
              <a:buNone/>
            </a:pPr>
            <a:r>
              <a:rPr lang="en-US" sz="1400" i="1" dirty="0">
                <a:solidFill>
                  <a:srgbClr val="86868B"/>
                </a:solidFill>
                <a:latin typeface="Calibri" pitchFamily="34" charset="0"/>
                <a:ea typeface="Calibri" pitchFamily="34" charset="-122"/>
                <a:cs typeface="Calibri" pitchFamily="34" charset="-120"/>
              </a:rPr>
              <a:t>Hypothesis: budgeting only the threat-aligned part of each update keeps attacks visible without the false-alarm cost of freezing.</a:t>
            </a:r>
            <a:endParaRPr lang="en-US" sz="1400" dirty="0"/>
          </a:p>
        </p:txBody>
      </p:sp>
      <p:sp>
        <p:nvSpPr>
          <p:cNvPr id="15" name="Text 13"/>
          <p:cNvSpPr txBox="1"/>
          <p:nvPr/>
        </p:nvSpPr>
        <p:spPr>
          <a:xfrm>
            <a:off x="11064240" y="6327648"/>
            <a:ext cx="365760" cy="274320"/>
          </a:xfrm>
          <a:prstGeom prst="rect">
            <a:avLst/>
          </a:prstGeom>
          <a:noFill/>
          <a:ln/>
        </p:spPr>
        <p:txBody>
          <a:bodyPr wrap="square" lIns="0" tIns="0" rIns="0" bIns="0" rtlCol="0" anchor="ctr"/>
          <a:lstStyle/>
          <a:p>
            <a:pPr algn="r" indent="0" marL="0">
              <a:buNone/>
            </a:pPr>
            <a:r>
              <a:rPr lang="en-US" sz="1000" dirty="0">
                <a:solidFill>
                  <a:srgbClr val="C7C7CC"/>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2960" y="772668"/>
            <a:ext cx="100584" cy="100584"/>
          </a:xfrm>
          <a:prstGeom prst="ellipse">
            <a:avLst/>
          </a:prstGeom>
          <a:solidFill>
            <a:srgbClr val="0071E3"/>
          </a:solidFill>
          <a:ln/>
        </p:spPr>
      </p:sp>
      <p:sp>
        <p:nvSpPr>
          <p:cNvPr id="3" name="Text 1"/>
          <p:cNvSpPr txBox="1"/>
          <p:nvPr/>
        </p:nvSpPr>
        <p:spPr>
          <a:xfrm>
            <a:off x="1024128" y="676656"/>
            <a:ext cx="9144000" cy="292608"/>
          </a:xfrm>
          <a:prstGeom prst="rect">
            <a:avLst/>
          </a:prstGeom>
          <a:noFill/>
          <a:ln/>
        </p:spPr>
        <p:txBody>
          <a:bodyPr wrap="square" lIns="0" tIns="0" rIns="0" bIns="0" rtlCol="0" anchor="ctr"/>
          <a:lstStyle/>
          <a:p>
            <a:pPr indent="0" marL="0">
              <a:buNone/>
            </a:pPr>
            <a:r>
              <a:rPr lang="en-US" sz="1250" b="1" spc="220" kern="0" dirty="0">
                <a:solidFill>
                  <a:srgbClr val="0071E3"/>
                </a:solidFill>
                <a:latin typeface="Calibri" pitchFamily="34" charset="0"/>
                <a:ea typeface="Calibri" pitchFamily="34" charset="-122"/>
                <a:cs typeface="Calibri" pitchFamily="34" charset="-120"/>
              </a:rPr>
              <a:t>PROPOSED APPROACH  ·  THREAT-ORTHOGONAL ADAPTATION</a:t>
            </a:r>
            <a:endParaRPr lang="en-US" sz="1250" dirty="0"/>
          </a:p>
        </p:txBody>
      </p:sp>
      <p:sp>
        <p:nvSpPr>
          <p:cNvPr id="4" name="Text 2"/>
          <p:cNvSpPr txBox="1"/>
          <p:nvPr/>
        </p:nvSpPr>
        <p:spPr>
          <a:xfrm>
            <a:off x="822960" y="1188720"/>
            <a:ext cx="10515600" cy="868680"/>
          </a:xfrm>
          <a:prstGeom prst="rect">
            <a:avLst/>
          </a:prstGeom>
          <a:noFill/>
          <a:ln/>
        </p:spPr>
        <p:txBody>
          <a:bodyPr wrap="square" lIns="0" tIns="0" rIns="0" bIns="0" rtlCol="0" anchor="t"/>
          <a:lstStyle/>
          <a:p>
            <a:pPr indent="0" marL="0">
              <a:lnSpc>
                <a:spcPct val="103000"/>
              </a:lnSpc>
              <a:buNone/>
            </a:pPr>
            <a:r>
              <a:rPr lang="en-US" sz="2800" b="1" dirty="0">
                <a:solidFill>
                  <a:srgbClr val="1D1D1F"/>
                </a:solidFill>
                <a:latin typeface="Calibri" pitchFamily="34" charset="0"/>
                <a:ea typeface="Calibri" pitchFamily="34" charset="-122"/>
                <a:cs typeface="Calibri" pitchFamily="34" charset="-120"/>
              </a:rPr>
              <a:t>Split every update. Only the dangerous part is rationed.</a:t>
            </a:r>
            <a:endParaRPr lang="en-US" sz="2800" dirty="0"/>
          </a:p>
        </p:txBody>
      </p:sp>
      <p:sp>
        <p:nvSpPr>
          <p:cNvPr id="5" name="Shape 3"/>
          <p:cNvSpPr/>
          <p:nvPr/>
        </p:nvSpPr>
        <p:spPr>
          <a:xfrm>
            <a:off x="822960" y="2240280"/>
            <a:ext cx="1874520" cy="914400"/>
          </a:xfrm>
          <a:prstGeom prst="roundRect">
            <a:avLst>
              <a:gd name="adj" fmla="val 12000"/>
            </a:avLst>
          </a:prstGeom>
          <a:solidFill>
            <a:srgbClr val="F5F5F7"/>
          </a:solidFill>
          <a:ln/>
        </p:spPr>
      </p:sp>
      <p:sp>
        <p:nvSpPr>
          <p:cNvPr id="6" name="Text 4"/>
          <p:cNvSpPr txBox="1"/>
          <p:nvPr/>
        </p:nvSpPr>
        <p:spPr>
          <a:xfrm>
            <a:off x="1005840" y="2331720"/>
            <a:ext cx="1508760" cy="365760"/>
          </a:xfrm>
          <a:prstGeom prst="rect">
            <a:avLst/>
          </a:prstGeom>
          <a:noFill/>
          <a:ln/>
        </p:spPr>
        <p:txBody>
          <a:bodyPr wrap="square" lIns="0" tIns="0" rIns="0" bIns="0" rtlCol="0" anchor="ctr"/>
          <a:lstStyle/>
          <a:p>
            <a:pPr indent="0" marL="0">
              <a:buNone/>
            </a:pPr>
            <a:r>
              <a:rPr lang="en-US" sz="1500" b="1" dirty="0">
                <a:solidFill>
                  <a:srgbClr val="1D1D1F"/>
                </a:solidFill>
                <a:latin typeface="Calibri" pitchFamily="34" charset="0"/>
                <a:ea typeface="Calibri" pitchFamily="34" charset="-122"/>
                <a:cs typeface="Calibri" pitchFamily="34" charset="-120"/>
              </a:rPr>
              <a:t>Traffic</a:t>
            </a:r>
            <a:endParaRPr lang="en-US" sz="1500" dirty="0"/>
          </a:p>
        </p:txBody>
      </p:sp>
      <p:sp>
        <p:nvSpPr>
          <p:cNvPr id="7" name="Text 5"/>
          <p:cNvSpPr txBox="1"/>
          <p:nvPr/>
        </p:nvSpPr>
        <p:spPr>
          <a:xfrm>
            <a:off x="1005840" y="2697480"/>
            <a:ext cx="1508760" cy="320040"/>
          </a:xfrm>
          <a:prstGeom prst="rect">
            <a:avLst/>
          </a:prstGeom>
          <a:noFill/>
          <a:ln/>
        </p:spPr>
        <p:txBody>
          <a:bodyPr wrap="square" lIns="0" tIns="0" rIns="0" bIns="0" rtlCol="0" anchor="ctr"/>
          <a:lstStyle/>
          <a:p>
            <a:pPr indent="0" marL="0">
              <a:buNone/>
            </a:pPr>
            <a:r>
              <a:rPr lang="en-US" sz="1200" dirty="0">
                <a:solidFill>
                  <a:srgbClr val="86868B"/>
                </a:solidFill>
                <a:latin typeface="Calibri" pitchFamily="34" charset="0"/>
                <a:ea typeface="Calibri" pitchFamily="34" charset="-122"/>
                <a:cs typeface="Calibri" pitchFamily="34" charset="-120"/>
              </a:rPr>
              <a:t>Kitsune stats [1]</a:t>
            </a:r>
            <a:endParaRPr lang="en-US" sz="1200" dirty="0"/>
          </a:p>
        </p:txBody>
      </p:sp>
      <p:sp>
        <p:nvSpPr>
          <p:cNvPr id="8" name="Shape 6"/>
          <p:cNvSpPr/>
          <p:nvPr/>
        </p:nvSpPr>
        <p:spPr>
          <a:xfrm>
            <a:off x="2761488" y="2697480"/>
            <a:ext cx="237744" cy="0"/>
          </a:xfrm>
          <a:prstGeom prst="line">
            <a:avLst/>
          </a:prstGeom>
          <a:noFill/>
          <a:ln w="19050">
            <a:solidFill>
              <a:srgbClr val="86868B"/>
            </a:solidFill>
            <a:prstDash val="solid"/>
            <a:tailEnd type="triangle"/>
          </a:ln>
        </p:spPr>
      </p:sp>
      <p:sp>
        <p:nvSpPr>
          <p:cNvPr id="9" name="Shape 7"/>
          <p:cNvSpPr/>
          <p:nvPr/>
        </p:nvSpPr>
        <p:spPr>
          <a:xfrm>
            <a:off x="3063240" y="2240280"/>
            <a:ext cx="1874520" cy="914400"/>
          </a:xfrm>
          <a:prstGeom prst="roundRect">
            <a:avLst>
              <a:gd name="adj" fmla="val 12000"/>
            </a:avLst>
          </a:prstGeom>
          <a:solidFill>
            <a:srgbClr val="F5F5F7"/>
          </a:solidFill>
          <a:ln/>
        </p:spPr>
      </p:sp>
      <p:sp>
        <p:nvSpPr>
          <p:cNvPr id="10" name="Text 8"/>
          <p:cNvSpPr txBox="1"/>
          <p:nvPr/>
        </p:nvSpPr>
        <p:spPr>
          <a:xfrm>
            <a:off x="3246120" y="2331720"/>
            <a:ext cx="1508760" cy="365760"/>
          </a:xfrm>
          <a:prstGeom prst="rect">
            <a:avLst/>
          </a:prstGeom>
          <a:noFill/>
          <a:ln/>
        </p:spPr>
        <p:txBody>
          <a:bodyPr wrap="square" lIns="0" tIns="0" rIns="0" bIns="0" rtlCol="0" anchor="ctr"/>
          <a:lstStyle/>
          <a:p>
            <a:pPr indent="0" marL="0">
              <a:buNone/>
            </a:pPr>
            <a:r>
              <a:rPr lang="en-US" sz="1500" b="1" dirty="0">
                <a:solidFill>
                  <a:srgbClr val="1D1D1F"/>
                </a:solidFill>
                <a:latin typeface="Calibri" pitchFamily="34" charset="0"/>
                <a:ea typeface="Calibri" pitchFamily="34" charset="-122"/>
                <a:cs typeface="Calibri" pitchFamily="34" charset="-120"/>
              </a:rPr>
              <a:t>Detector</a:t>
            </a:r>
            <a:endParaRPr lang="en-US" sz="1500" dirty="0"/>
          </a:p>
        </p:txBody>
      </p:sp>
      <p:sp>
        <p:nvSpPr>
          <p:cNvPr id="11" name="Text 9"/>
          <p:cNvSpPr txBox="1"/>
          <p:nvPr/>
        </p:nvSpPr>
        <p:spPr>
          <a:xfrm>
            <a:off x="3246120" y="2697480"/>
            <a:ext cx="1508760" cy="320040"/>
          </a:xfrm>
          <a:prstGeom prst="rect">
            <a:avLst/>
          </a:prstGeom>
          <a:noFill/>
          <a:ln/>
        </p:spPr>
        <p:txBody>
          <a:bodyPr wrap="square" lIns="0" tIns="0" rIns="0" bIns="0" rtlCol="0" anchor="ctr"/>
          <a:lstStyle/>
          <a:p>
            <a:pPr indent="0" marL="0">
              <a:buNone/>
            </a:pPr>
            <a:r>
              <a:rPr lang="en-US" sz="1200" dirty="0">
                <a:solidFill>
                  <a:srgbClr val="86868B"/>
                </a:solidFill>
                <a:latin typeface="Calibri" pitchFamily="34" charset="0"/>
                <a:ea typeface="Calibri" pitchFamily="34" charset="-122"/>
                <a:cs typeface="Calibri" pitchFamily="34" charset="-120"/>
              </a:rPr>
              <a:t>centre + spread</a:t>
            </a:r>
            <a:endParaRPr lang="en-US" sz="1200" dirty="0"/>
          </a:p>
        </p:txBody>
      </p:sp>
      <p:sp>
        <p:nvSpPr>
          <p:cNvPr id="12" name="Shape 10"/>
          <p:cNvSpPr/>
          <p:nvPr/>
        </p:nvSpPr>
        <p:spPr>
          <a:xfrm>
            <a:off x="5001768" y="2697480"/>
            <a:ext cx="237744" cy="0"/>
          </a:xfrm>
          <a:prstGeom prst="line">
            <a:avLst/>
          </a:prstGeom>
          <a:noFill/>
          <a:ln w="19050">
            <a:solidFill>
              <a:srgbClr val="86868B"/>
            </a:solidFill>
            <a:prstDash val="solid"/>
            <a:tailEnd type="triangle"/>
          </a:ln>
        </p:spPr>
      </p:sp>
      <p:sp>
        <p:nvSpPr>
          <p:cNvPr id="13" name="Shape 11"/>
          <p:cNvSpPr/>
          <p:nvPr/>
        </p:nvSpPr>
        <p:spPr>
          <a:xfrm>
            <a:off x="5303520" y="2240280"/>
            <a:ext cx="1874520" cy="914400"/>
          </a:xfrm>
          <a:prstGeom prst="roundRect">
            <a:avLst>
              <a:gd name="adj" fmla="val 12000"/>
            </a:avLst>
          </a:prstGeom>
          <a:solidFill>
            <a:srgbClr val="F5F5F7"/>
          </a:solidFill>
          <a:ln/>
        </p:spPr>
      </p:sp>
      <p:sp>
        <p:nvSpPr>
          <p:cNvPr id="14" name="Text 12"/>
          <p:cNvSpPr txBox="1"/>
          <p:nvPr/>
        </p:nvSpPr>
        <p:spPr>
          <a:xfrm>
            <a:off x="5486400" y="2331720"/>
            <a:ext cx="1508760" cy="365760"/>
          </a:xfrm>
          <a:prstGeom prst="rect">
            <a:avLst/>
          </a:prstGeom>
          <a:noFill/>
          <a:ln/>
        </p:spPr>
        <p:txBody>
          <a:bodyPr wrap="square" lIns="0" tIns="0" rIns="0" bIns="0" rtlCol="0" anchor="ctr"/>
          <a:lstStyle/>
          <a:p>
            <a:pPr indent="0" marL="0">
              <a:buNone/>
            </a:pPr>
            <a:r>
              <a:rPr lang="en-US" sz="1500" b="1" dirty="0">
                <a:solidFill>
                  <a:srgbClr val="1D1D1F"/>
                </a:solidFill>
                <a:latin typeface="Calibri" pitchFamily="34" charset="0"/>
                <a:ea typeface="Calibri" pitchFamily="34" charset="-122"/>
                <a:cs typeface="Calibri" pitchFamily="34" charset="-120"/>
              </a:rPr>
              <a:t>Drift trigger</a:t>
            </a:r>
            <a:endParaRPr lang="en-US" sz="1500" dirty="0"/>
          </a:p>
        </p:txBody>
      </p:sp>
      <p:sp>
        <p:nvSpPr>
          <p:cNvPr id="15" name="Text 13"/>
          <p:cNvSpPr txBox="1"/>
          <p:nvPr/>
        </p:nvSpPr>
        <p:spPr>
          <a:xfrm>
            <a:off x="5486400" y="2697480"/>
            <a:ext cx="1508760" cy="320040"/>
          </a:xfrm>
          <a:prstGeom prst="rect">
            <a:avLst/>
          </a:prstGeom>
          <a:noFill/>
          <a:ln/>
        </p:spPr>
        <p:txBody>
          <a:bodyPr wrap="square" lIns="0" tIns="0" rIns="0" bIns="0" rtlCol="0" anchor="ctr"/>
          <a:lstStyle/>
          <a:p>
            <a:pPr indent="0" marL="0">
              <a:buNone/>
            </a:pPr>
            <a:r>
              <a:rPr lang="en-US" sz="1200" dirty="0">
                <a:solidFill>
                  <a:srgbClr val="86868B"/>
                </a:solidFill>
                <a:latin typeface="Calibri" pitchFamily="34" charset="0"/>
                <a:ea typeface="Calibri" pitchFamily="34" charset="-122"/>
                <a:cs typeface="Calibri" pitchFamily="34" charset="-120"/>
              </a:rPr>
              <a:t>ADWIN [5]</a:t>
            </a:r>
            <a:endParaRPr lang="en-US" sz="1200" dirty="0"/>
          </a:p>
        </p:txBody>
      </p:sp>
      <p:sp>
        <p:nvSpPr>
          <p:cNvPr id="16" name="Shape 14"/>
          <p:cNvSpPr/>
          <p:nvPr/>
        </p:nvSpPr>
        <p:spPr>
          <a:xfrm>
            <a:off x="7242048" y="2697480"/>
            <a:ext cx="237744" cy="0"/>
          </a:xfrm>
          <a:prstGeom prst="line">
            <a:avLst/>
          </a:prstGeom>
          <a:noFill/>
          <a:ln w="19050">
            <a:solidFill>
              <a:srgbClr val="86868B"/>
            </a:solidFill>
            <a:prstDash val="solid"/>
            <a:tailEnd type="triangle"/>
          </a:ln>
        </p:spPr>
      </p:sp>
      <p:sp>
        <p:nvSpPr>
          <p:cNvPr id="17" name="Shape 15"/>
          <p:cNvSpPr/>
          <p:nvPr/>
        </p:nvSpPr>
        <p:spPr>
          <a:xfrm>
            <a:off x="7543800" y="2240280"/>
            <a:ext cx="1874520" cy="914400"/>
          </a:xfrm>
          <a:prstGeom prst="roundRect">
            <a:avLst>
              <a:gd name="adj" fmla="val 12000"/>
            </a:avLst>
          </a:prstGeom>
          <a:solidFill>
            <a:srgbClr val="F5F5F7"/>
          </a:solidFill>
          <a:ln/>
        </p:spPr>
      </p:sp>
      <p:sp>
        <p:nvSpPr>
          <p:cNvPr id="18" name="Text 16"/>
          <p:cNvSpPr txBox="1"/>
          <p:nvPr/>
        </p:nvSpPr>
        <p:spPr>
          <a:xfrm>
            <a:off x="7726680" y="2331720"/>
            <a:ext cx="1508760" cy="365760"/>
          </a:xfrm>
          <a:prstGeom prst="rect">
            <a:avLst/>
          </a:prstGeom>
          <a:noFill/>
          <a:ln/>
        </p:spPr>
        <p:txBody>
          <a:bodyPr wrap="square" lIns="0" tIns="0" rIns="0" bIns="0" rtlCol="0" anchor="ctr"/>
          <a:lstStyle/>
          <a:p>
            <a:pPr indent="0" marL="0">
              <a:buNone/>
            </a:pPr>
            <a:r>
              <a:rPr lang="en-US" sz="1500" b="1" dirty="0">
                <a:solidFill>
                  <a:srgbClr val="D70015"/>
                </a:solidFill>
                <a:latin typeface="Calibri" pitchFamily="34" charset="0"/>
                <a:ea typeface="Calibri" pitchFamily="34" charset="-122"/>
                <a:cs typeface="Calibri" pitchFamily="34" charset="-120"/>
              </a:rPr>
              <a:t>New update</a:t>
            </a:r>
            <a:endParaRPr lang="en-US" sz="1500" dirty="0"/>
          </a:p>
        </p:txBody>
      </p:sp>
      <p:sp>
        <p:nvSpPr>
          <p:cNvPr id="19" name="Text 17"/>
          <p:cNvSpPr txBox="1"/>
          <p:nvPr/>
        </p:nvSpPr>
        <p:spPr>
          <a:xfrm>
            <a:off x="7726680" y="2697480"/>
            <a:ext cx="1508760" cy="320040"/>
          </a:xfrm>
          <a:prstGeom prst="rect">
            <a:avLst/>
          </a:prstGeom>
          <a:noFill/>
          <a:ln/>
        </p:spPr>
        <p:txBody>
          <a:bodyPr wrap="square" lIns="0" tIns="0" rIns="0" bIns="0" rtlCol="0" anchor="ctr"/>
          <a:lstStyle/>
          <a:p>
            <a:pPr indent="0" marL="0">
              <a:buNone/>
            </a:pPr>
            <a:r>
              <a:rPr lang="en-US" sz="1200" dirty="0">
                <a:solidFill>
                  <a:srgbClr val="86868B"/>
                </a:solidFill>
                <a:latin typeface="Calibri" pitchFamily="34" charset="0"/>
                <a:ea typeface="Calibri" pitchFamily="34" charset="-122"/>
                <a:cs typeface="Calibri" pitchFamily="34" charset="-120"/>
              </a:rPr>
              <a:t>poison enters here</a:t>
            </a:r>
            <a:endParaRPr lang="en-US" sz="1200" dirty="0"/>
          </a:p>
        </p:txBody>
      </p:sp>
      <p:sp>
        <p:nvSpPr>
          <p:cNvPr id="20" name="Shape 18"/>
          <p:cNvSpPr/>
          <p:nvPr/>
        </p:nvSpPr>
        <p:spPr>
          <a:xfrm>
            <a:off x="9482328" y="2697480"/>
            <a:ext cx="329184" cy="0"/>
          </a:xfrm>
          <a:prstGeom prst="line">
            <a:avLst/>
          </a:prstGeom>
          <a:noFill/>
          <a:ln w="19050">
            <a:solidFill>
              <a:srgbClr val="86868B"/>
            </a:solidFill>
            <a:prstDash val="solid"/>
            <a:tailEnd type="triangle"/>
          </a:ln>
        </p:spPr>
      </p:sp>
      <p:sp>
        <p:nvSpPr>
          <p:cNvPr id="21" name="Shape 19"/>
          <p:cNvSpPr/>
          <p:nvPr/>
        </p:nvSpPr>
        <p:spPr>
          <a:xfrm>
            <a:off x="9720072" y="2240280"/>
            <a:ext cx="1645920" cy="914400"/>
          </a:xfrm>
          <a:prstGeom prst="roundRect">
            <a:avLst>
              <a:gd name="adj" fmla="val 12000"/>
            </a:avLst>
          </a:prstGeom>
          <a:solidFill>
            <a:srgbClr val="1D1D1F"/>
          </a:solidFill>
          <a:ln/>
        </p:spPr>
      </p:sp>
      <p:sp>
        <p:nvSpPr>
          <p:cNvPr id="22" name="Text 20"/>
          <p:cNvSpPr txBox="1"/>
          <p:nvPr/>
        </p:nvSpPr>
        <p:spPr>
          <a:xfrm>
            <a:off x="9902952" y="2240280"/>
            <a:ext cx="1371600" cy="9144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Split and apply</a:t>
            </a:r>
            <a:endParaRPr lang="en-US" sz="1300" dirty="0"/>
          </a:p>
        </p:txBody>
      </p:sp>
      <p:sp>
        <p:nvSpPr>
          <p:cNvPr id="23" name="Shape 21"/>
          <p:cNvSpPr/>
          <p:nvPr/>
        </p:nvSpPr>
        <p:spPr>
          <a:xfrm>
            <a:off x="822960" y="3474720"/>
            <a:ext cx="5166360" cy="2606040"/>
          </a:xfrm>
          <a:prstGeom prst="roundRect">
            <a:avLst>
              <a:gd name="adj" fmla="val 4211"/>
            </a:avLst>
          </a:prstGeom>
          <a:solidFill>
            <a:srgbClr val="F5F5F7"/>
          </a:solidFill>
          <a:ln/>
        </p:spPr>
      </p:sp>
      <p:sp>
        <p:nvSpPr>
          <p:cNvPr id="24" name="Text 22"/>
          <p:cNvSpPr txBox="1"/>
          <p:nvPr/>
        </p:nvSpPr>
        <p:spPr>
          <a:xfrm>
            <a:off x="1143000" y="3657600"/>
            <a:ext cx="4526280" cy="365760"/>
          </a:xfrm>
          <a:prstGeom prst="rect">
            <a:avLst/>
          </a:prstGeom>
          <a:noFill/>
          <a:ln/>
        </p:spPr>
        <p:txBody>
          <a:bodyPr wrap="square" lIns="0" tIns="0" rIns="0" bIns="0" rtlCol="0" anchor="ctr"/>
          <a:lstStyle/>
          <a:p>
            <a:pPr indent="0" marL="0">
              <a:buNone/>
            </a:pPr>
            <a:r>
              <a:rPr lang="en-US" sz="1700" b="1" dirty="0">
                <a:solidFill>
                  <a:srgbClr val="0071E3"/>
                </a:solidFill>
                <a:latin typeface="Calibri" pitchFamily="34" charset="0"/>
                <a:ea typeface="Calibri" pitchFamily="34" charset="-122"/>
                <a:cs typeface="Calibri" pitchFamily="34" charset="-120"/>
              </a:rPr>
              <a:t>Safe part  ·  applied at once</a:t>
            </a:r>
            <a:endParaRPr lang="en-US" sz="1700" dirty="0"/>
          </a:p>
        </p:txBody>
      </p:sp>
      <p:sp>
        <p:nvSpPr>
          <p:cNvPr id="25" name="Text 23"/>
          <p:cNvSpPr txBox="1"/>
          <p:nvPr/>
        </p:nvSpPr>
        <p:spPr>
          <a:xfrm>
            <a:off x="1143000" y="4069080"/>
            <a:ext cx="4526280" cy="411480"/>
          </a:xfrm>
          <a:prstGeom prst="rect">
            <a:avLst/>
          </a:prstGeom>
          <a:noFill/>
          <a:ln/>
        </p:spPr>
        <p:txBody>
          <a:bodyPr wrap="square" lIns="0" tIns="0" rIns="0" bIns="0" rtlCol="0" anchor="ctr"/>
          <a:lstStyle/>
          <a:p>
            <a:pPr indent="0" marL="0">
              <a:buNone/>
            </a:pPr>
            <a:r>
              <a:rPr lang="en-US" sz="1500" b="1" dirty="0">
                <a:solidFill>
                  <a:srgbClr val="1D1D1F"/>
                </a:solidFill>
                <a:latin typeface="Calibri" pitchFamily="34" charset="0"/>
                <a:ea typeface="Calibri" pitchFamily="34" charset="-122"/>
                <a:cs typeface="Calibri" pitchFamily="34" charset="-120"/>
              </a:rPr>
              <a:t>Sideways or away from known attacks</a:t>
            </a:r>
            <a:endParaRPr lang="en-US" sz="1500" dirty="0"/>
          </a:p>
        </p:txBody>
      </p:sp>
      <p:sp>
        <p:nvSpPr>
          <p:cNvPr id="26" name="Text 24"/>
          <p:cNvSpPr txBox="1"/>
          <p:nvPr/>
        </p:nvSpPr>
        <p:spPr>
          <a:xfrm>
            <a:off x="1143000" y="4526280"/>
            <a:ext cx="4526280" cy="1051560"/>
          </a:xfrm>
          <a:prstGeom prst="rect">
            <a:avLst/>
          </a:prstGeom>
          <a:noFill/>
          <a:ln/>
        </p:spPr>
        <p:txBody>
          <a:bodyPr wrap="square" lIns="0" tIns="0" rIns="0" bIns="0" rtlCol="0" anchor="t"/>
          <a:lstStyle/>
          <a:p>
            <a:pPr indent="0" marL="0">
              <a:lnSpc>
                <a:spcPct val="108000"/>
              </a:lnSpc>
              <a:buNone/>
            </a:pPr>
            <a:r>
              <a:rPr lang="en-US" sz="1350" dirty="0">
                <a:solidFill>
                  <a:srgbClr val="424245"/>
                </a:solidFill>
                <a:latin typeface="Calibri" pitchFamily="34" charset="0"/>
                <a:ea typeface="Calibri" pitchFamily="34" charset="-122"/>
                <a:cs typeface="Calibri" pitchFamily="34" charset="-120"/>
              </a:rPr>
              <a:t>Most honest drift, like a 52% traffic drop at semester end [16], moves away from attacks. It is always applied, so the detector keeps up and never freezes.</a:t>
            </a:r>
            <a:endParaRPr lang="en-US" sz="1350" dirty="0"/>
          </a:p>
        </p:txBody>
      </p:sp>
      <p:sp>
        <p:nvSpPr>
          <p:cNvPr id="27" name="Text 25"/>
          <p:cNvSpPr txBox="1"/>
          <p:nvPr/>
        </p:nvSpPr>
        <p:spPr>
          <a:xfrm>
            <a:off x="1143000" y="5650992"/>
            <a:ext cx="4526280" cy="320040"/>
          </a:xfrm>
          <a:prstGeom prst="rect">
            <a:avLst/>
          </a:prstGeom>
          <a:noFill/>
          <a:ln/>
        </p:spPr>
        <p:txBody>
          <a:bodyPr wrap="square" lIns="0" tIns="0" rIns="0" bIns="0" rtlCol="0" anchor="ctr"/>
          <a:lstStyle/>
          <a:p>
            <a:pPr indent="0" marL="0">
              <a:buNone/>
            </a:pPr>
            <a:r>
              <a:rPr lang="en-US" sz="1300" b="1" dirty="0">
                <a:solidFill>
                  <a:srgbClr val="248A3D"/>
                </a:solidFill>
                <a:latin typeface="Calibri" pitchFamily="34" charset="0"/>
                <a:ea typeface="Calibri" pitchFamily="34" charset="-122"/>
                <a:cs typeface="Calibri" pitchFamily="34" charset="-120"/>
              </a:rPr>
              <a:t>No freeze, no false-alarm flood</a:t>
            </a:r>
            <a:endParaRPr lang="en-US" sz="1300" dirty="0"/>
          </a:p>
        </p:txBody>
      </p:sp>
      <p:sp>
        <p:nvSpPr>
          <p:cNvPr id="28" name="Shape 26"/>
          <p:cNvSpPr/>
          <p:nvPr/>
        </p:nvSpPr>
        <p:spPr>
          <a:xfrm>
            <a:off x="6217920" y="3474720"/>
            <a:ext cx="5166360" cy="2606040"/>
          </a:xfrm>
          <a:prstGeom prst="roundRect">
            <a:avLst>
              <a:gd name="adj" fmla="val 4211"/>
            </a:avLst>
          </a:prstGeom>
          <a:solidFill>
            <a:srgbClr val="F5F5F7"/>
          </a:solidFill>
          <a:ln/>
        </p:spPr>
      </p:sp>
      <p:sp>
        <p:nvSpPr>
          <p:cNvPr id="29" name="Text 27"/>
          <p:cNvSpPr txBox="1"/>
          <p:nvPr/>
        </p:nvSpPr>
        <p:spPr>
          <a:xfrm>
            <a:off x="6537960" y="3657600"/>
            <a:ext cx="4526280" cy="365760"/>
          </a:xfrm>
          <a:prstGeom prst="rect">
            <a:avLst/>
          </a:prstGeom>
          <a:noFill/>
          <a:ln/>
        </p:spPr>
        <p:txBody>
          <a:bodyPr wrap="square" lIns="0" tIns="0" rIns="0" bIns="0" rtlCol="0" anchor="ctr"/>
          <a:lstStyle/>
          <a:p>
            <a:pPr indent="0" marL="0">
              <a:buNone/>
            </a:pPr>
            <a:r>
              <a:rPr lang="en-US" sz="1700" b="1" dirty="0">
                <a:solidFill>
                  <a:srgbClr val="0071E3"/>
                </a:solidFill>
                <a:latin typeface="Calibri" pitchFamily="34" charset="0"/>
                <a:ea typeface="Calibri" pitchFamily="34" charset="-122"/>
                <a:cs typeface="Calibri" pitchFamily="34" charset="-120"/>
              </a:rPr>
              <a:t>Threat part  ·  rationed</a:t>
            </a:r>
            <a:endParaRPr lang="en-US" sz="1700" dirty="0"/>
          </a:p>
        </p:txBody>
      </p:sp>
      <p:sp>
        <p:nvSpPr>
          <p:cNvPr id="30" name="Text 28"/>
          <p:cNvSpPr txBox="1"/>
          <p:nvPr/>
        </p:nvSpPr>
        <p:spPr>
          <a:xfrm>
            <a:off x="6537960" y="4069080"/>
            <a:ext cx="4526280" cy="411480"/>
          </a:xfrm>
          <a:prstGeom prst="rect">
            <a:avLst/>
          </a:prstGeom>
          <a:noFill/>
          <a:ln/>
        </p:spPr>
        <p:txBody>
          <a:bodyPr wrap="square" lIns="0" tIns="0" rIns="0" bIns="0" rtlCol="0" anchor="ctr"/>
          <a:lstStyle/>
          <a:p>
            <a:pPr indent="0" marL="0">
              <a:buNone/>
            </a:pPr>
            <a:r>
              <a:rPr lang="en-US" sz="1500" b="1" dirty="0">
                <a:solidFill>
                  <a:srgbClr val="1D1D1F"/>
                </a:solidFill>
                <a:latin typeface="Calibri" pitchFamily="34" charset="0"/>
                <a:ea typeface="Calibri" pitchFamily="34" charset="-122"/>
                <a:cs typeface="Calibri" pitchFamily="34" charset="-120"/>
              </a:rPr>
              <a:t>Toward a known attack signature</a:t>
            </a:r>
            <a:endParaRPr lang="en-US" sz="1500" dirty="0"/>
          </a:p>
        </p:txBody>
      </p:sp>
      <p:sp>
        <p:nvSpPr>
          <p:cNvPr id="31" name="Text 29"/>
          <p:cNvSpPr txBox="1"/>
          <p:nvPr/>
        </p:nvSpPr>
        <p:spPr>
          <a:xfrm>
            <a:off x="6537960" y="4526280"/>
            <a:ext cx="4526280" cy="1051560"/>
          </a:xfrm>
          <a:prstGeom prst="rect">
            <a:avLst/>
          </a:prstGeom>
          <a:noFill/>
          <a:ln/>
        </p:spPr>
        <p:txBody>
          <a:bodyPr wrap="square" lIns="0" tIns="0" rIns="0" bIns="0" rtlCol="0" anchor="t"/>
          <a:lstStyle/>
          <a:p>
            <a:pPr indent="0" marL="0">
              <a:lnSpc>
                <a:spcPct val="108000"/>
              </a:lnSpc>
              <a:buNone/>
            </a:pPr>
            <a:r>
              <a:rPr lang="en-US" sz="1350" dirty="0">
                <a:solidFill>
                  <a:srgbClr val="424245"/>
                </a:solidFill>
                <a:latin typeface="Calibri" pitchFamily="34" charset="0"/>
                <a:ea typeface="Calibri" pitchFamily="34" charset="-122"/>
                <a:cs typeface="Calibri" pitchFamily="34" charset="-120"/>
              </a:rPr>
              <a:t>Only the part that shrinks the gap between normal and an attack is capped, at a slow rate learned from clean data. Poisoning has to move this way, so it stalls.</a:t>
            </a:r>
            <a:endParaRPr lang="en-US" sz="1350" dirty="0"/>
          </a:p>
        </p:txBody>
      </p:sp>
      <p:sp>
        <p:nvSpPr>
          <p:cNvPr id="32" name="Text 30"/>
          <p:cNvSpPr txBox="1"/>
          <p:nvPr/>
        </p:nvSpPr>
        <p:spPr>
          <a:xfrm>
            <a:off x="6537960" y="5650992"/>
            <a:ext cx="4526280" cy="320040"/>
          </a:xfrm>
          <a:prstGeom prst="rect">
            <a:avLst/>
          </a:prstGeom>
          <a:noFill/>
          <a:ln/>
        </p:spPr>
        <p:txBody>
          <a:bodyPr wrap="square" lIns="0" tIns="0" rIns="0" bIns="0" rtlCol="0" anchor="ctr"/>
          <a:lstStyle/>
          <a:p>
            <a:pPr indent="0" marL="0">
              <a:buNone/>
            </a:pPr>
            <a:r>
              <a:rPr lang="en-US" sz="1300" b="1" dirty="0">
                <a:solidFill>
                  <a:srgbClr val="248A3D"/>
                </a:solidFill>
                <a:latin typeface="Calibri" pitchFamily="34" charset="0"/>
                <a:ea typeface="Calibri" pitchFamily="34" charset="-122"/>
                <a:cs typeface="Calibri" pitchFamily="34" charset="-120"/>
              </a:rPr>
              <a:t>Provable minimum time to compromise</a:t>
            </a:r>
            <a:endParaRPr lang="en-US" sz="1300" dirty="0"/>
          </a:p>
        </p:txBody>
      </p:sp>
      <p:sp>
        <p:nvSpPr>
          <p:cNvPr id="33" name="Text 31"/>
          <p:cNvSpPr txBox="1"/>
          <p:nvPr/>
        </p:nvSpPr>
        <p:spPr>
          <a:xfrm>
            <a:off x="822960" y="6327648"/>
            <a:ext cx="10515600" cy="274320"/>
          </a:xfrm>
          <a:prstGeom prst="rect">
            <a:avLst/>
          </a:prstGeom>
          <a:noFill/>
          <a:ln/>
        </p:spPr>
        <p:txBody>
          <a:bodyPr wrap="square" lIns="0" tIns="0" rIns="0" bIns="0" rtlCol="0" anchor="ctr"/>
          <a:lstStyle/>
          <a:p>
            <a:pPr indent="0" marL="0">
              <a:buNone/>
            </a:pPr>
            <a:r>
              <a:rPr lang="en-US" sz="1000" i="1" dirty="0">
                <a:solidFill>
                  <a:srgbClr val="86868B"/>
                </a:solidFill>
                <a:latin typeface="Calibri" pitchFamily="34" charset="0"/>
                <a:ea typeface="Calibri" pitchFamily="34" charset="-122"/>
                <a:cs typeface="Calibri" pitchFamily="34" charset="-120"/>
              </a:rPr>
              <a:t>[1] NDSS 2018  ·  [5] SIAM SDM 2007  ·  [16] CESNET-TimeSeries24, Scientific Data 2025</a:t>
            </a:r>
            <a:endParaRPr lang="en-US" sz="1000" dirty="0"/>
          </a:p>
        </p:txBody>
      </p:sp>
      <p:sp>
        <p:nvSpPr>
          <p:cNvPr id="34" name="Text 32"/>
          <p:cNvSpPr txBox="1"/>
          <p:nvPr/>
        </p:nvSpPr>
        <p:spPr>
          <a:xfrm>
            <a:off x="11064240" y="6327648"/>
            <a:ext cx="365760" cy="274320"/>
          </a:xfrm>
          <a:prstGeom prst="rect">
            <a:avLst/>
          </a:prstGeom>
          <a:noFill/>
          <a:ln/>
        </p:spPr>
        <p:txBody>
          <a:bodyPr wrap="square" lIns="0" tIns="0" rIns="0" bIns="0" rtlCol="0" anchor="ctr"/>
          <a:lstStyle/>
          <a:p>
            <a:pPr algn="r" indent="0" marL="0">
              <a:buNone/>
            </a:pPr>
            <a:r>
              <a:rPr lang="en-US" sz="1000" dirty="0">
                <a:solidFill>
                  <a:srgbClr val="C7C7CC"/>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2960" y="772668"/>
            <a:ext cx="100584" cy="100584"/>
          </a:xfrm>
          <a:prstGeom prst="ellipse">
            <a:avLst/>
          </a:prstGeom>
          <a:solidFill>
            <a:srgbClr val="0071E3"/>
          </a:solidFill>
          <a:ln/>
        </p:spPr>
      </p:sp>
      <p:sp>
        <p:nvSpPr>
          <p:cNvPr id="3" name="Text 1"/>
          <p:cNvSpPr txBox="1"/>
          <p:nvPr/>
        </p:nvSpPr>
        <p:spPr>
          <a:xfrm>
            <a:off x="1024128" y="676656"/>
            <a:ext cx="9144000" cy="292608"/>
          </a:xfrm>
          <a:prstGeom prst="rect">
            <a:avLst/>
          </a:prstGeom>
          <a:noFill/>
          <a:ln/>
        </p:spPr>
        <p:txBody>
          <a:bodyPr wrap="square" lIns="0" tIns="0" rIns="0" bIns="0" rtlCol="0" anchor="ctr"/>
          <a:lstStyle/>
          <a:p>
            <a:pPr indent="0" marL="0">
              <a:buNone/>
            </a:pPr>
            <a:r>
              <a:rPr lang="en-US" sz="1250" b="1" spc="220" kern="0" dirty="0">
                <a:solidFill>
                  <a:srgbClr val="0071E3"/>
                </a:solidFill>
                <a:latin typeface="Calibri" pitchFamily="34" charset="0"/>
                <a:ea typeface="Calibri" pitchFamily="34" charset="-122"/>
                <a:cs typeface="Calibri" pitchFamily="34" charset="-120"/>
              </a:rPr>
              <a:t>WHAT OUR RESEARCH TURNED UP</a:t>
            </a:r>
            <a:endParaRPr lang="en-US" sz="1250" dirty="0"/>
          </a:p>
        </p:txBody>
      </p:sp>
      <p:sp>
        <p:nvSpPr>
          <p:cNvPr id="4" name="Text 2"/>
          <p:cNvSpPr txBox="1"/>
          <p:nvPr/>
        </p:nvSpPr>
        <p:spPr>
          <a:xfrm>
            <a:off x="822960" y="1188720"/>
            <a:ext cx="10515600" cy="868680"/>
          </a:xfrm>
          <a:prstGeom prst="rect">
            <a:avLst/>
          </a:prstGeom>
          <a:noFill/>
          <a:ln/>
        </p:spPr>
        <p:txBody>
          <a:bodyPr wrap="square" lIns="0" tIns="0" rIns="0" bIns="0" rtlCol="0" anchor="t"/>
          <a:lstStyle/>
          <a:p>
            <a:pPr indent="0" marL="0">
              <a:lnSpc>
                <a:spcPct val="103000"/>
              </a:lnSpc>
              <a:buNone/>
            </a:pPr>
            <a:r>
              <a:rPr lang="en-US" sz="2800" b="1" dirty="0">
                <a:solidFill>
                  <a:srgbClr val="1D1D1F"/>
                </a:solidFill>
                <a:latin typeface="Calibri" pitchFamily="34" charset="0"/>
                <a:ea typeface="Calibri" pitchFamily="34" charset="-122"/>
                <a:cs typeface="Calibri" pitchFamily="34" charset="-120"/>
              </a:rPr>
              <a:t>Three findings that shaped the design.</a:t>
            </a:r>
            <a:endParaRPr lang="en-US" sz="2800" dirty="0"/>
          </a:p>
        </p:txBody>
      </p:sp>
      <p:sp>
        <p:nvSpPr>
          <p:cNvPr id="5" name="Text 3"/>
          <p:cNvSpPr txBox="1"/>
          <p:nvPr/>
        </p:nvSpPr>
        <p:spPr>
          <a:xfrm>
            <a:off x="822960" y="2148840"/>
            <a:ext cx="731520" cy="457200"/>
          </a:xfrm>
          <a:prstGeom prst="rect">
            <a:avLst/>
          </a:prstGeom>
          <a:noFill/>
          <a:ln/>
        </p:spPr>
        <p:txBody>
          <a:bodyPr wrap="square" lIns="0" tIns="0" rIns="0" bIns="0" rtlCol="0" anchor="ctr"/>
          <a:lstStyle/>
          <a:p>
            <a:pPr indent="0" marL="0">
              <a:buNone/>
            </a:pPr>
            <a:r>
              <a:rPr lang="en-US" sz="2200" b="1" dirty="0">
                <a:solidFill>
                  <a:srgbClr val="0071E3"/>
                </a:solidFill>
                <a:latin typeface="Calibri" pitchFamily="34" charset="0"/>
                <a:ea typeface="Calibri" pitchFamily="34" charset="-122"/>
                <a:cs typeface="Calibri" pitchFamily="34" charset="-120"/>
              </a:rPr>
              <a:t>01</a:t>
            </a:r>
            <a:endParaRPr lang="en-US" sz="2200" dirty="0"/>
          </a:p>
        </p:txBody>
      </p:sp>
      <p:sp>
        <p:nvSpPr>
          <p:cNvPr id="6" name="Text 4"/>
          <p:cNvSpPr txBox="1"/>
          <p:nvPr/>
        </p:nvSpPr>
        <p:spPr>
          <a:xfrm>
            <a:off x="1645920" y="2148840"/>
            <a:ext cx="9692640" cy="384048"/>
          </a:xfrm>
          <a:prstGeom prst="rect">
            <a:avLst/>
          </a:prstGeom>
          <a:noFill/>
          <a:ln/>
        </p:spPr>
        <p:txBody>
          <a:bodyPr wrap="square" lIns="0" tIns="0" rIns="0" bIns="0" rtlCol="0" anchor="ctr"/>
          <a:lstStyle/>
          <a:p>
            <a:pPr indent="0" marL="0">
              <a:buNone/>
            </a:pPr>
            <a:r>
              <a:rPr lang="en-US" sz="1800" b="1" dirty="0">
                <a:solidFill>
                  <a:srgbClr val="1D1D1F"/>
                </a:solidFill>
                <a:latin typeface="Calibri" pitchFamily="34" charset="0"/>
                <a:ea typeface="Calibri" pitchFamily="34" charset="-122"/>
                <a:cs typeface="Calibri" pitchFamily="34" charset="-120"/>
              </a:rPr>
              <a:t>Honest drift is directional too.</a:t>
            </a:r>
            <a:endParaRPr lang="en-US" sz="1800" dirty="0"/>
          </a:p>
        </p:txBody>
      </p:sp>
      <p:sp>
        <p:nvSpPr>
          <p:cNvPr id="7" name="Text 5"/>
          <p:cNvSpPr txBox="1"/>
          <p:nvPr/>
        </p:nvSpPr>
        <p:spPr>
          <a:xfrm>
            <a:off x="1645920" y="2551176"/>
            <a:ext cx="9692640" cy="731520"/>
          </a:xfrm>
          <a:prstGeom prst="rect">
            <a:avLst/>
          </a:prstGeom>
          <a:noFill/>
          <a:ln/>
        </p:spPr>
        <p:txBody>
          <a:bodyPr wrap="square" lIns="0" tIns="0" rIns="0" bIns="0" rtlCol="0" anchor="t"/>
          <a:lstStyle/>
          <a:p>
            <a:pPr indent="0" marL="0">
              <a:lnSpc>
                <a:spcPct val="108000"/>
              </a:lnSpc>
              <a:buNone/>
            </a:pPr>
            <a:r>
              <a:rPr lang="en-US" sz="1400" dirty="0">
                <a:solidFill>
                  <a:srgbClr val="424245"/>
                </a:solidFill>
                <a:latin typeface="Calibri" pitchFamily="34" charset="0"/>
                <a:ea typeface="Calibri" pitchFamily="34" charset="-122"/>
                <a:cs typeface="Calibri" pitchFamily="34" charset="-120"/>
              </a:rPr>
              <a:t>Real ISP traffic drifts steadily for weeks, with volume down 52% at semester end [16]. So 'steady drift means attack' would raise false alarms. What matters is drift toward an attack.</a:t>
            </a:r>
            <a:endParaRPr lang="en-US" sz="1400" dirty="0"/>
          </a:p>
        </p:txBody>
      </p:sp>
      <p:sp>
        <p:nvSpPr>
          <p:cNvPr id="8" name="Text 6"/>
          <p:cNvSpPr txBox="1"/>
          <p:nvPr/>
        </p:nvSpPr>
        <p:spPr>
          <a:xfrm>
            <a:off x="822960" y="3474720"/>
            <a:ext cx="731520" cy="457200"/>
          </a:xfrm>
          <a:prstGeom prst="rect">
            <a:avLst/>
          </a:prstGeom>
          <a:noFill/>
          <a:ln/>
        </p:spPr>
        <p:txBody>
          <a:bodyPr wrap="square" lIns="0" tIns="0" rIns="0" bIns="0" rtlCol="0" anchor="ctr"/>
          <a:lstStyle/>
          <a:p>
            <a:pPr indent="0" marL="0">
              <a:buNone/>
            </a:pPr>
            <a:r>
              <a:rPr lang="en-US" sz="2200" b="1" dirty="0">
                <a:solidFill>
                  <a:srgbClr val="0071E3"/>
                </a:solidFill>
                <a:latin typeface="Calibri" pitchFamily="34" charset="0"/>
                <a:ea typeface="Calibri" pitchFamily="34" charset="-122"/>
                <a:cs typeface="Calibri" pitchFamily="34" charset="-120"/>
              </a:rPr>
              <a:t>02</a:t>
            </a:r>
            <a:endParaRPr lang="en-US" sz="2200" dirty="0"/>
          </a:p>
        </p:txBody>
      </p:sp>
      <p:sp>
        <p:nvSpPr>
          <p:cNvPr id="9" name="Text 7"/>
          <p:cNvSpPr txBox="1"/>
          <p:nvPr/>
        </p:nvSpPr>
        <p:spPr>
          <a:xfrm>
            <a:off x="1645920" y="3474720"/>
            <a:ext cx="9692640" cy="384048"/>
          </a:xfrm>
          <a:prstGeom prst="rect">
            <a:avLst/>
          </a:prstGeom>
          <a:noFill/>
          <a:ln/>
        </p:spPr>
        <p:txBody>
          <a:bodyPr wrap="square" lIns="0" tIns="0" rIns="0" bIns="0" rtlCol="0" anchor="ctr"/>
          <a:lstStyle/>
          <a:p>
            <a:pPr indent="0" marL="0">
              <a:buNone/>
            </a:pPr>
            <a:r>
              <a:rPr lang="en-US" sz="1800" b="1" dirty="0">
                <a:solidFill>
                  <a:srgbClr val="1D1D1F"/>
                </a:solidFill>
                <a:latin typeface="Calibri" pitchFamily="34" charset="0"/>
                <a:ea typeface="Calibri" pitchFamily="34" charset="-122"/>
                <a:cs typeface="Calibri" pitchFamily="34" charset="-120"/>
              </a:rPr>
              <a:t>Defenses that freeze can be weaponized.</a:t>
            </a:r>
            <a:endParaRPr lang="en-US" sz="1800" dirty="0"/>
          </a:p>
        </p:txBody>
      </p:sp>
      <p:sp>
        <p:nvSpPr>
          <p:cNvPr id="10" name="Text 8"/>
          <p:cNvSpPr txBox="1"/>
          <p:nvPr/>
        </p:nvSpPr>
        <p:spPr>
          <a:xfrm>
            <a:off x="1645920" y="3877056"/>
            <a:ext cx="9692640" cy="731520"/>
          </a:xfrm>
          <a:prstGeom prst="rect">
            <a:avLst/>
          </a:prstGeom>
          <a:noFill/>
          <a:ln/>
        </p:spPr>
        <p:txBody>
          <a:bodyPr wrap="square" lIns="0" tIns="0" rIns="0" bIns="0" rtlCol="0" anchor="t"/>
          <a:lstStyle/>
          <a:p>
            <a:pPr indent="0" marL="0">
              <a:lnSpc>
                <a:spcPct val="108000"/>
              </a:lnSpc>
              <a:buNone/>
            </a:pPr>
            <a:r>
              <a:rPr lang="en-US" sz="1400" dirty="0">
                <a:solidFill>
                  <a:srgbClr val="424245"/>
                </a:solidFill>
                <a:latin typeface="Calibri" pitchFamily="34" charset="0"/>
                <a:ea typeface="Calibri" pitchFamily="34" charset="-122"/>
                <a:cs typeface="Calibri" pitchFamily="34" charset="-120"/>
              </a:rPr>
              <a:t>An attacker trips the freeze, then leaves. Honest drift continues and the frozen detector drowns in false alarms until someone turns it off. We found no prior work naming this.</a:t>
            </a:r>
            <a:endParaRPr lang="en-US" sz="1400" dirty="0"/>
          </a:p>
        </p:txBody>
      </p:sp>
      <p:sp>
        <p:nvSpPr>
          <p:cNvPr id="11" name="Text 9"/>
          <p:cNvSpPr txBox="1"/>
          <p:nvPr/>
        </p:nvSpPr>
        <p:spPr>
          <a:xfrm>
            <a:off x="822960" y="4800600"/>
            <a:ext cx="731520" cy="457200"/>
          </a:xfrm>
          <a:prstGeom prst="rect">
            <a:avLst/>
          </a:prstGeom>
          <a:noFill/>
          <a:ln/>
        </p:spPr>
        <p:txBody>
          <a:bodyPr wrap="square" lIns="0" tIns="0" rIns="0" bIns="0" rtlCol="0" anchor="ctr"/>
          <a:lstStyle/>
          <a:p>
            <a:pPr indent="0" marL="0">
              <a:buNone/>
            </a:pPr>
            <a:r>
              <a:rPr lang="en-US" sz="2200" b="1" dirty="0">
                <a:solidFill>
                  <a:srgbClr val="0071E3"/>
                </a:solidFill>
                <a:latin typeface="Calibri" pitchFamily="34" charset="0"/>
                <a:ea typeface="Calibri" pitchFamily="34" charset="-122"/>
                <a:cs typeface="Calibri" pitchFamily="34" charset="-120"/>
              </a:rPr>
              <a:t>03</a:t>
            </a:r>
            <a:endParaRPr lang="en-US" sz="2200" dirty="0"/>
          </a:p>
        </p:txBody>
      </p:sp>
      <p:sp>
        <p:nvSpPr>
          <p:cNvPr id="12" name="Text 10"/>
          <p:cNvSpPr txBox="1"/>
          <p:nvPr/>
        </p:nvSpPr>
        <p:spPr>
          <a:xfrm>
            <a:off x="1645920" y="4800600"/>
            <a:ext cx="9692640" cy="384048"/>
          </a:xfrm>
          <a:prstGeom prst="rect">
            <a:avLst/>
          </a:prstGeom>
          <a:noFill/>
          <a:ln/>
        </p:spPr>
        <p:txBody>
          <a:bodyPr wrap="square" lIns="0" tIns="0" rIns="0" bIns="0" rtlCol="0" anchor="ctr"/>
          <a:lstStyle/>
          <a:p>
            <a:pPr indent="0" marL="0">
              <a:buNone/>
            </a:pPr>
            <a:r>
              <a:rPr lang="en-US" sz="1800" b="1" dirty="0">
                <a:solidFill>
                  <a:srgbClr val="1D1D1F"/>
                </a:solidFill>
                <a:latin typeface="Calibri" pitchFamily="34" charset="0"/>
                <a:ea typeface="Calibri" pitchFamily="34" charset="-122"/>
                <a:cs typeface="Calibri" pitchFamily="34" charset="-120"/>
              </a:rPr>
              <a:t>Small IoT devices are easier to poison.</a:t>
            </a:r>
            <a:endParaRPr lang="en-US" sz="1800" dirty="0"/>
          </a:p>
        </p:txBody>
      </p:sp>
      <p:sp>
        <p:nvSpPr>
          <p:cNvPr id="13" name="Text 11"/>
          <p:cNvSpPr txBox="1"/>
          <p:nvPr/>
        </p:nvSpPr>
        <p:spPr>
          <a:xfrm>
            <a:off x="1645920" y="5202936"/>
            <a:ext cx="9692640" cy="731520"/>
          </a:xfrm>
          <a:prstGeom prst="rect">
            <a:avLst/>
          </a:prstGeom>
          <a:noFill/>
          <a:ln/>
        </p:spPr>
        <p:txBody>
          <a:bodyPr wrap="square" lIns="0" tIns="0" rIns="0" bIns="0" rtlCol="0" anchor="t"/>
          <a:lstStyle/>
          <a:p>
            <a:pPr indent="0" marL="0">
              <a:lnSpc>
                <a:spcPct val="108000"/>
              </a:lnSpc>
              <a:buNone/>
            </a:pPr>
            <a:r>
              <a:rPr lang="en-US" sz="1400" dirty="0">
                <a:solidFill>
                  <a:srgbClr val="424245"/>
                </a:solidFill>
                <a:latin typeface="Calibri" pitchFamily="34" charset="0"/>
                <a:ea typeface="Calibri" pitchFamily="34" charset="-122"/>
                <a:cs typeface="Calibri" pitchFamily="34" charset="-120"/>
              </a:rPr>
              <a:t>Poisoning only succeeds when the attacker is a large share of what the detector learns from [15]. A smart plug sends little traffic, so matching it is easy. Open-source ESP32 detectors relearn a rolling baseline with no protection.</a:t>
            </a:r>
            <a:endParaRPr lang="en-US" sz="1400" dirty="0"/>
          </a:p>
        </p:txBody>
      </p:sp>
      <p:sp>
        <p:nvSpPr>
          <p:cNvPr id="14" name="Text 12"/>
          <p:cNvSpPr txBox="1"/>
          <p:nvPr/>
        </p:nvSpPr>
        <p:spPr>
          <a:xfrm>
            <a:off x="822960" y="6327648"/>
            <a:ext cx="10515600" cy="274320"/>
          </a:xfrm>
          <a:prstGeom prst="rect">
            <a:avLst/>
          </a:prstGeom>
          <a:noFill/>
          <a:ln/>
        </p:spPr>
        <p:txBody>
          <a:bodyPr wrap="square" lIns="0" tIns="0" rIns="0" bIns="0" rtlCol="0" anchor="ctr"/>
          <a:lstStyle/>
          <a:p>
            <a:pPr indent="0" marL="0">
              <a:buNone/>
            </a:pPr>
            <a:r>
              <a:rPr lang="en-US" sz="1000" i="1" dirty="0">
                <a:solidFill>
                  <a:srgbClr val="86868B"/>
                </a:solidFill>
                <a:latin typeface="Calibri" pitchFamily="34" charset="0"/>
                <a:ea typeface="Calibri" pitchFamily="34" charset="-122"/>
                <a:cs typeface="Calibri" pitchFamily="34" charset="-120"/>
              </a:rPr>
              <a:t>[15] Kloft and Laskov, JMLR 2012  ·  [16] Koumar et al., CESNET-TimeSeries24, Scientific Data 2025  ·  ESP32 WIDS: github.com/MashhudFarah/WIDS</a:t>
            </a:r>
            <a:endParaRPr lang="en-US" sz="1000" dirty="0"/>
          </a:p>
        </p:txBody>
      </p:sp>
      <p:sp>
        <p:nvSpPr>
          <p:cNvPr id="15" name="Text 13"/>
          <p:cNvSpPr txBox="1"/>
          <p:nvPr/>
        </p:nvSpPr>
        <p:spPr>
          <a:xfrm>
            <a:off x="11064240" y="6327648"/>
            <a:ext cx="365760" cy="274320"/>
          </a:xfrm>
          <a:prstGeom prst="rect">
            <a:avLst/>
          </a:prstGeom>
          <a:noFill/>
          <a:ln/>
        </p:spPr>
        <p:txBody>
          <a:bodyPr wrap="square" lIns="0" tIns="0" rIns="0" bIns="0" rtlCol="0" anchor="ctr"/>
          <a:lstStyle/>
          <a:p>
            <a:pPr algn="r" indent="0" marL="0">
              <a:buNone/>
            </a:pPr>
            <a:r>
              <a:rPr lang="en-US" sz="1000" dirty="0">
                <a:solidFill>
                  <a:srgbClr val="C7C7CC"/>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2960" y="772668"/>
            <a:ext cx="100584" cy="100584"/>
          </a:xfrm>
          <a:prstGeom prst="ellipse">
            <a:avLst/>
          </a:prstGeom>
          <a:solidFill>
            <a:srgbClr val="0071E3"/>
          </a:solidFill>
          <a:ln/>
        </p:spPr>
      </p:sp>
      <p:sp>
        <p:nvSpPr>
          <p:cNvPr id="3" name="Text 1"/>
          <p:cNvSpPr txBox="1"/>
          <p:nvPr/>
        </p:nvSpPr>
        <p:spPr>
          <a:xfrm>
            <a:off x="1024128" y="676656"/>
            <a:ext cx="9144000" cy="292608"/>
          </a:xfrm>
          <a:prstGeom prst="rect">
            <a:avLst/>
          </a:prstGeom>
          <a:noFill/>
          <a:ln/>
        </p:spPr>
        <p:txBody>
          <a:bodyPr wrap="square" lIns="0" tIns="0" rIns="0" bIns="0" rtlCol="0" anchor="ctr"/>
          <a:lstStyle/>
          <a:p>
            <a:pPr indent="0" marL="0">
              <a:buNone/>
            </a:pPr>
            <a:r>
              <a:rPr lang="en-US" sz="1250" b="1" spc="220" kern="0" dirty="0">
                <a:solidFill>
                  <a:srgbClr val="0071E3"/>
                </a:solidFill>
                <a:latin typeface="Calibri" pitchFamily="34" charset="0"/>
                <a:ea typeface="Calibri" pitchFamily="34" charset="-122"/>
                <a:cs typeface="Calibri" pitchFamily="34" charset="-120"/>
              </a:rPr>
              <a:t>PLATFORM, TOOLS AND BASELINES</a:t>
            </a:r>
            <a:endParaRPr lang="en-US" sz="1250" dirty="0"/>
          </a:p>
        </p:txBody>
      </p:sp>
      <p:sp>
        <p:nvSpPr>
          <p:cNvPr id="4" name="Text 2"/>
          <p:cNvSpPr txBox="1"/>
          <p:nvPr/>
        </p:nvSpPr>
        <p:spPr>
          <a:xfrm>
            <a:off x="822960" y="1188720"/>
            <a:ext cx="10515600" cy="868680"/>
          </a:xfrm>
          <a:prstGeom prst="rect">
            <a:avLst/>
          </a:prstGeom>
          <a:noFill/>
          <a:ln/>
        </p:spPr>
        <p:txBody>
          <a:bodyPr wrap="square" lIns="0" tIns="0" rIns="0" bIns="0" rtlCol="0" anchor="t"/>
          <a:lstStyle/>
          <a:p>
            <a:pPr indent="0" marL="0">
              <a:lnSpc>
                <a:spcPct val="103000"/>
              </a:lnSpc>
              <a:buNone/>
            </a:pPr>
            <a:r>
              <a:rPr lang="en-US" sz="2800" b="1" dirty="0">
                <a:solidFill>
                  <a:srgbClr val="1D1D1F"/>
                </a:solidFill>
                <a:latin typeface="Calibri" pitchFamily="34" charset="0"/>
                <a:ea typeface="Calibri" pitchFamily="34" charset="-122"/>
                <a:cs typeface="Calibri" pitchFamily="34" charset="-120"/>
              </a:rPr>
              <a:t>What we build on, and what we have to beat.</a:t>
            </a:r>
            <a:endParaRPr lang="en-US" sz="2800" dirty="0"/>
          </a:p>
        </p:txBody>
      </p:sp>
      <p:sp>
        <p:nvSpPr>
          <p:cNvPr id="5" name="Shape 3"/>
          <p:cNvSpPr/>
          <p:nvPr/>
        </p:nvSpPr>
        <p:spPr>
          <a:xfrm>
            <a:off x="822960" y="2194560"/>
            <a:ext cx="5029200" cy="3886200"/>
          </a:xfrm>
          <a:prstGeom prst="roundRect">
            <a:avLst>
              <a:gd name="adj" fmla="val 2824"/>
            </a:avLst>
          </a:prstGeom>
          <a:solidFill>
            <a:srgbClr val="F5F5F7"/>
          </a:solidFill>
          <a:ln/>
        </p:spPr>
      </p:sp>
      <p:sp>
        <p:nvSpPr>
          <p:cNvPr id="6" name="Text 4"/>
          <p:cNvSpPr txBox="1"/>
          <p:nvPr/>
        </p:nvSpPr>
        <p:spPr>
          <a:xfrm>
            <a:off x="1143000" y="2395728"/>
            <a:ext cx="4389120" cy="365760"/>
          </a:xfrm>
          <a:prstGeom prst="rect">
            <a:avLst/>
          </a:prstGeom>
          <a:noFill/>
          <a:ln/>
        </p:spPr>
        <p:txBody>
          <a:bodyPr wrap="square" lIns="0" tIns="0" rIns="0" bIns="0" rtlCol="0" anchor="ctr"/>
          <a:lstStyle/>
          <a:p>
            <a:pPr indent="0" marL="0">
              <a:buNone/>
            </a:pPr>
            <a:r>
              <a:rPr lang="en-US" sz="1700" b="1" dirty="0">
                <a:solidFill>
                  <a:srgbClr val="0071E3"/>
                </a:solidFill>
                <a:latin typeface="Calibri" pitchFamily="34" charset="0"/>
                <a:ea typeface="Calibri" pitchFamily="34" charset="-122"/>
                <a:cs typeface="Calibri" pitchFamily="34" charset="-120"/>
              </a:rPr>
              <a:t>Build on</a:t>
            </a:r>
            <a:endParaRPr lang="en-US" sz="1700" dirty="0"/>
          </a:p>
        </p:txBody>
      </p:sp>
      <p:sp>
        <p:nvSpPr>
          <p:cNvPr id="7" name="Text 5"/>
          <p:cNvSpPr txBox="1"/>
          <p:nvPr/>
        </p:nvSpPr>
        <p:spPr>
          <a:xfrm>
            <a:off x="1143000" y="2852928"/>
            <a:ext cx="4434840" cy="3017520"/>
          </a:xfrm>
          <a:prstGeom prst="rect">
            <a:avLst/>
          </a:prstGeom>
          <a:noFill/>
          <a:ln/>
        </p:spPr>
        <p:txBody>
          <a:bodyPr wrap="square" lIns="0" tIns="0" rIns="0" bIns="0" rtlCol="0" anchor="t"/>
          <a:lstStyle/>
          <a:p>
            <a:pPr indent="0" marL="0">
              <a:lnSpc>
                <a:spcPct val="106000"/>
              </a:lnSpc>
              <a:buNone/>
            </a:pPr>
            <a:r>
              <a:rPr lang="en-US" sz="1450" b="1" dirty="0">
                <a:solidFill>
                  <a:srgbClr val="1D1D1F"/>
                </a:solidFill>
                <a:latin typeface="Calibri" pitchFamily="34" charset="0"/>
                <a:ea typeface="Calibri" pitchFamily="34" charset="-122"/>
                <a:cs typeface="Calibri" pitchFamily="34" charset="-120"/>
              </a:rPr>
              <a:t>Hardware</a:t>
            </a:r>
            <a:endParaRPr lang="en-US" sz="1450" dirty="0"/>
          </a:p>
          <a:p>
            <a:pPr indent="0" marL="0">
              <a:lnSpc>
                <a:spcPct val="106000"/>
              </a:lnSpc>
              <a:spcAft>
                <a:spcPts val="1000"/>
              </a:spcAft>
              <a:buNone/>
            </a:pPr>
            <a:r>
              <a:rPr lang="en-US" sz="1450" dirty="0">
                <a:solidFill>
                  <a:srgbClr val="424245"/>
                </a:solidFill>
                <a:latin typeface="Calibri" pitchFamily="34" charset="0"/>
                <a:ea typeface="Calibri" pitchFamily="34" charset="-122"/>
                <a:cs typeface="Calibri" pitchFamily="34" charset="-120"/>
              </a:rPr>
              <a:t>ESP32 for the detector, the guard, and cost measurement</a:t>
            </a:r>
            <a:endParaRPr lang="en-US" sz="1450" dirty="0"/>
          </a:p>
          <a:p>
            <a:pPr indent="0" marL="0">
              <a:lnSpc>
                <a:spcPct val="106000"/>
              </a:lnSpc>
              <a:buNone/>
            </a:pPr>
            <a:r>
              <a:rPr lang="en-US" sz="1450" b="1" dirty="0">
                <a:solidFill>
                  <a:srgbClr val="1D1D1F"/>
                </a:solidFill>
                <a:latin typeface="Calibri" pitchFamily="34" charset="0"/>
                <a:ea typeface="Calibri" pitchFamily="34" charset="-122"/>
                <a:cs typeface="Calibri" pitchFamily="34" charset="-120"/>
              </a:rPr>
              <a:t>Software</a:t>
            </a:r>
            <a:endParaRPr lang="en-US" sz="1450" dirty="0"/>
          </a:p>
          <a:p>
            <a:pPr indent="0" marL="0">
              <a:lnSpc>
                <a:spcPct val="106000"/>
              </a:lnSpc>
              <a:spcAft>
                <a:spcPts val="1000"/>
              </a:spcAft>
              <a:buNone/>
            </a:pPr>
            <a:r>
              <a:rPr lang="en-US" sz="1450" dirty="0">
                <a:solidFill>
                  <a:srgbClr val="424245"/>
                </a:solidFill>
                <a:latin typeface="Calibri" pitchFamily="34" charset="0"/>
                <a:ea typeface="Calibri" pitchFamily="34" charset="-122"/>
                <a:cs typeface="Calibri" pitchFamily="34" charset="-120"/>
              </a:rPr>
              <a:t>Python, NumPy, river (ADWIN), ESP-IDF</a:t>
            </a:r>
            <a:endParaRPr lang="en-US" sz="1450" dirty="0"/>
          </a:p>
          <a:p>
            <a:pPr indent="0" marL="0">
              <a:lnSpc>
                <a:spcPct val="106000"/>
              </a:lnSpc>
              <a:buNone/>
            </a:pPr>
            <a:r>
              <a:rPr lang="en-US" sz="1450" b="1" dirty="0">
                <a:solidFill>
                  <a:srgbClr val="1D1D1F"/>
                </a:solidFill>
                <a:latin typeface="Calibri" pitchFamily="34" charset="0"/>
                <a:ea typeface="Calibri" pitchFamily="34" charset="-122"/>
                <a:cs typeface="Calibri" pitchFamily="34" charset="-120"/>
              </a:rPr>
              <a:t>Data</a:t>
            </a:r>
            <a:endParaRPr lang="en-US" sz="1450" dirty="0"/>
          </a:p>
          <a:p>
            <a:pPr indent="0" marL="0">
              <a:lnSpc>
                <a:spcPct val="106000"/>
              </a:lnSpc>
              <a:buNone/>
            </a:pPr>
            <a:r>
              <a:rPr lang="en-US" sz="1450" dirty="0">
                <a:solidFill>
                  <a:srgbClr val="424245"/>
                </a:solidFill>
                <a:latin typeface="Calibri" pitchFamily="34" charset="0"/>
                <a:ea typeface="Calibri" pitchFamily="34" charset="-122"/>
                <a:cs typeface="Calibri" pitchFamily="34" charset="-120"/>
              </a:rPr>
              <a:t>N-BaIoT [2] with real per-device rates, CICIoT2023 [11], and CESNET-TimeSeries24 [16] for real benign drift</a:t>
            </a:r>
            <a:endParaRPr lang="en-US" sz="1450" dirty="0"/>
          </a:p>
        </p:txBody>
      </p:sp>
      <p:sp>
        <p:nvSpPr>
          <p:cNvPr id="8" name="Shape 6"/>
          <p:cNvSpPr/>
          <p:nvPr/>
        </p:nvSpPr>
        <p:spPr>
          <a:xfrm>
            <a:off x="6080760" y="2194560"/>
            <a:ext cx="5303520" cy="3886200"/>
          </a:xfrm>
          <a:prstGeom prst="roundRect">
            <a:avLst>
              <a:gd name="adj" fmla="val 2824"/>
            </a:avLst>
          </a:prstGeom>
          <a:solidFill>
            <a:srgbClr val="F5F5F7"/>
          </a:solidFill>
          <a:ln/>
        </p:spPr>
      </p:sp>
      <p:sp>
        <p:nvSpPr>
          <p:cNvPr id="9" name="Text 7"/>
          <p:cNvSpPr txBox="1"/>
          <p:nvPr/>
        </p:nvSpPr>
        <p:spPr>
          <a:xfrm>
            <a:off x="6400800" y="2395728"/>
            <a:ext cx="4663440" cy="365760"/>
          </a:xfrm>
          <a:prstGeom prst="rect">
            <a:avLst/>
          </a:prstGeom>
          <a:noFill/>
          <a:ln/>
        </p:spPr>
        <p:txBody>
          <a:bodyPr wrap="square" lIns="0" tIns="0" rIns="0" bIns="0" rtlCol="0" anchor="ctr"/>
          <a:lstStyle/>
          <a:p>
            <a:pPr indent="0" marL="0">
              <a:buNone/>
            </a:pPr>
            <a:r>
              <a:rPr lang="en-US" sz="1700" b="1" dirty="0">
                <a:solidFill>
                  <a:srgbClr val="0071E3"/>
                </a:solidFill>
                <a:latin typeface="Calibri" pitchFamily="34" charset="0"/>
                <a:ea typeface="Calibri" pitchFamily="34" charset="-122"/>
                <a:cs typeface="Calibri" pitchFamily="34" charset="-120"/>
              </a:rPr>
              <a:t>Baselines</a:t>
            </a:r>
            <a:endParaRPr lang="en-US" sz="1700" dirty="0"/>
          </a:p>
        </p:txBody>
      </p:sp>
      <p:sp>
        <p:nvSpPr>
          <p:cNvPr id="10" name="Text 8"/>
          <p:cNvSpPr txBox="1"/>
          <p:nvPr/>
        </p:nvSpPr>
        <p:spPr>
          <a:xfrm>
            <a:off x="6400800" y="2880360"/>
            <a:ext cx="4663440" cy="566928"/>
          </a:xfrm>
          <a:prstGeom prst="rect">
            <a:avLst/>
          </a:prstGeom>
          <a:noFill/>
          <a:ln/>
        </p:spPr>
        <p:txBody>
          <a:bodyPr wrap="square" lIns="0" tIns="0" rIns="0" bIns="0" rtlCol="0" anchor="t"/>
          <a:lstStyle/>
          <a:p>
            <a:pPr indent="0" marL="0">
              <a:buNone/>
            </a:pPr>
            <a:r>
              <a:rPr lang="en-US" sz="1450" b="1" dirty="0">
                <a:solidFill>
                  <a:srgbClr val="1D1D1F"/>
                </a:solidFill>
                <a:latin typeface="Calibri" pitchFamily="34" charset="0"/>
                <a:ea typeface="Calibri" pitchFamily="34" charset="-122"/>
                <a:cs typeface="Calibri" pitchFamily="34" charset="-120"/>
              </a:rPr>
              <a:t>Static detector</a:t>
            </a:r>
            <a:endParaRPr lang="en-US" sz="1450" dirty="0"/>
          </a:p>
          <a:p>
            <a:pPr indent="0" marL="0">
              <a:buNone/>
            </a:pPr>
            <a:r>
              <a:rPr lang="en-US" sz="1300" dirty="0">
                <a:solidFill>
                  <a:srgbClr val="86868B"/>
                </a:solidFill>
                <a:latin typeface="Calibri" pitchFamily="34" charset="0"/>
                <a:ea typeface="Calibri" pitchFamily="34" charset="-122"/>
                <a:cs typeface="Calibri" pitchFamily="34" charset="-120"/>
              </a:rPr>
              <a:t>never adapts, safe but stale</a:t>
            </a:r>
            <a:endParaRPr lang="en-US" sz="1450" dirty="0"/>
          </a:p>
        </p:txBody>
      </p:sp>
      <p:sp>
        <p:nvSpPr>
          <p:cNvPr id="11" name="Text 9"/>
          <p:cNvSpPr txBox="1"/>
          <p:nvPr/>
        </p:nvSpPr>
        <p:spPr>
          <a:xfrm>
            <a:off x="6400800" y="3483864"/>
            <a:ext cx="4663440" cy="566928"/>
          </a:xfrm>
          <a:prstGeom prst="rect">
            <a:avLst/>
          </a:prstGeom>
          <a:noFill/>
          <a:ln/>
        </p:spPr>
        <p:txBody>
          <a:bodyPr wrap="square" lIns="0" tIns="0" rIns="0" bIns="0" rtlCol="0" anchor="t"/>
          <a:lstStyle/>
          <a:p>
            <a:pPr indent="0" marL="0">
              <a:buNone/>
            </a:pPr>
            <a:r>
              <a:rPr lang="en-US" sz="1450" b="1" dirty="0">
                <a:solidFill>
                  <a:srgbClr val="1D1D1F"/>
                </a:solidFill>
                <a:latin typeface="Calibri" pitchFamily="34" charset="0"/>
                <a:ea typeface="Calibri" pitchFamily="34" charset="-122"/>
                <a:cs typeface="Calibri" pitchFamily="34" charset="-120"/>
              </a:rPr>
              <a:t>Naive adaptive [4]</a:t>
            </a:r>
            <a:endParaRPr lang="en-US" sz="1450" dirty="0"/>
          </a:p>
          <a:p>
            <a:pPr indent="0" marL="0">
              <a:buNone/>
            </a:pPr>
            <a:r>
              <a:rPr lang="en-US" sz="1300" dirty="0">
                <a:solidFill>
                  <a:srgbClr val="86868B"/>
                </a:solidFill>
                <a:latin typeface="Calibri" pitchFamily="34" charset="0"/>
                <a:ea typeface="Calibri" pitchFamily="34" charset="-122"/>
                <a:cs typeface="Calibri" pitchFamily="34" charset="-120"/>
              </a:rPr>
              <a:t>commits every update</a:t>
            </a:r>
            <a:endParaRPr lang="en-US" sz="1450" dirty="0"/>
          </a:p>
        </p:txBody>
      </p:sp>
      <p:sp>
        <p:nvSpPr>
          <p:cNvPr id="12" name="Text 10"/>
          <p:cNvSpPr txBox="1"/>
          <p:nvPr/>
        </p:nvSpPr>
        <p:spPr>
          <a:xfrm>
            <a:off x="6400800" y="4087368"/>
            <a:ext cx="4663440" cy="566928"/>
          </a:xfrm>
          <a:prstGeom prst="rect">
            <a:avLst/>
          </a:prstGeom>
          <a:noFill/>
          <a:ln/>
        </p:spPr>
        <p:txBody>
          <a:bodyPr wrap="square" lIns="0" tIns="0" rIns="0" bIns="0" rtlCol="0" anchor="t"/>
          <a:lstStyle/>
          <a:p>
            <a:pPr indent="0" marL="0">
              <a:buNone/>
            </a:pPr>
            <a:r>
              <a:rPr lang="en-US" sz="1450" b="1" dirty="0">
                <a:solidFill>
                  <a:srgbClr val="1D1D1F"/>
                </a:solidFill>
                <a:latin typeface="Calibri" pitchFamily="34" charset="0"/>
                <a:ea typeface="Calibri" pitchFamily="34" charset="-122"/>
                <a:cs typeface="Calibri" pitchFamily="34" charset="-120"/>
              </a:rPr>
              <a:t>Freeze budget</a:t>
            </a:r>
            <a:endParaRPr lang="en-US" sz="1450" dirty="0"/>
          </a:p>
          <a:p>
            <a:pPr indent="0" marL="0">
              <a:buNone/>
            </a:pPr>
            <a:r>
              <a:rPr lang="en-US" sz="1300" dirty="0">
                <a:solidFill>
                  <a:srgbClr val="86868B"/>
                </a:solidFill>
                <a:latin typeface="Calibri" pitchFamily="34" charset="0"/>
                <a:ea typeface="Calibri" pitchFamily="34" charset="-122"/>
                <a:cs typeface="Calibri" pitchFamily="34" charset="-120"/>
              </a:rPr>
              <a:t>stops learning once drift looks too large</a:t>
            </a:r>
            <a:endParaRPr lang="en-US" sz="1450" dirty="0"/>
          </a:p>
        </p:txBody>
      </p:sp>
      <p:sp>
        <p:nvSpPr>
          <p:cNvPr id="13" name="Text 11"/>
          <p:cNvSpPr txBox="1"/>
          <p:nvPr/>
        </p:nvSpPr>
        <p:spPr>
          <a:xfrm>
            <a:off x="6400800" y="4690872"/>
            <a:ext cx="4663440" cy="566928"/>
          </a:xfrm>
          <a:prstGeom prst="rect">
            <a:avLst/>
          </a:prstGeom>
          <a:noFill/>
          <a:ln/>
        </p:spPr>
        <p:txBody>
          <a:bodyPr wrap="square" lIns="0" tIns="0" rIns="0" bIns="0" rtlCol="0" anchor="t"/>
          <a:lstStyle/>
          <a:p>
            <a:pPr indent="0" marL="0">
              <a:buNone/>
            </a:pPr>
            <a:r>
              <a:rPr lang="en-US" sz="1450" b="1" dirty="0">
                <a:solidFill>
                  <a:srgbClr val="1D1D1F"/>
                </a:solidFill>
                <a:latin typeface="Calibri" pitchFamily="34" charset="0"/>
                <a:ea typeface="Calibri" pitchFamily="34" charset="-122"/>
                <a:cs typeface="Calibri" pitchFamily="34" charset="-120"/>
              </a:rPr>
              <a:t>Consistency gate [8]</a:t>
            </a:r>
            <a:endParaRPr lang="en-US" sz="1450" dirty="0"/>
          </a:p>
          <a:p>
            <a:pPr indent="0" marL="0">
              <a:buNone/>
            </a:pPr>
            <a:r>
              <a:rPr lang="en-US" sz="1300" dirty="0">
                <a:solidFill>
                  <a:srgbClr val="86868B"/>
                </a:solidFill>
                <a:latin typeface="Calibri" pitchFamily="34" charset="0"/>
                <a:ea typeface="Calibri" pitchFamily="34" charset="-122"/>
                <a:cs typeface="Calibri" pitchFamily="34" charset="-120"/>
              </a:rPr>
              <a:t>Krum-style check over its own history</a:t>
            </a:r>
            <a:endParaRPr lang="en-US" sz="1450" dirty="0"/>
          </a:p>
        </p:txBody>
      </p:sp>
      <p:sp>
        <p:nvSpPr>
          <p:cNvPr id="14" name="Text 12"/>
          <p:cNvSpPr txBox="1"/>
          <p:nvPr/>
        </p:nvSpPr>
        <p:spPr>
          <a:xfrm>
            <a:off x="6400800" y="5294376"/>
            <a:ext cx="4663440" cy="566928"/>
          </a:xfrm>
          <a:prstGeom prst="rect">
            <a:avLst/>
          </a:prstGeom>
          <a:noFill/>
          <a:ln/>
        </p:spPr>
        <p:txBody>
          <a:bodyPr wrap="square" lIns="0" tIns="0" rIns="0" bIns="0" rtlCol="0" anchor="t"/>
          <a:lstStyle/>
          <a:p>
            <a:pPr indent="0" marL="0">
              <a:buNone/>
            </a:pPr>
            <a:r>
              <a:rPr lang="en-US" sz="1450" b="1" dirty="0">
                <a:solidFill>
                  <a:srgbClr val="1D1D1F"/>
                </a:solidFill>
                <a:latin typeface="Calibri" pitchFamily="34" charset="0"/>
                <a:ea typeface="Calibri" pitchFamily="34" charset="-122"/>
                <a:cs typeface="Calibri" pitchFamily="34" charset="-120"/>
              </a:rPr>
              <a:t>ANTIDOTE robust PCA [13]</a:t>
            </a:r>
            <a:endParaRPr lang="en-US" sz="1450" dirty="0"/>
          </a:p>
          <a:p>
            <a:pPr indent="0" marL="0">
              <a:buNone/>
            </a:pPr>
            <a:r>
              <a:rPr lang="en-US" sz="1300" dirty="0">
                <a:solidFill>
                  <a:srgbClr val="86868B"/>
                </a:solidFill>
                <a:latin typeface="Calibri" pitchFamily="34" charset="0"/>
                <a:ea typeface="Calibri" pitchFamily="34" charset="-122"/>
                <a:cs typeface="Calibri" pitchFamily="34" charset="-120"/>
              </a:rPr>
              <a:t>the classic server-side defense</a:t>
            </a:r>
            <a:endParaRPr lang="en-US" sz="1450" dirty="0"/>
          </a:p>
        </p:txBody>
      </p:sp>
      <p:sp>
        <p:nvSpPr>
          <p:cNvPr id="15" name="Text 13"/>
          <p:cNvSpPr txBox="1"/>
          <p:nvPr/>
        </p:nvSpPr>
        <p:spPr>
          <a:xfrm>
            <a:off x="822960" y="6327648"/>
            <a:ext cx="10515600" cy="274320"/>
          </a:xfrm>
          <a:prstGeom prst="rect">
            <a:avLst/>
          </a:prstGeom>
          <a:noFill/>
          <a:ln/>
        </p:spPr>
        <p:txBody>
          <a:bodyPr wrap="square" lIns="0" tIns="0" rIns="0" bIns="0" rtlCol="0" anchor="ctr"/>
          <a:lstStyle/>
          <a:p>
            <a:pPr indent="0" marL="0">
              <a:buNone/>
            </a:pPr>
            <a:r>
              <a:rPr lang="en-US" sz="1000" i="1" dirty="0">
                <a:solidFill>
                  <a:srgbClr val="86868B"/>
                </a:solidFill>
                <a:latin typeface="Calibri" pitchFamily="34" charset="0"/>
                <a:ea typeface="Calibri" pitchFamily="34" charset="-122"/>
                <a:cs typeface="Calibri" pitchFamily="34" charset="-120"/>
              </a:rPr>
              <a:t>[2] IEEE Pervasive Computing 2018  ·  [8] NeurIPS 2017  ·  [11] MDPI Sensors 2023  ·  [13] ACM IMC 2009  ·  [16] Scientific Data 2025</a:t>
            </a:r>
            <a:endParaRPr lang="en-US" sz="1000" dirty="0"/>
          </a:p>
        </p:txBody>
      </p:sp>
      <p:sp>
        <p:nvSpPr>
          <p:cNvPr id="16" name="Text 14"/>
          <p:cNvSpPr txBox="1"/>
          <p:nvPr/>
        </p:nvSpPr>
        <p:spPr>
          <a:xfrm>
            <a:off x="11064240" y="6327648"/>
            <a:ext cx="365760" cy="274320"/>
          </a:xfrm>
          <a:prstGeom prst="rect">
            <a:avLst/>
          </a:prstGeom>
          <a:noFill/>
          <a:ln/>
        </p:spPr>
        <p:txBody>
          <a:bodyPr wrap="square" lIns="0" tIns="0" rIns="0" bIns="0" rtlCol="0" anchor="ctr"/>
          <a:lstStyle/>
          <a:p>
            <a:pPr algn="r" indent="0" marL="0">
              <a:buNone/>
            </a:pPr>
            <a:r>
              <a:rPr lang="en-US" sz="1000" dirty="0">
                <a:solidFill>
                  <a:srgbClr val="C7C7CC"/>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2960" y="772668"/>
            <a:ext cx="100584" cy="100584"/>
          </a:xfrm>
          <a:prstGeom prst="ellipse">
            <a:avLst/>
          </a:prstGeom>
          <a:solidFill>
            <a:srgbClr val="0071E3"/>
          </a:solidFill>
          <a:ln/>
        </p:spPr>
      </p:sp>
      <p:sp>
        <p:nvSpPr>
          <p:cNvPr id="3" name="Text 1"/>
          <p:cNvSpPr txBox="1"/>
          <p:nvPr/>
        </p:nvSpPr>
        <p:spPr>
          <a:xfrm>
            <a:off x="1024128" y="676656"/>
            <a:ext cx="9144000" cy="292608"/>
          </a:xfrm>
          <a:prstGeom prst="rect">
            <a:avLst/>
          </a:prstGeom>
          <a:noFill/>
          <a:ln/>
        </p:spPr>
        <p:txBody>
          <a:bodyPr wrap="square" lIns="0" tIns="0" rIns="0" bIns="0" rtlCol="0" anchor="ctr"/>
          <a:lstStyle/>
          <a:p>
            <a:pPr indent="0" marL="0">
              <a:buNone/>
            </a:pPr>
            <a:r>
              <a:rPr lang="en-US" sz="1250" b="1" spc="220" kern="0" dirty="0">
                <a:solidFill>
                  <a:srgbClr val="0071E3"/>
                </a:solidFill>
                <a:latin typeface="Calibri" pitchFamily="34" charset="0"/>
                <a:ea typeface="Calibri" pitchFamily="34" charset="-122"/>
                <a:cs typeface="Calibri" pitchFamily="34" charset="-120"/>
              </a:rPr>
              <a:t>EVALUATION METRICS  ·  PRELIMINARY RESULT</a:t>
            </a:r>
            <a:endParaRPr lang="en-US" sz="1250" dirty="0"/>
          </a:p>
        </p:txBody>
      </p:sp>
      <p:sp>
        <p:nvSpPr>
          <p:cNvPr id="4" name="Text 2"/>
          <p:cNvSpPr txBox="1"/>
          <p:nvPr/>
        </p:nvSpPr>
        <p:spPr>
          <a:xfrm>
            <a:off x="822960" y="1188720"/>
            <a:ext cx="10515600" cy="868680"/>
          </a:xfrm>
          <a:prstGeom prst="rect">
            <a:avLst/>
          </a:prstGeom>
          <a:noFill/>
          <a:ln/>
        </p:spPr>
        <p:txBody>
          <a:bodyPr wrap="square" lIns="0" tIns="0" rIns="0" bIns="0" rtlCol="0" anchor="t"/>
          <a:lstStyle/>
          <a:p>
            <a:pPr indent="0" marL="0">
              <a:lnSpc>
                <a:spcPct val="103000"/>
              </a:lnSpc>
              <a:buNone/>
            </a:pPr>
            <a:r>
              <a:rPr lang="en-US" sz="2800" b="1" dirty="0">
                <a:solidFill>
                  <a:srgbClr val="1D1D1F"/>
                </a:solidFill>
                <a:latin typeface="Calibri" pitchFamily="34" charset="0"/>
                <a:ea typeface="Calibri" pitchFamily="34" charset="-122"/>
                <a:cs typeface="Calibri" pitchFamily="34" charset="-120"/>
              </a:rPr>
              <a:t>We already tested the idea in simulation.</a:t>
            </a:r>
            <a:endParaRPr lang="en-US" sz="2800" dirty="0"/>
          </a:p>
        </p:txBody>
      </p:sp>
      <p:pic>
        <p:nvPicPr>
          <p:cNvPr id="5" name="Image 0" descr="/Users/rishitkamboj/Collegeactual/Study/SEM5/iot/research project/brainstorming/experiments/fig_slide.png">    </p:cNvPr>
          <p:cNvPicPr>
            <a:picLocks noChangeAspect="1"/>
          </p:cNvPicPr>
          <p:nvPr/>
        </p:nvPicPr>
        <p:blipFill>
          <a:blip r:embed="rId1"/>
          <a:stretch>
            <a:fillRect/>
          </a:stretch>
        </p:blipFill>
        <p:spPr>
          <a:xfrm>
            <a:off x="822960" y="2011680"/>
            <a:ext cx="10561320" cy="3236976"/>
          </a:xfrm>
          <a:prstGeom prst="rect">
            <a:avLst/>
          </a:prstGeom>
        </p:spPr>
      </p:pic>
      <p:sp>
        <p:nvSpPr>
          <p:cNvPr id="6" name="Text 3"/>
          <p:cNvSpPr txBox="1"/>
          <p:nvPr/>
        </p:nvSpPr>
        <p:spPr>
          <a:xfrm>
            <a:off x="822960" y="5303520"/>
            <a:ext cx="10561320" cy="502920"/>
          </a:xfrm>
          <a:prstGeom prst="rect">
            <a:avLst/>
          </a:prstGeom>
          <a:noFill/>
          <a:ln/>
        </p:spPr>
        <p:txBody>
          <a:bodyPr wrap="square" lIns="0" tIns="0" rIns="0" bIns="0" rtlCol="0" anchor="t"/>
          <a:lstStyle/>
          <a:p>
            <a:pPr indent="0" marL="0">
              <a:buNone/>
            </a:pPr>
            <a:r>
              <a:rPr lang="en-US" sz="1250" dirty="0">
                <a:solidFill>
                  <a:srgbClr val="424245"/>
                </a:solidFill>
                <a:latin typeface="Calibri" pitchFamily="34" charset="0"/>
                <a:ea typeface="Calibri" pitchFamily="34" charset="-122"/>
                <a:cs typeface="Calibri" pitchFamily="34" charset="-120"/>
              </a:rPr>
              <a:t>Synthetic data, 5 seeds, attacker at 40% of traffic. Grey band = honest drift, dashed line = poisoning starts. Naive adaptation loses the attack in 24 cycles; freezing defenses keep it but drown in false alarms; ours keeps both.</a:t>
            </a:r>
            <a:endParaRPr lang="en-US" sz="1250" dirty="0"/>
          </a:p>
        </p:txBody>
      </p:sp>
      <p:sp>
        <p:nvSpPr>
          <p:cNvPr id="7" name="Text 4"/>
          <p:cNvSpPr txBox="1"/>
          <p:nvPr/>
        </p:nvSpPr>
        <p:spPr>
          <a:xfrm>
            <a:off x="822960" y="5870448"/>
            <a:ext cx="10561320" cy="365760"/>
          </a:xfrm>
          <a:prstGeom prst="rect">
            <a:avLst/>
          </a:prstGeom>
          <a:noFill/>
          <a:ln/>
        </p:spPr>
        <p:txBody>
          <a:bodyPr wrap="square" lIns="0" tIns="0" rIns="0" bIns="0" rtlCol="0" anchor="ctr"/>
          <a:lstStyle/>
          <a:p>
            <a:pPr indent="0" marL="0">
              <a:buNone/>
            </a:pPr>
            <a:r>
              <a:rPr lang="en-US" sz="1300" b="1" dirty="0">
                <a:solidFill>
                  <a:srgbClr val="1D1D1F"/>
                </a:solidFill>
                <a:latin typeface="Calibri" pitchFamily="34" charset="0"/>
                <a:ea typeface="Calibri" pitchFamily="34" charset="-122"/>
                <a:cs typeface="Calibri" pitchFamily="34" charset="-120"/>
              </a:rPr>
              <a:t>Metrics:  </a:t>
            </a:r>
            <a:pPr indent="0" marL="0">
              <a:buNone/>
            </a:pPr>
            <a:r>
              <a:rPr lang="en-US" sz="1300" dirty="0">
                <a:solidFill>
                  <a:srgbClr val="86868B"/>
                </a:solidFill>
                <a:latin typeface="Calibri" pitchFamily="34" charset="0"/>
                <a:ea typeface="Calibri" pitchFamily="34" charset="-122"/>
                <a:cs typeface="Calibri" pitchFamily="34" charset="-120"/>
              </a:rPr>
              <a:t>attack recall and cycles to compromise  ·  false-positive rate under drift  ·  F1, AUROC  ·  ESP32 RAM, latency, energy</a:t>
            </a:r>
            <a:endParaRPr lang="en-US" sz="1300" dirty="0"/>
          </a:p>
        </p:txBody>
      </p:sp>
      <p:sp>
        <p:nvSpPr>
          <p:cNvPr id="8" name="Text 5"/>
          <p:cNvSpPr txBox="1"/>
          <p:nvPr/>
        </p:nvSpPr>
        <p:spPr>
          <a:xfrm>
            <a:off x="11064240" y="6327648"/>
            <a:ext cx="365760" cy="274320"/>
          </a:xfrm>
          <a:prstGeom prst="rect">
            <a:avLst/>
          </a:prstGeom>
          <a:noFill/>
          <a:ln/>
        </p:spPr>
        <p:txBody>
          <a:bodyPr wrap="square" lIns="0" tIns="0" rIns="0" bIns="0" rtlCol="0" anchor="ctr"/>
          <a:lstStyle/>
          <a:p>
            <a:pPr algn="r" indent="0" marL="0">
              <a:buNone/>
            </a:pPr>
            <a:r>
              <a:rPr lang="en-US" sz="1000" dirty="0">
                <a:solidFill>
                  <a:srgbClr val="C7C7CC"/>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D1D1F"/>
        </a:solidFill>
      </p:bgPr>
    </p:bg>
    <p:spTree>
      <p:nvGrpSpPr>
        <p:cNvPr id="1" name=""/>
        <p:cNvGrpSpPr/>
        <p:nvPr/>
      </p:nvGrpSpPr>
      <p:grpSpPr>
        <a:xfrm>
          <a:off x="0" y="0"/>
          <a:ext cx="0" cy="0"/>
          <a:chOff x="0" y="0"/>
          <a:chExt cx="0" cy="0"/>
        </a:xfrm>
      </p:grpSpPr>
      <p:sp>
        <p:nvSpPr>
          <p:cNvPr id="2" name="Shape 0"/>
          <p:cNvSpPr/>
          <p:nvPr/>
        </p:nvSpPr>
        <p:spPr>
          <a:xfrm>
            <a:off x="822960" y="818388"/>
            <a:ext cx="100584" cy="100584"/>
          </a:xfrm>
          <a:prstGeom prst="ellipse">
            <a:avLst/>
          </a:prstGeom>
          <a:solidFill>
            <a:srgbClr val="0071E3"/>
          </a:solidFill>
          <a:ln/>
        </p:spPr>
      </p:sp>
      <p:sp>
        <p:nvSpPr>
          <p:cNvPr id="3" name="Text 1"/>
          <p:cNvSpPr txBox="1"/>
          <p:nvPr/>
        </p:nvSpPr>
        <p:spPr>
          <a:xfrm>
            <a:off x="1024128" y="722376"/>
            <a:ext cx="9144000" cy="292608"/>
          </a:xfrm>
          <a:prstGeom prst="rect">
            <a:avLst/>
          </a:prstGeom>
          <a:noFill/>
          <a:ln/>
        </p:spPr>
        <p:txBody>
          <a:bodyPr wrap="square" lIns="0" tIns="0" rIns="0" bIns="0" rtlCol="0" anchor="ctr"/>
          <a:lstStyle/>
          <a:p>
            <a:pPr indent="0" marL="0">
              <a:buNone/>
            </a:pPr>
            <a:r>
              <a:rPr lang="en-US" sz="1250" b="1" spc="220" kern="0" dirty="0">
                <a:solidFill>
                  <a:srgbClr val="0071E3"/>
                </a:solidFill>
                <a:latin typeface="Calibri" pitchFamily="34" charset="0"/>
                <a:ea typeface="Calibri" pitchFamily="34" charset="-122"/>
                <a:cs typeface="Calibri" pitchFamily="34" charset="-120"/>
              </a:rPr>
              <a:t>EXPECTED CONTRIBUTION</a:t>
            </a:r>
            <a:endParaRPr lang="en-US" sz="1250" dirty="0"/>
          </a:p>
        </p:txBody>
      </p:sp>
      <p:sp>
        <p:nvSpPr>
          <p:cNvPr id="4" name="Text 2"/>
          <p:cNvSpPr txBox="1"/>
          <p:nvPr/>
        </p:nvSpPr>
        <p:spPr>
          <a:xfrm>
            <a:off x="822960" y="1371600"/>
            <a:ext cx="822960" cy="457200"/>
          </a:xfrm>
          <a:prstGeom prst="rect">
            <a:avLst/>
          </a:prstGeom>
          <a:noFill/>
          <a:ln/>
        </p:spPr>
        <p:txBody>
          <a:bodyPr wrap="square" lIns="0" tIns="0" rIns="0" bIns="0" rtlCol="0" anchor="ctr"/>
          <a:lstStyle/>
          <a:p>
            <a:pPr indent="0" marL="0">
              <a:buNone/>
            </a:pPr>
            <a:r>
              <a:rPr lang="en-US" sz="2200" b="1" dirty="0">
                <a:solidFill>
                  <a:srgbClr val="0071E3"/>
                </a:solidFill>
                <a:latin typeface="Calibri" pitchFamily="34" charset="0"/>
                <a:ea typeface="Calibri" pitchFamily="34" charset="-122"/>
                <a:cs typeface="Calibri" pitchFamily="34" charset="-120"/>
              </a:rPr>
              <a:t>01</a:t>
            </a:r>
            <a:endParaRPr lang="en-US" sz="2200" dirty="0"/>
          </a:p>
        </p:txBody>
      </p:sp>
      <p:sp>
        <p:nvSpPr>
          <p:cNvPr id="5" name="Text 3"/>
          <p:cNvSpPr txBox="1"/>
          <p:nvPr/>
        </p:nvSpPr>
        <p:spPr>
          <a:xfrm>
            <a:off x="1737360" y="1371600"/>
            <a:ext cx="9509760" cy="41148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Threat-Orthogonal Adaptation</a:t>
            </a:r>
            <a:endParaRPr lang="en-US" sz="2000" dirty="0"/>
          </a:p>
        </p:txBody>
      </p:sp>
      <p:sp>
        <p:nvSpPr>
          <p:cNvPr id="6" name="Text 4"/>
          <p:cNvSpPr txBox="1"/>
          <p:nvPr/>
        </p:nvSpPr>
        <p:spPr>
          <a:xfrm>
            <a:off x="1737360" y="1783080"/>
            <a:ext cx="9509760" cy="640080"/>
          </a:xfrm>
          <a:prstGeom prst="rect">
            <a:avLst/>
          </a:prstGeom>
          <a:noFill/>
          <a:ln/>
        </p:spPr>
        <p:txBody>
          <a:bodyPr wrap="square" lIns="0" tIns="0" rIns="0" bIns="0" rtlCol="0" anchor="t"/>
          <a:lstStyle/>
          <a:p>
            <a:pPr indent="0" marL="0">
              <a:lnSpc>
                <a:spcPct val="108000"/>
              </a:lnSpc>
              <a:buNone/>
            </a:pPr>
            <a:r>
              <a:rPr lang="en-US" sz="1450" dirty="0">
                <a:solidFill>
                  <a:srgbClr val="C7C7CC"/>
                </a:solidFill>
                <a:latin typeface="Calibri" pitchFamily="34" charset="0"/>
                <a:ea typeface="Calibri" pitchFamily="34" charset="-122"/>
                <a:cs typeface="Calibri" pitchFamily="34" charset="-120"/>
              </a:rPr>
              <a:t>An on-device update rule that never freezes, rations only threat-aligned drift, and gives a provable minimum number of cycles before a known attack can be hidden.</a:t>
            </a:r>
            <a:endParaRPr lang="en-US" sz="1450" dirty="0"/>
          </a:p>
        </p:txBody>
      </p:sp>
      <p:sp>
        <p:nvSpPr>
          <p:cNvPr id="7" name="Text 5"/>
          <p:cNvSpPr txBox="1"/>
          <p:nvPr/>
        </p:nvSpPr>
        <p:spPr>
          <a:xfrm>
            <a:off x="822960" y="2606040"/>
            <a:ext cx="822960" cy="457200"/>
          </a:xfrm>
          <a:prstGeom prst="rect">
            <a:avLst/>
          </a:prstGeom>
          <a:noFill/>
          <a:ln/>
        </p:spPr>
        <p:txBody>
          <a:bodyPr wrap="square" lIns="0" tIns="0" rIns="0" bIns="0" rtlCol="0" anchor="ctr"/>
          <a:lstStyle/>
          <a:p>
            <a:pPr indent="0" marL="0">
              <a:buNone/>
            </a:pPr>
            <a:r>
              <a:rPr lang="en-US" sz="2200" b="1" dirty="0">
                <a:solidFill>
                  <a:srgbClr val="0071E3"/>
                </a:solidFill>
                <a:latin typeface="Calibri" pitchFamily="34" charset="0"/>
                <a:ea typeface="Calibri" pitchFamily="34" charset="-122"/>
                <a:cs typeface="Calibri" pitchFamily="34" charset="-120"/>
              </a:rPr>
              <a:t>02</a:t>
            </a:r>
            <a:endParaRPr lang="en-US" sz="2200" dirty="0"/>
          </a:p>
        </p:txBody>
      </p:sp>
      <p:sp>
        <p:nvSpPr>
          <p:cNvPr id="8" name="Text 6"/>
          <p:cNvSpPr txBox="1"/>
          <p:nvPr/>
        </p:nvSpPr>
        <p:spPr>
          <a:xfrm>
            <a:off x="1737360" y="2606040"/>
            <a:ext cx="9509760" cy="41148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The freeze attack</a:t>
            </a:r>
            <a:endParaRPr lang="en-US" sz="2000" dirty="0"/>
          </a:p>
        </p:txBody>
      </p:sp>
      <p:sp>
        <p:nvSpPr>
          <p:cNvPr id="9" name="Text 7"/>
          <p:cNvSpPr txBox="1"/>
          <p:nvPr/>
        </p:nvSpPr>
        <p:spPr>
          <a:xfrm>
            <a:off x="1737360" y="3017520"/>
            <a:ext cx="9509760" cy="640080"/>
          </a:xfrm>
          <a:prstGeom prst="rect">
            <a:avLst/>
          </a:prstGeom>
          <a:noFill/>
          <a:ln/>
        </p:spPr>
        <p:txBody>
          <a:bodyPr wrap="square" lIns="0" tIns="0" rIns="0" bIns="0" rtlCol="0" anchor="t"/>
          <a:lstStyle/>
          <a:p>
            <a:pPr indent="0" marL="0">
              <a:lnSpc>
                <a:spcPct val="108000"/>
              </a:lnSpc>
              <a:buNone/>
            </a:pPr>
            <a:r>
              <a:rPr lang="en-US" sz="1450" dirty="0">
                <a:solidFill>
                  <a:srgbClr val="C7C7CC"/>
                </a:solidFill>
                <a:latin typeface="Calibri" pitchFamily="34" charset="0"/>
                <a:ea typeface="Calibri" pitchFamily="34" charset="-122"/>
                <a:cs typeface="Calibri" pitchFamily="34" charset="-120"/>
              </a:rPr>
              <a:t>A new attack on defenses that stop learning when drift looks suspicious, plus evidence that never-freezing adaptation is immune to it.</a:t>
            </a:r>
            <a:endParaRPr lang="en-US" sz="1450" dirty="0"/>
          </a:p>
        </p:txBody>
      </p:sp>
      <p:sp>
        <p:nvSpPr>
          <p:cNvPr id="10" name="Text 8"/>
          <p:cNvSpPr txBox="1"/>
          <p:nvPr/>
        </p:nvSpPr>
        <p:spPr>
          <a:xfrm>
            <a:off x="822960" y="3840480"/>
            <a:ext cx="822960" cy="457200"/>
          </a:xfrm>
          <a:prstGeom prst="rect">
            <a:avLst/>
          </a:prstGeom>
          <a:noFill/>
          <a:ln/>
        </p:spPr>
        <p:txBody>
          <a:bodyPr wrap="square" lIns="0" tIns="0" rIns="0" bIns="0" rtlCol="0" anchor="ctr"/>
          <a:lstStyle/>
          <a:p>
            <a:pPr indent="0" marL="0">
              <a:buNone/>
            </a:pPr>
            <a:r>
              <a:rPr lang="en-US" sz="2200" b="1" dirty="0">
                <a:solidFill>
                  <a:srgbClr val="0071E3"/>
                </a:solidFill>
                <a:latin typeface="Calibri" pitchFamily="34" charset="0"/>
                <a:ea typeface="Calibri" pitchFamily="34" charset="-122"/>
                <a:cs typeface="Calibri" pitchFamily="34" charset="-120"/>
              </a:rPr>
              <a:t>03</a:t>
            </a:r>
            <a:endParaRPr lang="en-US" sz="2200" dirty="0"/>
          </a:p>
        </p:txBody>
      </p:sp>
      <p:sp>
        <p:nvSpPr>
          <p:cNvPr id="11" name="Text 9"/>
          <p:cNvSpPr txBox="1"/>
          <p:nvPr/>
        </p:nvSpPr>
        <p:spPr>
          <a:xfrm>
            <a:off x="1737360" y="3840480"/>
            <a:ext cx="9509760" cy="41148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Real exposure, real cost</a:t>
            </a:r>
            <a:endParaRPr lang="en-US" sz="2000" dirty="0"/>
          </a:p>
        </p:txBody>
      </p:sp>
      <p:sp>
        <p:nvSpPr>
          <p:cNvPr id="12" name="Text 10"/>
          <p:cNvSpPr txBox="1"/>
          <p:nvPr/>
        </p:nvSpPr>
        <p:spPr>
          <a:xfrm>
            <a:off x="1737360" y="4251960"/>
            <a:ext cx="9509760" cy="640080"/>
          </a:xfrm>
          <a:prstGeom prst="rect">
            <a:avLst/>
          </a:prstGeom>
          <a:noFill/>
          <a:ln/>
        </p:spPr>
        <p:txBody>
          <a:bodyPr wrap="square" lIns="0" tIns="0" rIns="0" bIns="0" rtlCol="0" anchor="t"/>
          <a:lstStyle/>
          <a:p>
            <a:pPr indent="0" marL="0">
              <a:lnSpc>
                <a:spcPct val="108000"/>
              </a:lnSpc>
              <a:buNone/>
            </a:pPr>
            <a:r>
              <a:rPr lang="en-US" sz="1450" dirty="0">
                <a:solidFill>
                  <a:srgbClr val="C7C7CC"/>
                </a:solidFill>
                <a:latin typeface="Calibri" pitchFamily="34" charset="0"/>
                <a:ea typeface="Calibri" pitchFamily="34" charset="-122"/>
                <a:cs typeface="Calibri" pitchFamily="34" charset="-120"/>
              </a:rPr>
              <a:t>How poisonable real low-traffic IoT devices are on N-BaIoT, and what protection costs on an ESP32 in memory, latency and energy.</a:t>
            </a:r>
            <a:endParaRPr lang="en-US" sz="1450" dirty="0"/>
          </a:p>
        </p:txBody>
      </p:sp>
      <p:sp>
        <p:nvSpPr>
          <p:cNvPr id="13" name="Shape 11"/>
          <p:cNvSpPr/>
          <p:nvPr/>
        </p:nvSpPr>
        <p:spPr>
          <a:xfrm>
            <a:off x="822960" y="5303520"/>
            <a:ext cx="128016" cy="128016"/>
          </a:xfrm>
          <a:prstGeom prst="ellipse">
            <a:avLst/>
          </a:prstGeom>
          <a:solidFill>
            <a:srgbClr val="0071E3"/>
          </a:solidFill>
          <a:ln/>
        </p:spPr>
      </p:sp>
      <p:sp>
        <p:nvSpPr>
          <p:cNvPr id="14" name="Text 12"/>
          <p:cNvSpPr txBox="1"/>
          <p:nvPr/>
        </p:nvSpPr>
        <p:spPr>
          <a:xfrm>
            <a:off x="1051560" y="5193792"/>
            <a:ext cx="2267712"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Weeks 1 to 3</a:t>
            </a:r>
            <a:endParaRPr lang="en-US" sz="1400" dirty="0"/>
          </a:p>
        </p:txBody>
      </p:sp>
      <p:sp>
        <p:nvSpPr>
          <p:cNvPr id="15" name="Text 13"/>
          <p:cNvSpPr txBox="1"/>
          <p:nvPr/>
        </p:nvSpPr>
        <p:spPr>
          <a:xfrm>
            <a:off x="1051560" y="5513832"/>
            <a:ext cx="2267712" cy="457200"/>
          </a:xfrm>
          <a:prstGeom prst="rect">
            <a:avLst/>
          </a:prstGeom>
          <a:noFill/>
          <a:ln/>
        </p:spPr>
        <p:txBody>
          <a:bodyPr wrap="square" lIns="0" tIns="0" rIns="0" bIns="0" rtlCol="0" anchor="t"/>
          <a:lstStyle/>
          <a:p>
            <a:pPr indent="0" marL="0">
              <a:buNone/>
            </a:pPr>
            <a:r>
              <a:rPr lang="en-US" sz="1200" dirty="0">
                <a:solidFill>
                  <a:srgbClr val="C7C7CC"/>
                </a:solidFill>
                <a:latin typeface="Calibri" pitchFamily="34" charset="0"/>
                <a:ea typeface="Calibri" pitchFamily="34" charset="-122"/>
                <a:cs typeface="Calibri" pitchFamily="34" charset="-120"/>
              </a:rPr>
              <a:t>N-BaIoT pipeline, attack, baselines</a:t>
            </a:r>
            <a:endParaRPr lang="en-US" sz="1200" dirty="0"/>
          </a:p>
        </p:txBody>
      </p:sp>
      <p:sp>
        <p:nvSpPr>
          <p:cNvPr id="16" name="Shape 14"/>
          <p:cNvSpPr/>
          <p:nvPr/>
        </p:nvSpPr>
        <p:spPr>
          <a:xfrm>
            <a:off x="3456432" y="5303520"/>
            <a:ext cx="128016" cy="128016"/>
          </a:xfrm>
          <a:prstGeom prst="ellipse">
            <a:avLst/>
          </a:prstGeom>
          <a:solidFill>
            <a:srgbClr val="0071E3"/>
          </a:solidFill>
          <a:ln/>
        </p:spPr>
      </p:sp>
      <p:sp>
        <p:nvSpPr>
          <p:cNvPr id="17" name="Text 15"/>
          <p:cNvSpPr txBox="1"/>
          <p:nvPr/>
        </p:nvSpPr>
        <p:spPr>
          <a:xfrm>
            <a:off x="3685032" y="5193792"/>
            <a:ext cx="2267712"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Week 4, mid-review</a:t>
            </a:r>
            <a:endParaRPr lang="en-US" sz="1400" dirty="0"/>
          </a:p>
        </p:txBody>
      </p:sp>
      <p:sp>
        <p:nvSpPr>
          <p:cNvPr id="18" name="Text 16"/>
          <p:cNvSpPr txBox="1"/>
          <p:nvPr/>
        </p:nvSpPr>
        <p:spPr>
          <a:xfrm>
            <a:off x="3685032" y="5513832"/>
            <a:ext cx="2267712" cy="457200"/>
          </a:xfrm>
          <a:prstGeom prst="rect">
            <a:avLst/>
          </a:prstGeom>
          <a:noFill/>
          <a:ln/>
        </p:spPr>
        <p:txBody>
          <a:bodyPr wrap="square" lIns="0" tIns="0" rIns="0" bIns="0" rtlCol="0" anchor="t"/>
          <a:lstStyle/>
          <a:p>
            <a:pPr indent="0" marL="0">
              <a:buNone/>
            </a:pPr>
            <a:r>
              <a:rPr lang="en-US" sz="1200" dirty="0">
                <a:solidFill>
                  <a:srgbClr val="C7C7CC"/>
                </a:solidFill>
                <a:latin typeface="Calibri" pitchFamily="34" charset="0"/>
                <a:ea typeface="Calibri" pitchFamily="34" charset="-122"/>
                <a:cs typeface="Calibri" pitchFamily="34" charset="-120"/>
              </a:rPr>
              <a:t>Real-data version of slide 9</a:t>
            </a:r>
            <a:endParaRPr lang="en-US" sz="1200" dirty="0"/>
          </a:p>
        </p:txBody>
      </p:sp>
      <p:sp>
        <p:nvSpPr>
          <p:cNvPr id="19" name="Shape 17"/>
          <p:cNvSpPr/>
          <p:nvPr/>
        </p:nvSpPr>
        <p:spPr>
          <a:xfrm>
            <a:off x="6089904" y="5303520"/>
            <a:ext cx="128016" cy="128016"/>
          </a:xfrm>
          <a:prstGeom prst="ellipse">
            <a:avLst/>
          </a:prstGeom>
          <a:solidFill>
            <a:srgbClr val="0071E3"/>
          </a:solidFill>
          <a:ln/>
        </p:spPr>
      </p:sp>
      <p:sp>
        <p:nvSpPr>
          <p:cNvPr id="20" name="Text 18"/>
          <p:cNvSpPr txBox="1"/>
          <p:nvPr/>
        </p:nvSpPr>
        <p:spPr>
          <a:xfrm>
            <a:off x="6318504" y="5193792"/>
            <a:ext cx="2267712"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Weeks 5 to 7</a:t>
            </a:r>
            <a:endParaRPr lang="en-US" sz="1400" dirty="0"/>
          </a:p>
        </p:txBody>
      </p:sp>
      <p:sp>
        <p:nvSpPr>
          <p:cNvPr id="21" name="Text 19"/>
          <p:cNvSpPr txBox="1"/>
          <p:nvPr/>
        </p:nvSpPr>
        <p:spPr>
          <a:xfrm>
            <a:off x="6318504" y="5513832"/>
            <a:ext cx="2267712" cy="457200"/>
          </a:xfrm>
          <a:prstGeom prst="rect">
            <a:avLst/>
          </a:prstGeom>
          <a:noFill/>
          <a:ln/>
        </p:spPr>
        <p:txBody>
          <a:bodyPr wrap="square" lIns="0" tIns="0" rIns="0" bIns="0" rtlCol="0" anchor="t"/>
          <a:lstStyle/>
          <a:p>
            <a:pPr indent="0" marL="0">
              <a:buNone/>
            </a:pPr>
            <a:r>
              <a:rPr lang="en-US" sz="1200" dirty="0">
                <a:solidFill>
                  <a:srgbClr val="C7C7CC"/>
                </a:solidFill>
                <a:latin typeface="Calibri" pitchFamily="34" charset="0"/>
                <a:ea typeface="Calibri" pitchFamily="34" charset="-122"/>
                <a:cs typeface="Calibri" pitchFamily="34" charset="-120"/>
              </a:rPr>
              <a:t>ESP32 port, freeze attack study</a:t>
            </a:r>
            <a:endParaRPr lang="en-US" sz="1200" dirty="0"/>
          </a:p>
        </p:txBody>
      </p:sp>
      <p:sp>
        <p:nvSpPr>
          <p:cNvPr id="22" name="Shape 20"/>
          <p:cNvSpPr/>
          <p:nvPr/>
        </p:nvSpPr>
        <p:spPr>
          <a:xfrm>
            <a:off x="8723376" y="5303520"/>
            <a:ext cx="128016" cy="128016"/>
          </a:xfrm>
          <a:prstGeom prst="ellipse">
            <a:avLst/>
          </a:prstGeom>
          <a:solidFill>
            <a:srgbClr val="0071E3"/>
          </a:solidFill>
          <a:ln/>
        </p:spPr>
      </p:sp>
      <p:sp>
        <p:nvSpPr>
          <p:cNvPr id="23" name="Text 21"/>
          <p:cNvSpPr txBox="1"/>
          <p:nvPr/>
        </p:nvSpPr>
        <p:spPr>
          <a:xfrm>
            <a:off x="8951976" y="5193792"/>
            <a:ext cx="2267712"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Weeks 8 to 9</a:t>
            </a:r>
            <a:endParaRPr lang="en-US" sz="1400" dirty="0"/>
          </a:p>
        </p:txBody>
      </p:sp>
      <p:sp>
        <p:nvSpPr>
          <p:cNvPr id="24" name="Text 22"/>
          <p:cNvSpPr txBox="1"/>
          <p:nvPr/>
        </p:nvSpPr>
        <p:spPr>
          <a:xfrm>
            <a:off x="8951976" y="5513832"/>
            <a:ext cx="2267712" cy="457200"/>
          </a:xfrm>
          <a:prstGeom prst="rect">
            <a:avLst/>
          </a:prstGeom>
          <a:noFill/>
          <a:ln/>
        </p:spPr>
        <p:txBody>
          <a:bodyPr wrap="square" lIns="0" tIns="0" rIns="0" bIns="0" rtlCol="0" anchor="t"/>
          <a:lstStyle/>
          <a:p>
            <a:pPr indent="0" marL="0">
              <a:buNone/>
            </a:pPr>
            <a:r>
              <a:rPr lang="en-US" sz="1200" dirty="0">
                <a:solidFill>
                  <a:srgbClr val="C7C7CC"/>
                </a:solidFill>
                <a:latin typeface="Calibri" pitchFamily="34" charset="0"/>
                <a:ea typeface="Calibri" pitchFamily="34" charset="-122"/>
                <a:cs typeface="Calibri" pitchFamily="34" charset="-120"/>
              </a:rPr>
              <a:t>Sweeps, IEEE report, demo</a:t>
            </a:r>
            <a:endParaRPr lang="en-US" sz="1200" dirty="0"/>
          </a:p>
        </p:txBody>
      </p:sp>
      <p:sp>
        <p:nvSpPr>
          <p:cNvPr id="25" name="Text 23"/>
          <p:cNvSpPr txBox="1"/>
          <p:nvPr/>
        </p:nvSpPr>
        <p:spPr>
          <a:xfrm>
            <a:off x="11064240" y="6327648"/>
            <a:ext cx="365760" cy="274320"/>
          </a:xfrm>
          <a:prstGeom prst="rect">
            <a:avLst/>
          </a:prstGeom>
          <a:noFill/>
          <a:ln/>
        </p:spPr>
        <p:txBody>
          <a:bodyPr wrap="square" lIns="0" tIns="0" rIns="0" bIns="0" rtlCol="0" anchor="ctr"/>
          <a:lstStyle/>
          <a:p>
            <a:pPr algn="r" indent="0" marL="0">
              <a:buNone/>
            </a:pPr>
            <a:r>
              <a:rPr lang="en-US" sz="1000" dirty="0">
                <a:solidFill>
                  <a:srgbClr val="86868B"/>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2960" y="772668"/>
            <a:ext cx="100584" cy="100584"/>
          </a:xfrm>
          <a:prstGeom prst="ellipse">
            <a:avLst/>
          </a:prstGeom>
          <a:solidFill>
            <a:srgbClr val="0071E3"/>
          </a:solidFill>
          <a:ln/>
        </p:spPr>
      </p:sp>
      <p:sp>
        <p:nvSpPr>
          <p:cNvPr id="3" name="Text 1"/>
          <p:cNvSpPr txBox="1"/>
          <p:nvPr/>
        </p:nvSpPr>
        <p:spPr>
          <a:xfrm>
            <a:off x="1024128" y="676656"/>
            <a:ext cx="9144000" cy="292608"/>
          </a:xfrm>
          <a:prstGeom prst="rect">
            <a:avLst/>
          </a:prstGeom>
          <a:noFill/>
          <a:ln/>
        </p:spPr>
        <p:txBody>
          <a:bodyPr wrap="square" lIns="0" tIns="0" rIns="0" bIns="0" rtlCol="0" anchor="ctr"/>
          <a:lstStyle/>
          <a:p>
            <a:pPr indent="0" marL="0">
              <a:buNone/>
            </a:pPr>
            <a:r>
              <a:rPr lang="en-US" sz="1250" b="1" spc="220" kern="0" dirty="0">
                <a:solidFill>
                  <a:srgbClr val="0071E3"/>
                </a:solidFill>
                <a:latin typeface="Calibri" pitchFamily="34" charset="0"/>
                <a:ea typeface="Calibri" pitchFamily="34" charset="-122"/>
                <a:cs typeface="Calibri" pitchFamily="34" charset="-120"/>
              </a:rPr>
              <a:t>REFERENCES</a:t>
            </a:r>
            <a:endParaRPr lang="en-US" sz="1250" dirty="0"/>
          </a:p>
        </p:txBody>
      </p:sp>
      <p:sp>
        <p:nvSpPr>
          <p:cNvPr id="4" name="Text 2"/>
          <p:cNvSpPr txBox="1"/>
          <p:nvPr/>
        </p:nvSpPr>
        <p:spPr>
          <a:xfrm>
            <a:off x="822960" y="1188720"/>
            <a:ext cx="10561320" cy="5029200"/>
          </a:xfrm>
          <a:prstGeom prst="rect">
            <a:avLst/>
          </a:prstGeom>
          <a:noFill/>
          <a:ln/>
        </p:spPr>
        <p:txBody>
          <a:bodyPr wrap="square" lIns="0" tIns="0" rIns="0" bIns="0" rtlCol="0" anchor="t"/>
          <a:lstStyle/>
          <a:p>
            <a:pPr indent="0" marL="0">
              <a:lnSpc>
                <a:spcPct val="100000"/>
              </a:lnSpc>
              <a:spcAft>
                <a:spcPts val="400"/>
              </a:spcAft>
              <a:buNone/>
            </a:pPr>
            <a:r>
              <a:rPr lang="en-US" sz="1050" dirty="0">
                <a:solidFill>
                  <a:srgbClr val="424245"/>
                </a:solidFill>
                <a:latin typeface="Calibri" pitchFamily="34" charset="0"/>
                <a:ea typeface="Calibri" pitchFamily="34" charset="-122"/>
                <a:cs typeface="Calibri" pitchFamily="34" charset="-120"/>
              </a:rPr>
              <a:t>[1] Y. Mirsky et al., Kitsune: An Ensemble of Autoencoders for Online Network Intrusion Detection, NDSS 2018.</a:t>
            </a:r>
            <a:endParaRPr lang="en-US" sz="1050" dirty="0"/>
          </a:p>
          <a:p>
            <a:pPr indent="0" marL="0">
              <a:lnSpc>
                <a:spcPct val="100000"/>
              </a:lnSpc>
              <a:spcAft>
                <a:spcPts val="400"/>
              </a:spcAft>
              <a:buNone/>
            </a:pPr>
            <a:r>
              <a:rPr lang="en-US" sz="1050" dirty="0">
                <a:solidFill>
                  <a:srgbClr val="424245"/>
                </a:solidFill>
                <a:latin typeface="Calibri" pitchFamily="34" charset="0"/>
                <a:ea typeface="Calibri" pitchFamily="34" charset="-122"/>
                <a:cs typeface="Calibri" pitchFamily="34" charset="-120"/>
              </a:rPr>
              <a:t>[2] Y. Meidan et al., N-BaIoT: Network-Based Detection of IoT Botnet Attacks Using Deep Autoencoders, IEEE Pervasive Computing, 2018.</a:t>
            </a:r>
            <a:endParaRPr lang="en-US" sz="1050" dirty="0"/>
          </a:p>
          <a:p>
            <a:pPr indent="0" marL="0">
              <a:lnSpc>
                <a:spcPct val="100000"/>
              </a:lnSpc>
              <a:spcAft>
                <a:spcPts val="400"/>
              </a:spcAft>
              <a:buNone/>
            </a:pPr>
            <a:r>
              <a:rPr lang="en-US" sz="1050" dirty="0">
                <a:solidFill>
                  <a:srgbClr val="424245"/>
                </a:solidFill>
                <a:latin typeface="Calibri" pitchFamily="34" charset="0"/>
                <a:ea typeface="Calibri" pitchFamily="34" charset="-122"/>
                <a:cs typeface="Calibri" pitchFamily="34" charset="-120"/>
              </a:rPr>
              <a:t>[3] Zhang et al., AOC-IDS: Autonomous Online Framework with Contrastive Learning for Intrusion Detection, IEEE INFOCOM 2024.</a:t>
            </a:r>
            <a:endParaRPr lang="en-US" sz="1050" dirty="0"/>
          </a:p>
          <a:p>
            <a:pPr indent="0" marL="0">
              <a:lnSpc>
                <a:spcPct val="100000"/>
              </a:lnSpc>
              <a:spcAft>
                <a:spcPts val="400"/>
              </a:spcAft>
              <a:buNone/>
            </a:pPr>
            <a:r>
              <a:rPr lang="en-US" sz="1050" dirty="0">
                <a:solidFill>
                  <a:srgbClr val="424245"/>
                </a:solidFill>
                <a:latin typeface="Calibri" pitchFamily="34" charset="0"/>
                <a:ea typeface="Calibri" pitchFamily="34" charset="-122"/>
                <a:cs typeface="Calibri" pitchFamily="34" charset="-120"/>
              </a:rPr>
              <a:t>[4] L. Yang and A. Shami, A Lightweight Concept Drift Detection and Adaptation Framework for IoT Data Streams, IEEE IoT Magazine, 2021.</a:t>
            </a:r>
            <a:endParaRPr lang="en-US" sz="1050" dirty="0"/>
          </a:p>
          <a:p>
            <a:pPr indent="0" marL="0">
              <a:lnSpc>
                <a:spcPct val="100000"/>
              </a:lnSpc>
              <a:spcAft>
                <a:spcPts val="400"/>
              </a:spcAft>
              <a:buNone/>
            </a:pPr>
            <a:r>
              <a:rPr lang="en-US" sz="1050" dirty="0">
                <a:solidFill>
                  <a:srgbClr val="424245"/>
                </a:solidFill>
                <a:latin typeface="Calibri" pitchFamily="34" charset="0"/>
                <a:ea typeface="Calibri" pitchFamily="34" charset="-122"/>
                <a:cs typeface="Calibri" pitchFamily="34" charset="-120"/>
              </a:rPr>
              <a:t>[5] A. Bifet and R. Gavaldà, Learning from Time-Changing Data with Adaptive Windowing, SIAM SDM 2007.</a:t>
            </a:r>
            <a:endParaRPr lang="en-US" sz="1050" dirty="0"/>
          </a:p>
          <a:p>
            <a:pPr indent="0" marL="0">
              <a:lnSpc>
                <a:spcPct val="100000"/>
              </a:lnSpc>
              <a:spcAft>
                <a:spcPts val="400"/>
              </a:spcAft>
              <a:buNone/>
            </a:pPr>
            <a:r>
              <a:rPr lang="en-US" sz="1050" dirty="0">
                <a:solidFill>
                  <a:srgbClr val="424245"/>
                </a:solidFill>
                <a:latin typeface="Calibri" pitchFamily="34" charset="0"/>
                <a:ea typeface="Calibri" pitchFamily="34" charset="-122"/>
                <a:cs typeface="Calibri" pitchFamily="34" charset="-120"/>
              </a:rPr>
              <a:t>[6] M. Kravchik, B. Biggio, A. Shabtai, Poisoning Attacks on Cyber Attack Detectors for Industrial Control Systems, ACM SAC 2021.</a:t>
            </a:r>
            <a:endParaRPr lang="en-US" sz="1050" dirty="0"/>
          </a:p>
          <a:p>
            <a:pPr indent="0" marL="0">
              <a:lnSpc>
                <a:spcPct val="100000"/>
              </a:lnSpc>
              <a:spcAft>
                <a:spcPts val="400"/>
              </a:spcAft>
              <a:buNone/>
            </a:pPr>
            <a:r>
              <a:rPr lang="en-US" sz="1050" dirty="0">
                <a:solidFill>
                  <a:srgbClr val="424245"/>
                </a:solidFill>
                <a:latin typeface="Calibri" pitchFamily="34" charset="0"/>
                <a:ea typeface="Calibri" pitchFamily="34" charset="-122"/>
                <a:cs typeface="Calibri" pitchFamily="34" charset="-120"/>
              </a:rPr>
              <a:t>[7] Data Poisoning Attack against Neural Network-Based On-Device Learning Anomaly Detector by Physical Attacks on Sensors, MDPI Sensors, 2024.</a:t>
            </a:r>
            <a:endParaRPr lang="en-US" sz="1050" dirty="0"/>
          </a:p>
          <a:p>
            <a:pPr indent="0" marL="0">
              <a:lnSpc>
                <a:spcPct val="100000"/>
              </a:lnSpc>
              <a:spcAft>
                <a:spcPts val="400"/>
              </a:spcAft>
              <a:buNone/>
            </a:pPr>
            <a:r>
              <a:rPr lang="en-US" sz="1050" dirty="0">
                <a:solidFill>
                  <a:srgbClr val="424245"/>
                </a:solidFill>
                <a:latin typeface="Calibri" pitchFamily="34" charset="0"/>
                <a:ea typeface="Calibri" pitchFamily="34" charset="-122"/>
                <a:cs typeface="Calibri" pitchFamily="34" charset="-120"/>
              </a:rPr>
              <a:t>[8] P. Blanchard et al., Machine Learning with Adversaries: Byzantine Tolerant Gradient Descent, NeurIPS 2017.</a:t>
            </a:r>
            <a:endParaRPr lang="en-US" sz="1050" dirty="0"/>
          </a:p>
          <a:p>
            <a:pPr indent="0" marL="0">
              <a:lnSpc>
                <a:spcPct val="100000"/>
              </a:lnSpc>
              <a:spcAft>
                <a:spcPts val="400"/>
              </a:spcAft>
              <a:buNone/>
            </a:pPr>
            <a:r>
              <a:rPr lang="en-US" sz="1050" dirty="0">
                <a:solidFill>
                  <a:srgbClr val="424245"/>
                </a:solidFill>
                <a:latin typeface="Calibri" pitchFamily="34" charset="0"/>
                <a:ea typeface="Calibri" pitchFamily="34" charset="-122"/>
                <a:cs typeface="Calibri" pitchFamily="34" charset="-120"/>
              </a:rPr>
              <a:t>[9] D. Yin et al., Byzantine-Robust Distributed Learning: Towards Optimal Statistical Rates, ICML 2018.</a:t>
            </a:r>
            <a:endParaRPr lang="en-US" sz="1050" dirty="0"/>
          </a:p>
          <a:p>
            <a:pPr indent="0" marL="0">
              <a:lnSpc>
                <a:spcPct val="100000"/>
              </a:lnSpc>
              <a:spcAft>
                <a:spcPts val="400"/>
              </a:spcAft>
              <a:buNone/>
            </a:pPr>
            <a:r>
              <a:rPr lang="en-US" sz="1050" dirty="0">
                <a:solidFill>
                  <a:srgbClr val="424245"/>
                </a:solidFill>
                <a:latin typeface="Calibri" pitchFamily="34" charset="0"/>
                <a:ea typeface="Calibri" pitchFamily="34" charset="-122"/>
                <a:cs typeface="Calibri" pitchFamily="34" charset="-120"/>
              </a:rPr>
              <a:t>[10] T. D. Nguyen et al., Poisoning Attacks on Federated Learning-based IoT Intrusion Detection System, DISS Workshop at NDSS 2020.</a:t>
            </a:r>
            <a:endParaRPr lang="en-US" sz="1050" dirty="0"/>
          </a:p>
          <a:p>
            <a:pPr indent="0" marL="0">
              <a:lnSpc>
                <a:spcPct val="100000"/>
              </a:lnSpc>
              <a:spcAft>
                <a:spcPts val="400"/>
              </a:spcAft>
              <a:buNone/>
            </a:pPr>
            <a:r>
              <a:rPr lang="en-US" sz="1050" dirty="0">
                <a:solidFill>
                  <a:srgbClr val="424245"/>
                </a:solidFill>
                <a:latin typeface="Calibri" pitchFamily="34" charset="0"/>
                <a:ea typeface="Calibri" pitchFamily="34" charset="-122"/>
                <a:cs typeface="Calibri" pitchFamily="34" charset="-120"/>
              </a:rPr>
              <a:t>[11] E. C. P. Neto et al., CICIoT2023: A Real-Time Dataset and Benchmark for Large-Scale Attacks in IoT Environment, MDPI Sensors, 2023.</a:t>
            </a:r>
            <a:endParaRPr lang="en-US" sz="1050" dirty="0"/>
          </a:p>
          <a:p>
            <a:pPr indent="0" marL="0">
              <a:lnSpc>
                <a:spcPct val="100000"/>
              </a:lnSpc>
              <a:spcAft>
                <a:spcPts val="400"/>
              </a:spcAft>
              <a:buNone/>
            </a:pPr>
            <a:r>
              <a:rPr lang="en-US" sz="1050" dirty="0">
                <a:solidFill>
                  <a:srgbClr val="424245"/>
                </a:solidFill>
                <a:latin typeface="Calibri" pitchFamily="34" charset="0"/>
                <a:ea typeface="Calibri" pitchFamily="34" charset="-122"/>
                <a:cs typeface="Calibri" pitchFamily="34" charset="-120"/>
              </a:rPr>
              <a:t>[12] Demonstrating and Characterizing Frog-Boiling Poisoning Against Drift-Aware Continual Learners, thesis talk, UMass Dartmouth, 2026.</a:t>
            </a:r>
            <a:endParaRPr lang="en-US" sz="1050" dirty="0"/>
          </a:p>
          <a:p>
            <a:pPr indent="0" marL="0">
              <a:lnSpc>
                <a:spcPct val="100000"/>
              </a:lnSpc>
              <a:spcAft>
                <a:spcPts val="400"/>
              </a:spcAft>
              <a:buNone/>
            </a:pPr>
            <a:r>
              <a:rPr lang="en-US" sz="1050" dirty="0">
                <a:solidFill>
                  <a:srgbClr val="424245"/>
                </a:solidFill>
                <a:latin typeface="Calibri" pitchFamily="34" charset="0"/>
                <a:ea typeface="Calibri" pitchFamily="34" charset="-122"/>
                <a:cs typeface="Calibri" pitchFamily="34" charset="-120"/>
              </a:rPr>
              <a:t>[13] B. Rubinstein et al., ANTIDOTE: Understanding and Defending against Poisoning of Anomaly Detectors, ACM IMC 2009.</a:t>
            </a:r>
            <a:endParaRPr lang="en-US" sz="1050" dirty="0"/>
          </a:p>
          <a:p>
            <a:pPr indent="0" marL="0">
              <a:lnSpc>
                <a:spcPct val="100000"/>
              </a:lnSpc>
              <a:spcAft>
                <a:spcPts val="400"/>
              </a:spcAft>
              <a:buNone/>
            </a:pPr>
            <a:r>
              <a:rPr lang="en-US" sz="1050" dirty="0">
                <a:solidFill>
                  <a:srgbClr val="424245"/>
                </a:solidFill>
                <a:latin typeface="Calibri" pitchFamily="34" charset="0"/>
                <a:ea typeface="Calibri" pitchFamily="34" charset="-122"/>
                <a:cs typeface="Calibri" pitchFamily="34" charset="-120"/>
              </a:rPr>
              <a:t>[14] Intrusion Detection on Resource-Constrained IoT Devices with Hardware-Aware ML and DL, IEEE ETECOM 2025 (arXiv 2512.02272).</a:t>
            </a:r>
            <a:endParaRPr lang="en-US" sz="1050" dirty="0"/>
          </a:p>
          <a:p>
            <a:pPr indent="0" marL="0">
              <a:lnSpc>
                <a:spcPct val="100000"/>
              </a:lnSpc>
              <a:spcAft>
                <a:spcPts val="400"/>
              </a:spcAft>
              <a:buNone/>
            </a:pPr>
            <a:r>
              <a:rPr lang="en-US" sz="1050" dirty="0">
                <a:solidFill>
                  <a:srgbClr val="424245"/>
                </a:solidFill>
                <a:latin typeface="Calibri" pitchFamily="34" charset="0"/>
                <a:ea typeface="Calibri" pitchFamily="34" charset="-122"/>
                <a:cs typeface="Calibri" pitchFamily="34" charset="-120"/>
              </a:rPr>
              <a:t>[15] M. Kloft and P. Laskov, Security Analysis of Online Centroid Anomaly Detection, JMLR, 2012.</a:t>
            </a:r>
            <a:endParaRPr lang="en-US" sz="1050" dirty="0"/>
          </a:p>
          <a:p>
            <a:pPr indent="0" marL="0">
              <a:lnSpc>
                <a:spcPct val="100000"/>
              </a:lnSpc>
              <a:spcAft>
                <a:spcPts val="400"/>
              </a:spcAft>
              <a:buNone/>
            </a:pPr>
            <a:r>
              <a:rPr lang="en-US" sz="1050" dirty="0">
                <a:solidFill>
                  <a:srgbClr val="424245"/>
                </a:solidFill>
                <a:latin typeface="Calibri" pitchFamily="34" charset="0"/>
                <a:ea typeface="Calibri" pitchFamily="34" charset="-122"/>
                <a:cs typeface="Calibri" pitchFamily="34" charset="-120"/>
              </a:rPr>
              <a:t>[16] J. Koumar et al., CESNET-TimeSeries24: Time Series Dataset for Network Traffic Anomaly Detection and Forecasting, Scientific Data, 2025.</a:t>
            </a:r>
            <a:endParaRPr lang="en-US" sz="1050" dirty="0"/>
          </a:p>
        </p:txBody>
      </p:sp>
      <p:sp>
        <p:nvSpPr>
          <p:cNvPr id="5" name="Text 3"/>
          <p:cNvSpPr txBox="1"/>
          <p:nvPr/>
        </p:nvSpPr>
        <p:spPr>
          <a:xfrm>
            <a:off x="822960" y="6327648"/>
            <a:ext cx="10058400" cy="274320"/>
          </a:xfrm>
          <a:prstGeom prst="rect">
            <a:avLst/>
          </a:prstGeom>
          <a:noFill/>
          <a:ln/>
        </p:spPr>
        <p:txBody>
          <a:bodyPr wrap="square" lIns="0" tIns="0" rIns="0" bIns="0" rtlCol="0" anchor="ctr"/>
          <a:lstStyle/>
          <a:p>
            <a:pPr indent="0" marL="0">
              <a:buNone/>
            </a:pPr>
            <a:r>
              <a:rPr lang="en-US" sz="1000" i="1" dirty="0">
                <a:solidFill>
                  <a:srgbClr val="86868B"/>
                </a:solidFill>
                <a:latin typeface="Calibri" pitchFamily="34" charset="0"/>
                <a:ea typeface="Calibri" pitchFamily="34" charset="-122"/>
                <a:cs typeface="Calibri" pitchFamily="34" charset="-120"/>
              </a:rPr>
              <a:t>Simulation code and full 28-paper review are in our repository: github.com/IOT-snu/brainstorming</a:t>
            </a:r>
            <a:endParaRPr lang="en-US" sz="1000" dirty="0"/>
          </a:p>
        </p:txBody>
      </p:sp>
      <p:sp>
        <p:nvSpPr>
          <p:cNvPr id="6" name="Text 4"/>
          <p:cNvSpPr txBox="1"/>
          <p:nvPr/>
        </p:nvSpPr>
        <p:spPr>
          <a:xfrm>
            <a:off x="11064240" y="6327648"/>
            <a:ext cx="365760" cy="274320"/>
          </a:xfrm>
          <a:prstGeom prst="rect">
            <a:avLst/>
          </a:prstGeom>
          <a:noFill/>
          <a:ln/>
        </p:spPr>
        <p:txBody>
          <a:bodyPr wrap="square" lIns="0" tIns="0" rIns="0" bIns="0" rtlCol="0" anchor="ctr"/>
          <a:lstStyle/>
          <a:p>
            <a:pPr algn="r" indent="0" marL="0">
              <a:buNone/>
            </a:pPr>
            <a:r>
              <a:rPr lang="en-US" sz="1000" dirty="0">
                <a:solidFill>
                  <a:srgbClr val="C7C7CC"/>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2026-09-22T23:14:22Z</dcterms:created>
  <dcterms:modified xsi:type="dcterms:W3CDTF">2026-09-22T23:14:22Z</dcterms:modified>
</cp:coreProperties>
</file>