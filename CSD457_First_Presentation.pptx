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lgn="l">
              <a:defRPr sz="1250" b="0" i="0" u="none" strike="noStrike">
                <a:solidFill>
                  <a:srgbClr val="1D1D1F"/>
                </a:solidFill>
                <a:latin typeface="Calibri"/>
              </a:defRPr>
            </a:pPr>
            <a:r>
              <a:rPr sz="1250" b="0" i="0" u="none" strike="noStrike">
                <a:solidFill>
                  <a:srgbClr val="1D1D1F"/>
                </a:solidFill>
                <a:latin typeface="Calibri"/>
              </a:rPr>
              <a:t>The boiling frog: normal gets walked away</a:t>
            </a:r>
          </a:p>
        </c:rich>
      </c:tx>
      <c:layout/>
      <c:overlay val="0"/>
    </c:title>
    <c:autoTitleDeleted val="0"/>
    <c:plotArea>
      <c:layout/>
      <c:lineChart>
        <c:varyColors val="0"/>
        <c:ser>
          <c:idx val="0"/>
          <c:order val="0"/>
          <c:tx>
            <c:strRef>
              <c:f>Sheet1!$B$1</c:f>
              <c:strCache>
                <c:ptCount val="1"/>
                <c:pt idx="0">
                  <c:v>Attacker's slow poison</c:v>
                </c:pt>
              </c:strCache>
            </c:strRef>
          </c:tx>
          <c:spPr>
            <a:solidFill>
              <a:srgbClr val="0071E3"/>
            </a:solidFill>
            <a:ln w="38100" cap="flat">
              <a:solidFill>
                <a:srgbClr val="0071E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71E3"/>
              </a:solidFill>
              <a:ln w="9525" cap="flat">
                <a:solidFill>
                  <a:srgbClr val="0071E3"/>
                </a:solidFill>
                <a:prstDash val="solid"/>
                <a:round/>
              </a:ln>
              <a:effectLst/>
            </c:spPr>
          </c:marker>
          <c:cat>
            <c:multiLvlStrRef>
              <c:f>Sheet1!$A$2:$A$8</c:f>
              <c:multiLvlStrCache>
                <c:ptCount val="7"/>
                <c:lvl>
                  <c:pt idx="0">
                    <c:v>t1</c:v>
                  </c:pt>
                  <c:pt idx="1">
                    <c:v>t2</c:v>
                  </c:pt>
                  <c:pt idx="2">
                    <c:v>t3</c:v>
                  </c:pt>
                  <c:pt idx="3">
                    <c:v>t4</c:v>
                  </c:pt>
                  <c:pt idx="4">
                    <c:v>t5</c:v>
                  </c:pt>
                  <c:pt idx="5">
                    <c:v>t6</c:v>
                  </c:pt>
                  <c:pt idx="6">
                    <c:v>t7</c:v>
                  </c:pt>
                </c:lvl>
              </c:multiLvlStrCache>
            </c:multiLvlStrRef>
          </c:cat>
          <c:val>
            <c:numRef>
              <c:f>Sheet1!$B$2:$B$8</c:f>
              <c:numCache>
                <c:formatCode>General</c:formatCode>
                <c:ptCount val="7"/>
                <c:pt idx="0">
                  <c:v>1</c:v>
                </c:pt>
                <c:pt idx="1">
                  <c:v>1.4</c:v>
                </c:pt>
                <c:pt idx="2">
                  <c:v>2.1</c:v>
                </c:pt>
                <c:pt idx="3">
                  <c:v>3.2</c:v>
                </c:pt>
                <c:pt idx="4">
                  <c:v>4.6</c:v>
                </c:pt>
                <c:pt idx="5">
                  <c:v>6.2</c:v>
                </c:pt>
                <c:pt idx="6">
                  <c:v>8</c:v>
                </c:pt>
              </c:numCache>
            </c:numRef>
          </c:val>
          <c:smooth val="1"/>
        </c:ser>
        <c:ser>
          <c:idx val="1"/>
          <c:order val="1"/>
          <c:tx>
            <c:strRef>
              <c:f>Sheet1!$C$1</c:f>
              <c:strCache>
                <c:ptCount val="1"/>
                <c:pt idx="0">
                  <c:v>Detector's idea of normal</c:v>
                </c:pt>
              </c:strCache>
            </c:strRef>
          </c:tx>
          <c:spPr>
            <a:solidFill>
              <a:srgbClr val="86868B"/>
            </a:solidFill>
            <a:ln w="38100" cap="flat">
              <a:solidFill>
                <a:srgbClr val="8686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86868B"/>
              </a:solidFill>
              <a:ln w="9525" cap="flat">
                <a:solidFill>
                  <a:srgbClr val="86868B"/>
                </a:solidFill>
                <a:prstDash val="solid"/>
                <a:round/>
              </a:ln>
              <a:effectLst/>
            </c:spPr>
          </c:marker>
          <c:cat>
            <c:multiLvlStrRef>
              <c:f>Sheet1!$A$2:$A$8</c:f>
              <c:multiLvlStrCache>
                <c:ptCount val="7"/>
                <c:lvl>
                  <c:pt idx="0">
                    <c:v>t1</c:v>
                  </c:pt>
                  <c:pt idx="1">
                    <c:v>t2</c:v>
                  </c:pt>
                  <c:pt idx="2">
                    <c:v>t3</c:v>
                  </c:pt>
                  <c:pt idx="3">
                    <c:v>t4</c:v>
                  </c:pt>
                  <c:pt idx="4">
                    <c:v>t5</c:v>
                  </c:pt>
                  <c:pt idx="5">
                    <c:v>t6</c:v>
                  </c:pt>
                  <c:pt idx="6">
                    <c:v>t7</c:v>
                  </c:pt>
                </c:lvl>
              </c:multiLvlStrCache>
            </c:multiLvlStrRef>
          </c:cat>
          <c:val>
            <c:numRef>
              <c:f>Sheet1!$C$2:$C$8</c:f>
              <c:numCache>
                <c:formatCode>General</c:formatCode>
                <c:ptCount val="7"/>
                <c:pt idx="0">
                  <c:v>1</c:v>
                </c:pt>
                <c:pt idx="1">
                  <c:v>1.3</c:v>
                </c:pt>
                <c:pt idx="2">
                  <c:v>1.9</c:v>
                </c:pt>
                <c:pt idx="3">
                  <c:v>2.9</c:v>
                </c:pt>
                <c:pt idx="4">
                  <c:v>4.2</c:v>
                </c:pt>
                <c:pt idx="5">
                  <c:v>5.8</c:v>
                </c:pt>
                <c:pt idx="6">
                  <c:v>7.6</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86868B"/>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1270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6868B"/>
                </a:solidFill>
                <a:latin typeface="Calibri"/>
              </a:defRPr>
            </a:pPr>
            <a:endParaRPr lang="en-US"/>
          </a:p>
        </c:txPr>
        <c:crossAx val="2094734554"/>
        <c:crosses val="autoZero"/>
        <c:crossBetween val="between"/>
        <c:majorUnit val="2"/>
      </c:valAx>
      <c:spPr>
        <a:noFill/>
        <a:ln>
          <a:noFill/>
        </a:ln>
        <a:effectLst/>
      </c:spPr>
    </c:plotArea>
    <c:legend>
      <c:legendPos val="b"/>
      <c:overlay val="0"/>
      <c:txPr>
        <a:bodyPr/>
        <a:lstStyle/>
        <a:p>
          <a:pPr>
            <a:defRPr sz="900">
              <a:solidFill>
                <a:srgbClr val="86868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project. In one line: on-device intrusion detection that stays fresh by adapting, but does not let an attacker abuse that adaptation. The detector adapts to honest change, and refuses to be slowly walked off course by a poisoning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tension is the whole project. A static detector is safe from this but goes stale. A naive adaptive detector stays fresh but can be led by the nose. The attacker never triggers an alarm, they just teach the detector that their behavior is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two halves that exist but do not meet: static detectors and poisonable adaptive ones. Right, the gap, a detector that gets the good of adaptation without the risk, small enough for a chip, with the cost actually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the project answers. Two blue phrases are the tension: adapt to benign drift, resist adversarial drift, on the chip. The line below is the hypothesis the experiments confirm or reject.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and the shape reviewers like: an attack and a defense. Detector and drift tracking are standard and kept small. Part two is the boiling-frog attack we build. Part three is our contribution, the guard that refuses to be poisoned. Part four measures what it costs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reachable: a five dollar board, public modern datasets, standard libraries. On the right, the baselines. The one that matters is the naive adaptive detector, because our whole claim is that we keep its freshness without its weakness.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number is the attack: how far it walks a naive detector, and how much detection ours keeps under the same attack. Then detection quality proves I did not just mute the alarm, benign-drift stability proves I did not break adaptation, and the chip numbers prove it runs for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this lands: an attack that proves the risk, a defense that answers it on a real board, and an honest account of its cost. That attack-plus-defense form is what pushes the work toward paper level. The timeline shows the path from today to the final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822960" y="818388"/>
            <a:ext cx="100584" cy="100584"/>
          </a:xfrm>
          <a:prstGeom prst="ellipse">
            <a:avLst/>
          </a:prstGeom>
          <a:solidFill>
            <a:srgbClr val="86868B"/>
          </a:solidFill>
          <a:ln/>
        </p:spPr>
      </p:sp>
      <p:sp>
        <p:nvSpPr>
          <p:cNvPr id="3" name="Text 1"/>
          <p:cNvSpPr txBox="1"/>
          <p:nvPr/>
        </p:nvSpPr>
        <p:spPr>
          <a:xfrm>
            <a:off x="1024128" y="722376"/>
            <a:ext cx="8686800" cy="292608"/>
          </a:xfrm>
          <a:prstGeom prst="rect">
            <a:avLst/>
          </a:prstGeom>
          <a:noFill/>
          <a:ln/>
        </p:spPr>
        <p:txBody>
          <a:bodyPr wrap="square" lIns="0" tIns="0" rIns="0" bIns="0" rtlCol="0" anchor="ctr"/>
          <a:lstStyle/>
          <a:p>
            <a:pPr algn="l" indent="0" marL="0">
              <a:buNone/>
            </a:pPr>
            <a:r>
              <a:rPr lang="en-US" sz="1250" b="1" spc="220" kern="0" dirty="0">
                <a:solidFill>
                  <a:srgbClr val="86868B"/>
                </a:solidFill>
                <a:latin typeface="Calibri" pitchFamily="34" charset="0"/>
                <a:ea typeface="Calibri" pitchFamily="34" charset="-122"/>
                <a:cs typeface="Calibri" pitchFamily="34" charset="-120"/>
              </a:rPr>
              <a:t>CSD457  ·  INTERNET OF THINGS  ·  GROUP G-04</a:t>
            </a:r>
            <a:endParaRPr lang="en-US" sz="1250" dirty="0"/>
          </a:p>
        </p:txBody>
      </p:sp>
      <p:sp>
        <p:nvSpPr>
          <p:cNvPr id="4" name="Text 2"/>
          <p:cNvSpPr txBox="1"/>
          <p:nvPr/>
        </p:nvSpPr>
        <p:spPr>
          <a:xfrm>
            <a:off x="822960" y="1965960"/>
            <a:ext cx="10515600" cy="2011680"/>
          </a:xfrm>
          <a:prstGeom prst="rect">
            <a:avLst/>
          </a:prstGeom>
          <a:noFill/>
          <a:ln/>
        </p:spPr>
        <p:txBody>
          <a:bodyPr wrap="square" lIns="0" tIns="0" rIns="0" bIns="0" rtlCol="0" anchor="ctr"/>
          <a:lstStyle/>
          <a:p>
            <a:pPr indent="0" marL="0">
              <a:lnSpc>
                <a:spcPct val="103000"/>
              </a:lnSpc>
              <a:buNone/>
            </a:pPr>
            <a:r>
              <a:rPr lang="en-US" sz="4400" b="1" dirty="0">
                <a:solidFill>
                  <a:srgbClr val="0071E3"/>
                </a:solidFill>
                <a:latin typeface="Calibri" pitchFamily="34" charset="0"/>
                <a:ea typeface="Calibri" pitchFamily="34" charset="-122"/>
                <a:cs typeface="Calibri" pitchFamily="34" charset="-120"/>
              </a:rPr>
              <a:t>Poison-Resilient </a:t>
            </a:r>
            <a:pPr indent="0" marL="0">
              <a:lnSpc>
                <a:spcPct val="103000"/>
              </a:lnSpc>
              <a:buNone/>
            </a:pPr>
            <a:r>
              <a:rPr lang="en-US" sz="4400" b="1" dirty="0">
                <a:solidFill>
                  <a:srgbClr val="FFFFFF"/>
                </a:solidFill>
                <a:latin typeface="Calibri" pitchFamily="34" charset="0"/>
                <a:ea typeface="Calibri" pitchFamily="34" charset="-122"/>
                <a:cs typeface="Calibri" pitchFamily="34" charset="-120"/>
              </a:rPr>
              <a:t>On-Device Intrusion Detection for Drifting IoT</a:t>
            </a:r>
            <a:endParaRPr lang="en-US" sz="4400" dirty="0"/>
          </a:p>
        </p:txBody>
      </p:sp>
      <p:sp>
        <p:nvSpPr>
          <p:cNvPr id="5" name="Text 3"/>
          <p:cNvSpPr txBox="1"/>
          <p:nvPr/>
        </p:nvSpPr>
        <p:spPr>
          <a:xfrm>
            <a:off x="822960" y="4160520"/>
            <a:ext cx="9966960" cy="822960"/>
          </a:xfrm>
          <a:prstGeom prst="rect">
            <a:avLst/>
          </a:prstGeom>
          <a:noFill/>
          <a:ln/>
        </p:spPr>
        <p:txBody>
          <a:bodyPr wrap="square" lIns="0" tIns="0" rIns="0" bIns="0" rtlCol="0" anchor="ctr"/>
          <a:lstStyle/>
          <a:p>
            <a:pPr indent="0" marL="0">
              <a:lnSpc>
                <a:spcPct val="110000"/>
              </a:lnSpc>
              <a:buNone/>
            </a:pPr>
            <a:r>
              <a:rPr lang="en-US" sz="1800" dirty="0">
                <a:solidFill>
                  <a:srgbClr val="C7C7CC"/>
                </a:solidFill>
                <a:latin typeface="Calibri" pitchFamily="34" charset="0"/>
                <a:ea typeface="Calibri" pitchFamily="34" charset="-122"/>
                <a:cs typeface="Calibri" pitchFamily="34" charset="-120"/>
              </a:rPr>
              <a:t>A drift-adaptive TinyML detector on an ESP32 that resists attackers who slowly poison its own adaptation.</a:t>
            </a:r>
            <a:endParaRPr lang="en-US" sz="1800" dirty="0"/>
          </a:p>
        </p:txBody>
      </p:sp>
      <p:sp>
        <p:nvSpPr>
          <p:cNvPr id="6" name="Text 4"/>
          <p:cNvSpPr txBox="1"/>
          <p:nvPr/>
        </p:nvSpPr>
        <p:spPr>
          <a:xfrm>
            <a:off x="822960" y="6035040"/>
            <a:ext cx="1051560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First Presentation, Proposal</a:t>
            </a:r>
            <a:pPr indent="0" marL="0">
              <a:buNone/>
            </a:pPr>
            <a:r>
              <a:rPr lang="en-US" sz="1300" dirty="0">
                <a:solidFill>
                  <a:srgbClr val="86868B"/>
                </a:solidFill>
                <a:latin typeface="Calibri" pitchFamily="34" charset="0"/>
                <a:ea typeface="Calibri" pitchFamily="34" charset="-122"/>
                <a:cs typeface="Calibri" pitchFamily="34" charset="-120"/>
              </a:rPr>
              <a:t>        Rishit Kamboj and Farhan Naik        24 September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8686800" cy="292608"/>
          </a:xfrm>
          <a:prstGeom prst="rect">
            <a:avLst/>
          </a:prstGeom>
          <a:noFill/>
          <a:ln/>
        </p:spPr>
        <p:txBody>
          <a:bodyPr wrap="square" lIns="0" tIns="0" rIns="0" bIns="0" rtlCol="0" anchor="ctr"/>
          <a:lstStyle/>
          <a:p>
            <a:pPr algn="l" indent="0" marL="0">
              <a:buNone/>
            </a:pPr>
            <a:r>
              <a:rPr lang="en-US" sz="1250" b="1" spc="220" kern="0" dirty="0">
                <a:solidFill>
                  <a:srgbClr val="0071E3"/>
                </a:solidFill>
                <a:latin typeface="Calibri" pitchFamily="34" charset="0"/>
                <a:ea typeface="Calibri" pitchFamily="34" charset="-122"/>
                <a:cs typeface="Calibri" pitchFamily="34" charset="-120"/>
              </a:rPr>
              <a:t>THE PROBLEM</a:t>
            </a:r>
            <a:endParaRPr lang="en-US" sz="1250" dirty="0"/>
          </a:p>
        </p:txBody>
      </p:sp>
      <p:sp>
        <p:nvSpPr>
          <p:cNvPr id="4" name="Text 2"/>
          <p:cNvSpPr txBox="1"/>
          <p:nvPr/>
        </p:nvSpPr>
        <p:spPr>
          <a:xfrm>
            <a:off x="822960" y="1234440"/>
            <a:ext cx="5806440" cy="1554480"/>
          </a:xfrm>
          <a:prstGeom prst="rect">
            <a:avLst/>
          </a:prstGeom>
          <a:noFill/>
          <a:ln/>
        </p:spPr>
        <p:txBody>
          <a:bodyPr wrap="square" lIns="0" tIns="0" rIns="0" bIns="0" rtlCol="0" anchor="ctr"/>
          <a:lstStyle/>
          <a:p>
            <a:pPr indent="0" marL="0">
              <a:lnSpc>
                <a:spcPct val="104000"/>
              </a:lnSpc>
              <a:buNone/>
            </a:pPr>
            <a:r>
              <a:rPr lang="en-US" sz="2900" b="1" dirty="0">
                <a:solidFill>
                  <a:srgbClr val="1D1D1F"/>
                </a:solidFill>
                <a:latin typeface="Calibri" pitchFamily="34" charset="0"/>
                <a:ea typeface="Calibri" pitchFamily="34" charset="-122"/>
                <a:cs typeface="Calibri" pitchFamily="34" charset="-120"/>
              </a:rPr>
              <a:t>To stay accurate, the detector must adapt. Adapting is exactly what an attacker abuses.</a:t>
            </a:r>
            <a:endParaRPr lang="en-US" sz="2900" dirty="0"/>
          </a:p>
        </p:txBody>
      </p:sp>
      <p:sp>
        <p:nvSpPr>
          <p:cNvPr id="5" name="Text 3"/>
          <p:cNvSpPr txBox="1"/>
          <p:nvPr/>
        </p:nvSpPr>
        <p:spPr>
          <a:xfrm>
            <a:off x="822960" y="2971800"/>
            <a:ext cx="5806440" cy="2743200"/>
          </a:xfrm>
          <a:prstGeom prst="rect">
            <a:avLst/>
          </a:prstGeom>
          <a:noFill/>
          <a:ln/>
        </p:spPr>
        <p:txBody>
          <a:bodyPr wrap="square" lIns="0" tIns="0" rIns="0" bIns="0" rtlCol="0" anchor="ctr"/>
          <a:lstStyle/>
          <a:p>
            <a:pPr indent="0" marL="0">
              <a:lnSpc>
                <a:spcPct val="112000"/>
              </a:lnSpc>
              <a:spcAft>
                <a:spcPts val="1000"/>
              </a:spcAft>
              <a:buNone/>
            </a:pPr>
            <a:r>
              <a:rPr lang="en-US" sz="1600" dirty="0">
                <a:solidFill>
                  <a:srgbClr val="424245"/>
                </a:solidFill>
                <a:latin typeface="Calibri" pitchFamily="34" charset="0"/>
                <a:ea typeface="Calibri" pitchFamily="34" charset="-122"/>
                <a:cs typeface="Calibri" pitchFamily="34" charset="-120"/>
              </a:rPr>
              <a:t>On-device detection is the right instinct: fast, private, no cloud.</a:t>
            </a:r>
            <a:endParaRPr lang="en-US" sz="1600" dirty="0"/>
          </a:p>
          <a:p>
            <a:pPr indent="0" marL="0">
              <a:lnSpc>
                <a:spcPct val="112000"/>
              </a:lnSpc>
              <a:spcAft>
                <a:spcPts val="1000"/>
              </a:spcAft>
              <a:buNone/>
            </a:pPr>
            <a:r>
              <a:rPr lang="en-US" sz="1600" dirty="0">
                <a:solidFill>
                  <a:srgbClr val="424245"/>
                </a:solidFill>
                <a:latin typeface="Calibri" pitchFamily="34" charset="0"/>
                <a:ea typeface="Calibri" pitchFamily="34" charset="-122"/>
                <a:cs typeface="Calibri" pitchFamily="34" charset="-120"/>
              </a:rPr>
              <a:t>But a device's normal behavior keeps drifting, so the detector has to update itself from live traffic.</a:t>
            </a:r>
            <a:endParaRPr lang="en-US" sz="1600" dirty="0"/>
          </a:p>
          <a:p>
            <a:pPr indent="0" marL="0">
              <a:lnSpc>
                <a:spcPct val="112000"/>
              </a:lnSpc>
              <a:buNone/>
            </a:pPr>
            <a:r>
              <a:rPr lang="en-US" sz="1600" dirty="0">
                <a:solidFill>
                  <a:srgbClr val="424245"/>
                </a:solidFill>
                <a:latin typeface="Calibri" pitchFamily="34" charset="0"/>
                <a:ea typeface="Calibri" pitchFamily="34" charset="-122"/>
                <a:cs typeface="Calibri" pitchFamily="34" charset="-120"/>
              </a:rPr>
              <a:t>An attacker can hide in that update: feed tiny, slow changes that look like ordinary drift, until a real attack no longer looks abnormal. A boiling-frog poisoning attack.</a:t>
            </a:r>
            <a:endParaRPr lang="en-US" sz="1600" dirty="0"/>
          </a:p>
        </p:txBody>
      </p:sp>
      <p:graphicFrame>
        <p:nvGraphicFramePr>
          <p:cNvPr id="6" name="Chart 0" descr=""/>
          <p:cNvGraphicFramePr/>
          <p:nvPr/>
        </p:nvGraphicFramePr>
        <p:xfrm>
          <a:off x="7086600" y="1554480"/>
          <a:ext cx="4434840" cy="35661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086600" y="5138928"/>
            <a:ext cx="4434840" cy="320040"/>
          </a:xfrm>
          <a:prstGeom prst="rect">
            <a:avLst/>
          </a:prstGeom>
          <a:noFill/>
          <a:ln/>
        </p:spPr>
        <p:txBody>
          <a:bodyPr wrap="square" lIns="0" tIns="0" rIns="0" bIns="0" rtlCol="0" anchor="ctr"/>
          <a:lstStyle/>
          <a:p>
            <a:pPr indent="0" marL="0">
              <a:buNone/>
            </a:pPr>
            <a:r>
              <a:rPr lang="en-US" sz="1000" i="1" dirty="0">
                <a:solidFill>
                  <a:srgbClr val="86868B"/>
                </a:solidFill>
                <a:latin typeface="Calibri" pitchFamily="34" charset="0"/>
                <a:ea typeface="Calibri" pitchFamily="34" charset="-122"/>
                <a:cs typeface="Calibri" pitchFamily="34" charset="-120"/>
              </a:rPr>
              <a:t>Illustrative. The detector chases the poison, so the boundary drifts to where the attack is safe.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8686800" cy="292608"/>
          </a:xfrm>
          <a:prstGeom prst="rect">
            <a:avLst/>
          </a:prstGeom>
          <a:noFill/>
          <a:ln/>
        </p:spPr>
        <p:txBody>
          <a:bodyPr wrap="square" lIns="0" tIns="0" rIns="0" bIns="0" rtlCol="0" anchor="ctr"/>
          <a:lstStyle/>
          <a:p>
            <a:pPr algn="l" indent="0" marL="0">
              <a:buNone/>
            </a:pPr>
            <a:r>
              <a:rPr lang="en-US" sz="1250" b="1" spc="220" kern="0" dirty="0">
                <a:solidFill>
                  <a:srgbClr val="0071E3"/>
                </a:solidFill>
                <a:latin typeface="Calibri" pitchFamily="34" charset="0"/>
                <a:ea typeface="Calibri" pitchFamily="34" charset="-122"/>
                <a:cs typeface="Calibri" pitchFamily="34" charset="-120"/>
              </a:rPr>
              <a:t>WHAT EXISTS, AND WHAT IS MISSING</a:t>
            </a:r>
            <a:endParaRPr lang="en-US" sz="1250" dirty="0"/>
          </a:p>
        </p:txBody>
      </p:sp>
      <p:sp>
        <p:nvSpPr>
          <p:cNvPr id="4" name="Text 2"/>
          <p:cNvSpPr txBox="1"/>
          <p:nvPr/>
        </p:nvSpPr>
        <p:spPr>
          <a:xfrm>
            <a:off x="822960" y="1234440"/>
            <a:ext cx="10332720" cy="822960"/>
          </a:xfrm>
          <a:prstGeom prst="rect">
            <a:avLst/>
          </a:prstGeom>
          <a:noFill/>
          <a:ln/>
        </p:spPr>
        <p:txBody>
          <a:bodyPr wrap="square" lIns="0" tIns="0" rIns="0" bIns="0" rtlCol="0" anchor="ctr"/>
          <a:lstStyle/>
          <a:p>
            <a:pPr indent="0" marL="0">
              <a:lnSpc>
                <a:spcPct val="102000"/>
              </a:lnSpc>
              <a:buNone/>
            </a:pPr>
            <a:r>
              <a:rPr lang="en-US" sz="2600" b="1" dirty="0">
                <a:solidFill>
                  <a:srgbClr val="1D1D1F"/>
                </a:solidFill>
                <a:latin typeface="Calibri" pitchFamily="34" charset="0"/>
                <a:ea typeface="Calibri" pitchFamily="34" charset="-122"/>
                <a:cs typeface="Calibri" pitchFamily="34" charset="-120"/>
              </a:rPr>
              <a:t>Detectors are either safe-but-stale or fresh-but-poisonable. Nobody has both on a chip.</a:t>
            </a:r>
            <a:endParaRPr lang="en-US" sz="2600" dirty="0"/>
          </a:p>
        </p:txBody>
      </p:sp>
      <p:sp>
        <p:nvSpPr>
          <p:cNvPr id="5" name="Text 3"/>
          <p:cNvSpPr txBox="1"/>
          <p:nvPr/>
        </p:nvSpPr>
        <p:spPr>
          <a:xfrm>
            <a:off x="822960" y="2377440"/>
            <a:ext cx="5394960" cy="365760"/>
          </a:xfrm>
          <a:prstGeom prst="rect">
            <a:avLst/>
          </a:prstGeom>
          <a:noFill/>
          <a:ln/>
        </p:spPr>
        <p:txBody>
          <a:bodyPr wrap="square" lIns="0" tIns="0" rIns="0" bIns="0" rtlCol="0" anchor="ctr"/>
          <a:lstStyle/>
          <a:p>
            <a:pPr indent="0" marL="0">
              <a:buNone/>
            </a:pPr>
            <a:r>
              <a:rPr lang="en-US" sz="1700" b="1" dirty="0">
                <a:solidFill>
                  <a:srgbClr val="1D1D1F"/>
                </a:solidFill>
                <a:latin typeface="Calibri" pitchFamily="34" charset="0"/>
                <a:ea typeface="Calibri" pitchFamily="34" charset="-122"/>
                <a:cs typeface="Calibri" pitchFamily="34" charset="-120"/>
              </a:rPr>
              <a:t>What is already out there</a:t>
            </a:r>
            <a:endParaRPr lang="en-US" sz="1700" dirty="0"/>
          </a:p>
        </p:txBody>
      </p:sp>
      <p:sp>
        <p:nvSpPr>
          <p:cNvPr id="6" name="Text 4"/>
          <p:cNvSpPr txBox="1"/>
          <p:nvPr/>
        </p:nvSpPr>
        <p:spPr>
          <a:xfrm>
            <a:off x="822960" y="2834640"/>
            <a:ext cx="5394960" cy="2468880"/>
          </a:xfrm>
          <a:prstGeom prst="rect">
            <a:avLst/>
          </a:prstGeom>
          <a:noFill/>
          <a:ln/>
        </p:spPr>
        <p:txBody>
          <a:bodyPr wrap="square" lIns="0" tIns="0" rIns="0" bIns="0" rtlCol="0" anchor="ctr"/>
          <a:lstStyle/>
          <a:p>
            <a:pPr marL="228600" indent="-228600">
              <a:lnSpc>
                <a:spcPct val="110000"/>
              </a:lnSpc>
              <a:spcAft>
                <a:spcPts val="1200"/>
              </a:spcAft>
              <a:buSzPct val="100000"/>
              <a:buChar char="•"/>
            </a:pPr>
            <a:r>
              <a:rPr lang="en-US" sz="1500" dirty="0">
                <a:solidFill>
                  <a:srgbClr val="424245"/>
                </a:solidFill>
                <a:latin typeface="Calibri" pitchFamily="34" charset="0"/>
                <a:ea typeface="Calibri" pitchFamily="34" charset="-122"/>
                <a:cs typeface="Calibri" pitchFamily="34" charset="-120"/>
              </a:rPr>
              <a:t>On-device detectors (Kitsune, N-BaIoT) are trained once and go stale as behavior drifts.</a:t>
            </a:r>
            <a:endParaRPr lang="en-US" sz="1500" dirty="0"/>
          </a:p>
          <a:p>
            <a:pPr marL="228600" indent="-228600">
              <a:lnSpc>
                <a:spcPct val="110000"/>
              </a:lnSpc>
              <a:spcAft>
                <a:spcPts val="1200"/>
              </a:spcAft>
              <a:buSzPct val="100000"/>
              <a:buChar char="•"/>
            </a:pPr>
            <a:r>
              <a:rPr lang="en-US" sz="1500" dirty="0">
                <a:solidFill>
                  <a:srgbClr val="424245"/>
                </a:solidFill>
                <a:latin typeface="Calibri" pitchFamily="34" charset="0"/>
                <a:ea typeface="Calibri" pitchFamily="34" charset="-122"/>
                <a:cs typeface="Calibri" pitchFamily="34" charset="-120"/>
              </a:rPr>
              <a:t>Drift methods (ADWIN, Page-Hinkley) adapt well, but trust their own updates, so they can be poisoned.</a:t>
            </a:r>
            <a:endParaRPr lang="en-US" sz="1500" dirty="0"/>
          </a:p>
          <a:p>
            <a:pPr marL="228600" indent="-228600">
              <a:lnSpc>
                <a:spcPct val="110000"/>
              </a:lnSpc>
              <a:buSzPct val="100000"/>
              <a:buChar char="•"/>
            </a:pPr>
            <a:r>
              <a:rPr lang="en-US" sz="1500" dirty="0">
                <a:solidFill>
                  <a:srgbClr val="424245"/>
                </a:solidFill>
                <a:latin typeface="Calibri" pitchFamily="34" charset="0"/>
                <a:ea typeface="Calibri" pitchFamily="34" charset="-122"/>
                <a:cs typeface="Calibri" pitchFamily="34" charset="-120"/>
              </a:rPr>
              <a:t>Robust-learning work targets big server models, not an unsupervised detector on a microcontroller.</a:t>
            </a:r>
            <a:endParaRPr lang="en-US" sz="1500" dirty="0"/>
          </a:p>
        </p:txBody>
      </p:sp>
      <p:sp>
        <p:nvSpPr>
          <p:cNvPr id="7" name="Shape 5"/>
          <p:cNvSpPr/>
          <p:nvPr/>
        </p:nvSpPr>
        <p:spPr>
          <a:xfrm>
            <a:off x="6537960" y="2331720"/>
            <a:ext cx="4983480" cy="3063240"/>
          </a:xfrm>
          <a:prstGeom prst="roundRect">
            <a:avLst>
              <a:gd name="adj" fmla="val 3582"/>
            </a:avLst>
          </a:prstGeom>
          <a:solidFill>
            <a:srgbClr val="F5F5F7"/>
          </a:solidFill>
          <a:ln/>
        </p:spPr>
      </p:sp>
      <p:sp>
        <p:nvSpPr>
          <p:cNvPr id="8" name="Text 6"/>
          <p:cNvSpPr txBox="1"/>
          <p:nvPr/>
        </p:nvSpPr>
        <p:spPr>
          <a:xfrm>
            <a:off x="6858000" y="2606040"/>
            <a:ext cx="438912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The gap I am filling</a:t>
            </a:r>
            <a:endParaRPr lang="en-US" sz="1700" dirty="0"/>
          </a:p>
        </p:txBody>
      </p:sp>
      <p:sp>
        <p:nvSpPr>
          <p:cNvPr id="9" name="Text 7"/>
          <p:cNvSpPr txBox="1"/>
          <p:nvPr/>
        </p:nvSpPr>
        <p:spPr>
          <a:xfrm>
            <a:off x="6858000" y="3108960"/>
            <a:ext cx="4389120" cy="1920240"/>
          </a:xfrm>
          <a:prstGeom prst="rect">
            <a:avLst/>
          </a:prstGeom>
          <a:noFill/>
          <a:ln/>
        </p:spPr>
        <p:txBody>
          <a:bodyPr wrap="square" lIns="0" tIns="0" rIns="0" bIns="0" rtlCol="0" anchor="ctr"/>
          <a:lstStyle/>
          <a:p>
            <a:pPr indent="0" marL="0">
              <a:lnSpc>
                <a:spcPct val="114000"/>
              </a:lnSpc>
              <a:buNone/>
            </a:pPr>
            <a:r>
              <a:rPr lang="en-US" sz="1750" dirty="0">
                <a:solidFill>
                  <a:srgbClr val="1D1D1F"/>
                </a:solidFill>
                <a:latin typeface="Calibri" pitchFamily="34" charset="0"/>
                <a:ea typeface="Calibri" pitchFamily="34" charset="-122"/>
                <a:cs typeface="Calibri" pitchFamily="34" charset="-120"/>
              </a:rPr>
              <a:t>No lightweight detector adapts to benign drift while resisting adversarial drift, and none reports what that resilience costs on a real ESP32.</a:t>
            </a:r>
            <a:endParaRPr lang="en-US" sz="1750" dirty="0"/>
          </a:p>
        </p:txBody>
      </p:sp>
      <p:sp>
        <p:nvSpPr>
          <p:cNvPr id="10" name="Text 8"/>
          <p:cNvSpPr txBox="1"/>
          <p:nvPr/>
        </p:nvSpPr>
        <p:spPr>
          <a:xfrm>
            <a:off x="822960" y="5989320"/>
            <a:ext cx="10332720" cy="320040"/>
          </a:xfrm>
          <a:prstGeom prst="rect">
            <a:avLst/>
          </a:prstGeom>
          <a:noFill/>
          <a:ln/>
        </p:spPr>
        <p:txBody>
          <a:bodyPr wrap="square" lIns="0" tIns="0" rIns="0" bIns="0" rtlCol="0" anchor="ctr"/>
          <a:lstStyle/>
          <a:p>
            <a:pPr indent="0" marL="0">
              <a:buNone/>
            </a:pPr>
            <a:r>
              <a:rPr lang="en-US" sz="1150" i="1" dirty="0">
                <a:solidFill>
                  <a:srgbClr val="86868B"/>
                </a:solidFill>
                <a:latin typeface="Calibri" pitchFamily="34" charset="0"/>
                <a:ea typeface="Calibri" pitchFamily="34" charset="-122"/>
                <a:cs typeface="Calibri" pitchFamily="34" charset="-120"/>
              </a:rPr>
              <a:t>Grounded in 5 papers: Kitsune, N-BaIoT, a concept-drift survey, ADWIN, and CIC-IoT-2023.</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909828"/>
            <a:ext cx="100584" cy="100584"/>
          </a:xfrm>
          <a:prstGeom prst="ellipse">
            <a:avLst/>
          </a:prstGeom>
          <a:solidFill>
            <a:srgbClr val="0071E3"/>
          </a:solidFill>
          <a:ln/>
        </p:spPr>
      </p:sp>
      <p:sp>
        <p:nvSpPr>
          <p:cNvPr id="3" name="Text 1"/>
          <p:cNvSpPr txBox="1"/>
          <p:nvPr/>
        </p:nvSpPr>
        <p:spPr>
          <a:xfrm>
            <a:off x="1024128" y="813816"/>
            <a:ext cx="8686800" cy="292608"/>
          </a:xfrm>
          <a:prstGeom prst="rect">
            <a:avLst/>
          </a:prstGeom>
          <a:noFill/>
          <a:ln/>
        </p:spPr>
        <p:txBody>
          <a:bodyPr wrap="square" lIns="0" tIns="0" rIns="0" bIns="0" rtlCol="0" anchor="ctr"/>
          <a:lstStyle/>
          <a:p>
            <a:pPr algn="l" indent="0" marL="0">
              <a:buNone/>
            </a:pPr>
            <a:r>
              <a:rPr lang="en-US" sz="1250" b="1" spc="220" kern="0" dirty="0">
                <a:solidFill>
                  <a:srgbClr val="0071E3"/>
                </a:solidFill>
                <a:latin typeface="Calibri" pitchFamily="34" charset="0"/>
                <a:ea typeface="Calibri" pitchFamily="34" charset="-122"/>
                <a:cs typeface="Calibri" pitchFamily="34" charset="-120"/>
              </a:rPr>
              <a:t>MY RESEARCH QUESTION</a:t>
            </a:r>
            <a:endParaRPr lang="en-US" sz="1250" dirty="0"/>
          </a:p>
        </p:txBody>
      </p:sp>
      <p:sp>
        <p:nvSpPr>
          <p:cNvPr id="4" name="Text 2"/>
          <p:cNvSpPr txBox="1"/>
          <p:nvPr/>
        </p:nvSpPr>
        <p:spPr>
          <a:xfrm>
            <a:off x="822960" y="1920240"/>
            <a:ext cx="10241280" cy="2560320"/>
          </a:xfrm>
          <a:prstGeom prst="rect">
            <a:avLst/>
          </a:prstGeom>
          <a:noFill/>
          <a:ln/>
        </p:spPr>
        <p:txBody>
          <a:bodyPr wrap="square" lIns="0" tIns="0" rIns="0" bIns="0" rtlCol="0" anchor="ctr"/>
          <a:lstStyle/>
          <a:p>
            <a:pPr indent="0" marL="0">
              <a:lnSpc>
                <a:spcPct val="112000"/>
              </a:lnSpc>
              <a:buNone/>
            </a:pPr>
            <a:r>
              <a:rPr lang="en-US" sz="3300" b="1" dirty="0">
                <a:solidFill>
                  <a:srgbClr val="1D1D1F"/>
                </a:solidFill>
                <a:latin typeface="Calibri" pitchFamily="34" charset="0"/>
                <a:ea typeface="Calibri" pitchFamily="34" charset="-122"/>
                <a:cs typeface="Calibri" pitchFamily="34" charset="-120"/>
              </a:rPr>
              <a:t>Can an unsupervised on-device detector </a:t>
            </a:r>
            <a:pPr indent="0" marL="0">
              <a:lnSpc>
                <a:spcPct val="112000"/>
              </a:lnSpc>
              <a:buNone/>
            </a:pPr>
            <a:r>
              <a:rPr lang="en-US" sz="3300" b="1" dirty="0">
                <a:solidFill>
                  <a:srgbClr val="0071E3"/>
                </a:solidFill>
                <a:latin typeface="Calibri" pitchFamily="34" charset="0"/>
                <a:ea typeface="Calibri" pitchFamily="34" charset="-122"/>
                <a:cs typeface="Calibri" pitchFamily="34" charset="-120"/>
              </a:rPr>
              <a:t>adapt to benign drift</a:t>
            </a:r>
            <a:pPr indent="0" marL="0">
              <a:lnSpc>
                <a:spcPct val="112000"/>
              </a:lnSpc>
              <a:buNone/>
            </a:pPr>
            <a:r>
              <a:rPr lang="en-US" sz="3300" b="1" dirty="0">
                <a:solidFill>
                  <a:srgbClr val="1D1D1F"/>
                </a:solidFill>
                <a:latin typeface="Calibri" pitchFamily="34" charset="0"/>
                <a:ea typeface="Calibri" pitchFamily="34" charset="-122"/>
                <a:cs typeface="Calibri" pitchFamily="34" charset="-120"/>
              </a:rPr>
              <a:t> while </a:t>
            </a:r>
            <a:pPr indent="0" marL="0">
              <a:lnSpc>
                <a:spcPct val="112000"/>
              </a:lnSpc>
              <a:buNone/>
            </a:pPr>
            <a:r>
              <a:rPr lang="en-US" sz="3300" b="1" dirty="0">
                <a:solidFill>
                  <a:srgbClr val="0071E3"/>
                </a:solidFill>
                <a:latin typeface="Calibri" pitchFamily="34" charset="0"/>
                <a:ea typeface="Calibri" pitchFamily="34" charset="-122"/>
                <a:cs typeface="Calibri" pitchFamily="34" charset="-120"/>
              </a:rPr>
              <a:t>resisting slow poisoning</a:t>
            </a:r>
            <a:pPr indent="0" marL="0">
              <a:lnSpc>
                <a:spcPct val="112000"/>
              </a:lnSpc>
              <a:buNone/>
            </a:pPr>
            <a:r>
              <a:rPr lang="en-US" sz="3300" b="1" dirty="0">
                <a:solidFill>
                  <a:srgbClr val="1D1D1F"/>
                </a:solidFill>
                <a:latin typeface="Calibri" pitchFamily="34" charset="0"/>
                <a:ea typeface="Calibri" pitchFamily="34" charset="-122"/>
                <a:cs typeface="Calibri" pitchFamily="34" charset="-120"/>
              </a:rPr>
              <a:t> of its own updates, and still fit an ESP32's memory and energy budget?</a:t>
            </a:r>
            <a:endParaRPr lang="en-US" sz="3300" dirty="0"/>
          </a:p>
        </p:txBody>
      </p:sp>
      <p:sp>
        <p:nvSpPr>
          <p:cNvPr id="5" name="Text 3"/>
          <p:cNvSpPr txBox="1"/>
          <p:nvPr/>
        </p:nvSpPr>
        <p:spPr>
          <a:xfrm>
            <a:off x="822960" y="4983480"/>
            <a:ext cx="9966960" cy="822960"/>
          </a:xfrm>
          <a:prstGeom prst="rect">
            <a:avLst/>
          </a:prstGeom>
          <a:noFill/>
          <a:ln/>
        </p:spPr>
        <p:txBody>
          <a:bodyPr wrap="square" lIns="0" tIns="0" rIns="0" bIns="0" rtlCol="0" anchor="ctr"/>
          <a:lstStyle/>
          <a:p>
            <a:pPr indent="0" marL="0">
              <a:lnSpc>
                <a:spcPct val="110000"/>
              </a:lnSpc>
              <a:buNone/>
            </a:pPr>
            <a:r>
              <a:rPr lang="en-US" sz="1700" dirty="0">
                <a:solidFill>
                  <a:srgbClr val="86868B"/>
                </a:solidFill>
                <a:latin typeface="Calibri" pitchFamily="34" charset="0"/>
                <a:ea typeface="Calibri" pitchFamily="34" charset="-122"/>
                <a:cs typeface="Calibri" pitchFamily="34" charset="-120"/>
              </a:rPr>
              <a:t>My bet: a small update guard tells honest change apart from an attack, keeping detection high at a tiny on-device cost.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8686800" cy="292608"/>
          </a:xfrm>
          <a:prstGeom prst="rect">
            <a:avLst/>
          </a:prstGeom>
          <a:noFill/>
          <a:ln/>
        </p:spPr>
        <p:txBody>
          <a:bodyPr wrap="square" lIns="0" tIns="0" rIns="0" bIns="0" rtlCol="0" anchor="ctr"/>
          <a:lstStyle/>
          <a:p>
            <a:pPr algn="l" indent="0" marL="0">
              <a:buNone/>
            </a:pPr>
            <a:r>
              <a:rPr lang="en-US" sz="1250" b="1" spc="220" kern="0" dirty="0">
                <a:solidFill>
                  <a:srgbClr val="0071E3"/>
                </a:solidFill>
                <a:latin typeface="Calibri" pitchFamily="34" charset="0"/>
                <a:ea typeface="Calibri" pitchFamily="34" charset="-122"/>
                <a:cs typeface="Calibri" pitchFamily="34" charset="-120"/>
              </a:rPr>
              <a:t>MY APPROACH</a:t>
            </a:r>
            <a:endParaRPr lang="en-US" sz="1250" dirty="0"/>
          </a:p>
        </p:txBody>
      </p:sp>
      <p:sp>
        <p:nvSpPr>
          <p:cNvPr id="4" name="Text 2"/>
          <p:cNvSpPr txBox="1"/>
          <p:nvPr/>
        </p:nvSpPr>
        <p:spPr>
          <a:xfrm>
            <a:off x="822960" y="1234440"/>
            <a:ext cx="10332720" cy="731520"/>
          </a:xfrm>
          <a:prstGeom prst="rect">
            <a:avLst/>
          </a:prstGeom>
          <a:noFill/>
          <a:ln/>
        </p:spPr>
        <p:txBody>
          <a:bodyPr wrap="square" lIns="0" tIns="0" rIns="0" bIns="0" rtlCol="0" anchor="ctr"/>
          <a:lstStyle/>
          <a:p>
            <a:pPr indent="0" marL="0">
              <a:buNone/>
            </a:pPr>
            <a:r>
              <a:rPr lang="en-US" sz="2900" b="1" dirty="0">
                <a:solidFill>
                  <a:srgbClr val="1D1D1F"/>
                </a:solidFill>
                <a:latin typeface="Calibri" pitchFamily="34" charset="0"/>
                <a:ea typeface="Calibri" pitchFamily="34" charset="-122"/>
                <a:cs typeface="Calibri" pitchFamily="34" charset="-120"/>
              </a:rPr>
              <a:t>Build the detector, break it, then defend it.</a:t>
            </a:r>
            <a:endParaRPr lang="en-US" sz="2900" dirty="0"/>
          </a:p>
        </p:txBody>
      </p:sp>
      <p:sp>
        <p:nvSpPr>
          <p:cNvPr id="5" name="Text 3"/>
          <p:cNvSpPr txBox="1"/>
          <p:nvPr/>
        </p:nvSpPr>
        <p:spPr>
          <a:xfrm>
            <a:off x="822960" y="2240280"/>
            <a:ext cx="530352" cy="530352"/>
          </a:xfrm>
          <a:prstGeom prst="ellipse">
            <a:avLst/>
          </a:prstGeom>
          <a:solidFill>
            <a:srgbClr val="0071E3"/>
          </a:solid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1600200" y="2194560"/>
            <a:ext cx="950976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Detector</a:t>
            </a:r>
            <a:endParaRPr lang="en-US" sz="1800" dirty="0"/>
          </a:p>
        </p:txBody>
      </p:sp>
      <p:sp>
        <p:nvSpPr>
          <p:cNvPr id="7" name="Text 5"/>
          <p:cNvSpPr txBox="1"/>
          <p:nvPr/>
        </p:nvSpPr>
        <p:spPr>
          <a:xfrm>
            <a:off x="1600200" y="2542032"/>
            <a:ext cx="9509760" cy="457200"/>
          </a:xfrm>
          <a:prstGeom prst="rect">
            <a:avLst/>
          </a:prstGeom>
          <a:noFill/>
          <a:ln/>
        </p:spPr>
        <p:txBody>
          <a:bodyPr wrap="square" lIns="0" tIns="0" rIns="0" bIns="0" rtlCol="0" anchor="ctr"/>
          <a:lstStyle/>
          <a:p>
            <a:pPr indent="0" marL="0">
              <a:buNone/>
            </a:pPr>
            <a:r>
              <a:rPr lang="en-US" sz="1500" dirty="0">
                <a:solidFill>
                  <a:srgbClr val="424245"/>
                </a:solidFill>
                <a:latin typeface="Calibri" pitchFamily="34" charset="0"/>
                <a:ea typeface="Calibri" pitchFamily="34" charset="-122"/>
                <a:cs typeface="Calibri" pitchFamily="34" charset="-120"/>
              </a:rPr>
              <a:t>Tiny unsupervised TinyML model plus online drift tracking (ADWIN, Page-Hinkley).</a:t>
            </a:r>
            <a:endParaRPr lang="en-US" sz="1500" dirty="0"/>
          </a:p>
        </p:txBody>
      </p:sp>
      <p:sp>
        <p:nvSpPr>
          <p:cNvPr id="8" name="Text 6"/>
          <p:cNvSpPr txBox="1"/>
          <p:nvPr/>
        </p:nvSpPr>
        <p:spPr>
          <a:xfrm>
            <a:off x="822960" y="3200400"/>
            <a:ext cx="530352" cy="530352"/>
          </a:xfrm>
          <a:prstGeom prst="ellipse">
            <a:avLst/>
          </a:prstGeom>
          <a:solidFill>
            <a:srgbClr val="0071E3"/>
          </a:solid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9" name="Text 7"/>
          <p:cNvSpPr txBox="1"/>
          <p:nvPr/>
        </p:nvSpPr>
        <p:spPr>
          <a:xfrm>
            <a:off x="1600200" y="3154680"/>
            <a:ext cx="950976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The attack</a:t>
            </a:r>
            <a:endParaRPr lang="en-US" sz="1800" dirty="0"/>
          </a:p>
        </p:txBody>
      </p:sp>
      <p:sp>
        <p:nvSpPr>
          <p:cNvPr id="10" name="Text 8"/>
          <p:cNvSpPr txBox="1"/>
          <p:nvPr/>
        </p:nvSpPr>
        <p:spPr>
          <a:xfrm>
            <a:off x="1600200" y="3502152"/>
            <a:ext cx="9509760" cy="457200"/>
          </a:xfrm>
          <a:prstGeom prst="rect">
            <a:avLst/>
          </a:prstGeom>
          <a:noFill/>
          <a:ln/>
        </p:spPr>
        <p:txBody>
          <a:bodyPr wrap="square" lIns="0" tIns="0" rIns="0" bIns="0" rtlCol="0" anchor="ctr"/>
          <a:lstStyle/>
          <a:p>
            <a:pPr indent="0" marL="0">
              <a:buNone/>
            </a:pPr>
            <a:r>
              <a:rPr lang="en-US" sz="1500" dirty="0">
                <a:solidFill>
                  <a:srgbClr val="424245"/>
                </a:solidFill>
                <a:latin typeface="Calibri" pitchFamily="34" charset="0"/>
                <a:ea typeface="Calibri" pitchFamily="34" charset="-122"/>
                <a:cs typeface="Calibri" pitchFamily="34" charset="-120"/>
              </a:rPr>
              <a:t>A boiling-frog poisoning attack that slowly walks normal until an attack slips through.</a:t>
            </a:r>
            <a:endParaRPr lang="en-US" sz="1500" dirty="0"/>
          </a:p>
        </p:txBody>
      </p:sp>
      <p:sp>
        <p:nvSpPr>
          <p:cNvPr id="11" name="Text 9"/>
          <p:cNvSpPr txBox="1"/>
          <p:nvPr/>
        </p:nvSpPr>
        <p:spPr>
          <a:xfrm>
            <a:off x="822960" y="4160520"/>
            <a:ext cx="530352" cy="530352"/>
          </a:xfrm>
          <a:prstGeom prst="ellipse">
            <a:avLst/>
          </a:prstGeom>
          <a:solidFill>
            <a:srgbClr val="0071E3"/>
          </a:solid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2" name="Text 10"/>
          <p:cNvSpPr txBox="1"/>
          <p:nvPr/>
        </p:nvSpPr>
        <p:spPr>
          <a:xfrm>
            <a:off x="1600200" y="4114800"/>
            <a:ext cx="950976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The defense</a:t>
            </a:r>
            <a:pPr indent="0" marL="0">
              <a:buNone/>
            </a:pPr>
            <a:r>
              <a:rPr lang="en-US" sz="1250" b="1" dirty="0">
                <a:solidFill>
                  <a:srgbClr val="0071E3"/>
                </a:solidFill>
                <a:latin typeface="Calibri" pitchFamily="34" charset="0"/>
                <a:ea typeface="Calibri" pitchFamily="34" charset="-122"/>
                <a:cs typeface="Calibri" pitchFamily="34" charset="-120"/>
              </a:rPr>
              <a:t>   the new part</a:t>
            </a:r>
            <a:endParaRPr lang="en-US" sz="1800" dirty="0"/>
          </a:p>
        </p:txBody>
      </p:sp>
      <p:sp>
        <p:nvSpPr>
          <p:cNvPr id="13" name="Text 11"/>
          <p:cNvSpPr txBox="1"/>
          <p:nvPr/>
        </p:nvSpPr>
        <p:spPr>
          <a:xfrm>
            <a:off x="1600200" y="4462272"/>
            <a:ext cx="9509760" cy="457200"/>
          </a:xfrm>
          <a:prstGeom prst="rect">
            <a:avLst/>
          </a:prstGeom>
          <a:noFill/>
          <a:ln/>
        </p:spPr>
        <p:txBody>
          <a:bodyPr wrap="square" lIns="0" tIns="0" rIns="0" bIns="0" rtlCol="0" anchor="ctr"/>
          <a:lstStyle/>
          <a:p>
            <a:pPr indent="0" marL="0">
              <a:buNone/>
            </a:pPr>
            <a:r>
              <a:rPr lang="en-US" sz="1500" dirty="0">
                <a:solidFill>
                  <a:srgbClr val="424245"/>
                </a:solidFill>
                <a:latin typeface="Calibri" pitchFamily="34" charset="0"/>
                <a:ea typeface="Calibri" pitchFamily="34" charset="-122"/>
                <a:cs typeface="Calibri" pitchFamily="34" charset="-120"/>
              </a:rPr>
              <a:t>A robust update guard: rate-limited updates, trimmed stats, and a trusted anchor.</a:t>
            </a:r>
            <a:endParaRPr lang="en-US" sz="1500" dirty="0"/>
          </a:p>
        </p:txBody>
      </p:sp>
      <p:sp>
        <p:nvSpPr>
          <p:cNvPr id="14" name="Text 12"/>
          <p:cNvSpPr txBox="1"/>
          <p:nvPr/>
        </p:nvSpPr>
        <p:spPr>
          <a:xfrm>
            <a:off x="822960" y="5120640"/>
            <a:ext cx="530352" cy="530352"/>
          </a:xfrm>
          <a:prstGeom prst="ellipse">
            <a:avLst/>
          </a:prstGeom>
          <a:solidFill>
            <a:srgbClr val="0071E3"/>
          </a:solid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15" name="Text 13"/>
          <p:cNvSpPr txBox="1"/>
          <p:nvPr/>
        </p:nvSpPr>
        <p:spPr>
          <a:xfrm>
            <a:off x="1600200" y="5074920"/>
            <a:ext cx="9509760" cy="365760"/>
          </a:xfrm>
          <a:prstGeom prst="rect">
            <a:avLst/>
          </a:prstGeom>
          <a:noFill/>
          <a:ln/>
        </p:spPr>
        <p:txBody>
          <a:bodyPr wrap="square" lIns="0" tIns="0" rIns="0" bIns="0" rtlCol="0" anchor="ctr"/>
          <a:lstStyle/>
          <a:p>
            <a:pPr indent="0" marL="0">
              <a:buNone/>
            </a:pPr>
            <a:r>
              <a:rPr lang="en-US" sz="1800" b="1" dirty="0">
                <a:solidFill>
                  <a:srgbClr val="1D1D1F"/>
                </a:solidFill>
                <a:latin typeface="Calibri" pitchFamily="34" charset="0"/>
                <a:ea typeface="Calibri" pitchFamily="34" charset="-122"/>
                <a:cs typeface="Calibri" pitchFamily="34" charset="-120"/>
              </a:rPr>
              <a:t>Proof on hardware</a:t>
            </a:r>
            <a:endParaRPr lang="en-US" sz="1800" dirty="0"/>
          </a:p>
        </p:txBody>
      </p:sp>
      <p:sp>
        <p:nvSpPr>
          <p:cNvPr id="16" name="Text 14"/>
          <p:cNvSpPr txBox="1"/>
          <p:nvPr/>
        </p:nvSpPr>
        <p:spPr>
          <a:xfrm>
            <a:off x="1600200" y="5422392"/>
            <a:ext cx="9509760" cy="457200"/>
          </a:xfrm>
          <a:prstGeom prst="rect">
            <a:avLst/>
          </a:prstGeom>
          <a:noFill/>
          <a:ln/>
        </p:spPr>
        <p:txBody>
          <a:bodyPr wrap="square" lIns="0" tIns="0" rIns="0" bIns="0" rtlCol="0" anchor="ctr"/>
          <a:lstStyle/>
          <a:p>
            <a:pPr indent="0" marL="0">
              <a:buNone/>
            </a:pPr>
            <a:r>
              <a:rPr lang="en-US" sz="1500" dirty="0">
                <a:solidFill>
                  <a:srgbClr val="424245"/>
                </a:solidFill>
                <a:latin typeface="Calibri" pitchFamily="34" charset="0"/>
                <a:ea typeface="Calibri" pitchFamily="34" charset="-122"/>
                <a:cs typeface="Calibri" pitchFamily="34" charset="-120"/>
              </a:rPr>
              <a:t>Run detector, attack, and defense on the ESP32, and measure the real cost.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8686800" cy="292608"/>
          </a:xfrm>
          <a:prstGeom prst="rect">
            <a:avLst/>
          </a:prstGeom>
          <a:noFill/>
          <a:ln/>
        </p:spPr>
        <p:txBody>
          <a:bodyPr wrap="square" lIns="0" tIns="0" rIns="0" bIns="0" rtlCol="0" anchor="ctr"/>
          <a:lstStyle/>
          <a:p>
            <a:pPr algn="l" indent="0" marL="0">
              <a:buNone/>
            </a:pPr>
            <a:r>
              <a:rPr lang="en-US" sz="1250" b="1" spc="220" kern="0" dirty="0">
                <a:solidFill>
                  <a:srgbClr val="0071E3"/>
                </a:solidFill>
                <a:latin typeface="Calibri" pitchFamily="34" charset="0"/>
                <a:ea typeface="Calibri" pitchFamily="34" charset="-122"/>
                <a:cs typeface="Calibri" pitchFamily="34" charset="-120"/>
              </a:rPr>
              <a:t>PLATFORM, TOOLS, DATA, BASELINES</a:t>
            </a:r>
            <a:endParaRPr lang="en-US" sz="1250" dirty="0"/>
          </a:p>
        </p:txBody>
      </p:sp>
      <p:sp>
        <p:nvSpPr>
          <p:cNvPr id="4" name="Text 2"/>
          <p:cNvSpPr txBox="1"/>
          <p:nvPr/>
        </p:nvSpPr>
        <p:spPr>
          <a:xfrm>
            <a:off x="822960" y="1234440"/>
            <a:ext cx="10332720" cy="731520"/>
          </a:xfrm>
          <a:prstGeom prst="rect">
            <a:avLst/>
          </a:prstGeom>
          <a:noFill/>
          <a:ln/>
        </p:spPr>
        <p:txBody>
          <a:bodyPr wrap="square" lIns="0" tIns="0" rIns="0" bIns="0" rtlCol="0" anchor="ctr"/>
          <a:lstStyle/>
          <a:p>
            <a:pPr indent="0" marL="0">
              <a:buNone/>
            </a:pPr>
            <a:r>
              <a:rPr lang="en-US" sz="2800" b="1" dirty="0">
                <a:solidFill>
                  <a:srgbClr val="1D1D1F"/>
                </a:solidFill>
                <a:latin typeface="Calibri" pitchFamily="34" charset="0"/>
                <a:ea typeface="Calibri" pitchFamily="34" charset="-122"/>
                <a:cs typeface="Calibri" pitchFamily="34" charset="-120"/>
              </a:rPr>
              <a:t>What I build on, and what I compare against.</a:t>
            </a:r>
            <a:endParaRPr lang="en-US" sz="2800" dirty="0"/>
          </a:p>
        </p:txBody>
      </p:sp>
      <p:sp>
        <p:nvSpPr>
          <p:cNvPr id="5" name="Shape 3"/>
          <p:cNvSpPr/>
          <p:nvPr/>
        </p:nvSpPr>
        <p:spPr>
          <a:xfrm>
            <a:off x="822960" y="2240280"/>
            <a:ext cx="5029200" cy="3383280"/>
          </a:xfrm>
          <a:prstGeom prst="roundRect">
            <a:avLst>
              <a:gd name="adj" fmla="val 3243"/>
            </a:avLst>
          </a:prstGeom>
          <a:solidFill>
            <a:srgbClr val="F5F5F7"/>
          </a:solidFill>
          <a:ln/>
        </p:spPr>
      </p:sp>
      <p:sp>
        <p:nvSpPr>
          <p:cNvPr id="6" name="Text 4"/>
          <p:cNvSpPr txBox="1"/>
          <p:nvPr/>
        </p:nvSpPr>
        <p:spPr>
          <a:xfrm>
            <a:off x="1143000" y="2468880"/>
            <a:ext cx="438912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Build on</a:t>
            </a:r>
            <a:endParaRPr lang="en-US" sz="1700" dirty="0"/>
          </a:p>
        </p:txBody>
      </p:sp>
      <p:sp>
        <p:nvSpPr>
          <p:cNvPr id="7" name="Text 5"/>
          <p:cNvSpPr txBox="1"/>
          <p:nvPr/>
        </p:nvSpPr>
        <p:spPr>
          <a:xfrm>
            <a:off x="1143000" y="2971800"/>
            <a:ext cx="4434840" cy="2468880"/>
          </a:xfrm>
          <a:prstGeom prst="rect">
            <a:avLst/>
          </a:prstGeom>
          <a:noFill/>
          <a:ln/>
        </p:spPr>
        <p:txBody>
          <a:bodyPr wrap="square" lIns="0" tIns="0" rIns="0" bIns="0" rtlCol="0" anchor="ctr"/>
          <a:lstStyle/>
          <a:p>
            <a:pPr indent="0" marL="0">
              <a:lnSpc>
                <a:spcPct val="108000"/>
              </a:lnSpc>
              <a:buNone/>
            </a:pPr>
            <a:r>
              <a:rPr lang="en-US" sz="1500" b="1" dirty="0">
                <a:solidFill>
                  <a:srgbClr val="1D1D1F"/>
                </a:solidFill>
                <a:latin typeface="Calibri" pitchFamily="34" charset="0"/>
                <a:ea typeface="Calibri" pitchFamily="34" charset="-122"/>
                <a:cs typeface="Calibri" pitchFamily="34" charset="-120"/>
              </a:rPr>
              <a:t>Hardware</a:t>
            </a:r>
            <a:endParaRPr lang="en-US" sz="1500" dirty="0"/>
          </a:p>
          <a:p>
            <a:pPr indent="0" marL="0">
              <a:lnSpc>
                <a:spcPct val="108000"/>
              </a:lnSpc>
              <a:spcAft>
                <a:spcPts val="1200"/>
              </a:spcAft>
              <a:buNone/>
            </a:pPr>
            <a:r>
              <a:rPr lang="en-US" sz="1500" dirty="0">
                <a:solidFill>
                  <a:srgbClr val="424245"/>
                </a:solidFill>
                <a:latin typeface="Calibri" pitchFamily="34" charset="0"/>
                <a:ea typeface="Calibri" pitchFamily="34" charset="-122"/>
                <a:cs typeface="Calibri" pitchFamily="34" charset="-120"/>
              </a:rPr>
              <a:t>ESP32</a:t>
            </a:r>
            <a:endParaRPr lang="en-US" sz="1500" dirty="0"/>
          </a:p>
          <a:p>
            <a:pPr indent="0" marL="0">
              <a:lnSpc>
                <a:spcPct val="108000"/>
              </a:lnSpc>
              <a:buNone/>
            </a:pPr>
            <a:r>
              <a:rPr lang="en-US" sz="1500" b="1" dirty="0">
                <a:solidFill>
                  <a:srgbClr val="1D1D1F"/>
                </a:solidFill>
                <a:latin typeface="Calibri" pitchFamily="34" charset="0"/>
                <a:ea typeface="Calibri" pitchFamily="34" charset="-122"/>
                <a:cs typeface="Calibri" pitchFamily="34" charset="-120"/>
              </a:rPr>
              <a:t>Code</a:t>
            </a:r>
            <a:endParaRPr lang="en-US" sz="1500" dirty="0"/>
          </a:p>
          <a:p>
            <a:pPr indent="0" marL="0">
              <a:lnSpc>
                <a:spcPct val="108000"/>
              </a:lnSpc>
              <a:spcAft>
                <a:spcPts val="1200"/>
              </a:spcAft>
              <a:buNone/>
            </a:pPr>
            <a:r>
              <a:rPr lang="en-US" sz="1500" dirty="0">
                <a:solidFill>
                  <a:srgbClr val="424245"/>
                </a:solidFill>
                <a:latin typeface="Calibri" pitchFamily="34" charset="0"/>
                <a:ea typeface="Calibri" pitchFamily="34" charset="-122"/>
                <a:cs typeface="Calibri" pitchFamily="34" charset="-120"/>
              </a:rPr>
              <a:t>Python, TensorFlow Lite Micro, river, scikit-learn</a:t>
            </a:r>
            <a:endParaRPr lang="en-US" sz="1500" dirty="0"/>
          </a:p>
          <a:p>
            <a:pPr indent="0" marL="0">
              <a:lnSpc>
                <a:spcPct val="108000"/>
              </a:lnSpc>
              <a:buNone/>
            </a:pPr>
            <a:r>
              <a:rPr lang="en-US" sz="1500" b="1" dirty="0">
                <a:solidFill>
                  <a:srgbClr val="1D1D1F"/>
                </a:solidFill>
                <a:latin typeface="Calibri" pitchFamily="34" charset="0"/>
                <a:ea typeface="Calibri" pitchFamily="34" charset="-122"/>
                <a:cs typeface="Calibri" pitchFamily="34" charset="-120"/>
              </a:rPr>
              <a:t>Data</a:t>
            </a:r>
            <a:endParaRPr lang="en-US" sz="1500" dirty="0"/>
          </a:p>
          <a:p>
            <a:pPr indent="0" marL="0">
              <a:lnSpc>
                <a:spcPct val="108000"/>
              </a:lnSpc>
              <a:buNone/>
            </a:pPr>
            <a:r>
              <a:rPr lang="en-US" sz="1500" dirty="0">
                <a:solidFill>
                  <a:srgbClr val="424245"/>
                </a:solidFill>
                <a:latin typeface="Calibri" pitchFamily="34" charset="0"/>
                <a:ea typeface="Calibri" pitchFamily="34" charset="-122"/>
                <a:cs typeface="Calibri" pitchFamily="34" charset="-120"/>
              </a:rPr>
              <a:t>CIC-IoT-2023, N-BaIoT, TON_IoT</a:t>
            </a:r>
            <a:endParaRPr lang="en-US" sz="1500" dirty="0"/>
          </a:p>
        </p:txBody>
      </p:sp>
      <p:sp>
        <p:nvSpPr>
          <p:cNvPr id="8" name="Shape 6"/>
          <p:cNvSpPr/>
          <p:nvPr/>
        </p:nvSpPr>
        <p:spPr>
          <a:xfrm>
            <a:off x="6263640" y="2240280"/>
            <a:ext cx="5257800" cy="3383280"/>
          </a:xfrm>
          <a:prstGeom prst="roundRect">
            <a:avLst>
              <a:gd name="adj" fmla="val 3243"/>
            </a:avLst>
          </a:prstGeom>
          <a:solidFill>
            <a:srgbClr val="F5F5F7"/>
          </a:solidFill>
          <a:ln/>
        </p:spPr>
      </p:sp>
      <p:sp>
        <p:nvSpPr>
          <p:cNvPr id="9" name="Text 7"/>
          <p:cNvSpPr txBox="1"/>
          <p:nvPr/>
        </p:nvSpPr>
        <p:spPr>
          <a:xfrm>
            <a:off x="6583680" y="2468880"/>
            <a:ext cx="4572000" cy="365760"/>
          </a:xfrm>
          <a:prstGeom prst="rect">
            <a:avLst/>
          </a:prstGeom>
          <a:noFill/>
          <a:ln/>
        </p:spPr>
        <p:txBody>
          <a:bodyPr wrap="square" lIns="0" tIns="0" rIns="0" bIns="0" rtlCol="0" anchor="ctr"/>
          <a:lstStyle/>
          <a:p>
            <a:pPr indent="0" marL="0">
              <a:buNone/>
            </a:pPr>
            <a:r>
              <a:rPr lang="en-US" sz="1700" b="1" dirty="0">
                <a:solidFill>
                  <a:srgbClr val="0071E3"/>
                </a:solidFill>
                <a:latin typeface="Calibri" pitchFamily="34" charset="0"/>
                <a:ea typeface="Calibri" pitchFamily="34" charset="-122"/>
                <a:cs typeface="Calibri" pitchFamily="34" charset="-120"/>
              </a:rPr>
              <a:t>Compare against</a:t>
            </a:r>
            <a:endParaRPr lang="en-US" sz="1700" dirty="0"/>
          </a:p>
        </p:txBody>
      </p:sp>
      <p:sp>
        <p:nvSpPr>
          <p:cNvPr id="10" name="Text 8"/>
          <p:cNvSpPr txBox="1"/>
          <p:nvPr/>
        </p:nvSpPr>
        <p:spPr>
          <a:xfrm>
            <a:off x="6583680" y="3017520"/>
            <a:ext cx="4663440" cy="2377440"/>
          </a:xfrm>
          <a:prstGeom prst="rect">
            <a:avLst/>
          </a:prstGeom>
          <a:noFill/>
          <a:ln/>
        </p:spPr>
        <p:txBody>
          <a:bodyPr wrap="square" lIns="0" tIns="0" rIns="0" bIns="0" rtlCol="0" anchor="ctr"/>
          <a:lstStyle/>
          <a:p>
            <a:pPr marL="203200" indent="-203200">
              <a:lnSpc>
                <a:spcPct val="108000"/>
              </a:lnSpc>
              <a:spcAft>
                <a:spcPts val="1200"/>
              </a:spcAft>
              <a:buSzPct val="100000"/>
              <a:buChar char="•"/>
            </a:pPr>
            <a:r>
              <a:rPr lang="en-US" sz="1500" dirty="0">
                <a:solidFill>
                  <a:srgbClr val="424245"/>
                </a:solidFill>
                <a:latin typeface="Calibri" pitchFamily="34" charset="0"/>
                <a:ea typeface="Calibri" pitchFamily="34" charset="-122"/>
                <a:cs typeface="Calibri" pitchFamily="34" charset="-120"/>
              </a:rPr>
              <a:t>Static detector, safe but stale</a:t>
            </a:r>
            <a:endParaRPr lang="en-US" sz="1500" dirty="0"/>
          </a:p>
          <a:p>
            <a:pPr marL="203200" indent="-203200">
              <a:lnSpc>
                <a:spcPct val="108000"/>
              </a:lnSpc>
              <a:spcAft>
                <a:spcPts val="1200"/>
              </a:spcAft>
              <a:buSzPct val="100000"/>
              <a:buChar char="•"/>
            </a:pPr>
            <a:r>
              <a:rPr lang="en-US" sz="1500" dirty="0">
                <a:solidFill>
                  <a:srgbClr val="424245"/>
                </a:solidFill>
                <a:latin typeface="Calibri" pitchFamily="34" charset="0"/>
                <a:ea typeface="Calibri" pitchFamily="34" charset="-122"/>
                <a:cs typeface="Calibri" pitchFamily="34" charset="-120"/>
              </a:rPr>
              <a:t>Naive adaptive detector, fresh but poisonable (the key contrast)</a:t>
            </a:r>
            <a:endParaRPr lang="en-US" sz="1500" dirty="0"/>
          </a:p>
          <a:p>
            <a:pPr marL="203200" indent="-203200">
              <a:lnSpc>
                <a:spcPct val="108000"/>
              </a:lnSpc>
              <a:spcAft>
                <a:spcPts val="1200"/>
              </a:spcAft>
              <a:buSzPct val="100000"/>
              <a:buChar char="•"/>
            </a:pPr>
            <a:r>
              <a:rPr lang="en-US" sz="1500" dirty="0">
                <a:solidFill>
                  <a:srgbClr val="424245"/>
                </a:solidFill>
                <a:latin typeface="Calibri" pitchFamily="34" charset="0"/>
                <a:ea typeface="Calibri" pitchFamily="34" charset="-122"/>
                <a:cs typeface="Calibri" pitchFamily="34" charset="-120"/>
              </a:rPr>
              <a:t>Periodic full retrain, the heavy cloud way</a:t>
            </a:r>
            <a:endParaRPr lang="en-US" sz="1500" dirty="0"/>
          </a:p>
          <a:p>
            <a:pPr marL="203200" indent="-203200">
              <a:lnSpc>
                <a:spcPct val="108000"/>
              </a:lnSpc>
              <a:buSzPct val="100000"/>
              <a:buChar char="•"/>
            </a:pPr>
            <a:r>
              <a:rPr lang="en-US" sz="1500" dirty="0">
                <a:solidFill>
                  <a:srgbClr val="424245"/>
                </a:solidFill>
                <a:latin typeface="Calibri" pitchFamily="34" charset="0"/>
                <a:ea typeface="Calibri" pitchFamily="34" charset="-122"/>
                <a:cs typeface="Calibri" pitchFamily="34" charset="-120"/>
              </a:rPr>
              <a:t>Kitsune-style reference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772668"/>
            <a:ext cx="100584" cy="100584"/>
          </a:xfrm>
          <a:prstGeom prst="ellipse">
            <a:avLst/>
          </a:prstGeom>
          <a:solidFill>
            <a:srgbClr val="0071E3"/>
          </a:solidFill>
          <a:ln/>
        </p:spPr>
      </p:sp>
      <p:sp>
        <p:nvSpPr>
          <p:cNvPr id="3" name="Text 1"/>
          <p:cNvSpPr txBox="1"/>
          <p:nvPr/>
        </p:nvSpPr>
        <p:spPr>
          <a:xfrm>
            <a:off x="1024128" y="676656"/>
            <a:ext cx="8686800" cy="292608"/>
          </a:xfrm>
          <a:prstGeom prst="rect">
            <a:avLst/>
          </a:prstGeom>
          <a:noFill/>
          <a:ln/>
        </p:spPr>
        <p:txBody>
          <a:bodyPr wrap="square" lIns="0" tIns="0" rIns="0" bIns="0" rtlCol="0" anchor="ctr"/>
          <a:lstStyle/>
          <a:p>
            <a:pPr algn="l" indent="0" marL="0">
              <a:buNone/>
            </a:pPr>
            <a:r>
              <a:rPr lang="en-US" sz="1250" b="1" spc="220" kern="0" dirty="0">
                <a:solidFill>
                  <a:srgbClr val="0071E3"/>
                </a:solidFill>
                <a:latin typeface="Calibri" pitchFamily="34" charset="0"/>
                <a:ea typeface="Calibri" pitchFamily="34" charset="-122"/>
                <a:cs typeface="Calibri" pitchFamily="34" charset="-120"/>
              </a:rPr>
              <a:t>HOW I MEASURE SUCCESS</a:t>
            </a:r>
            <a:endParaRPr lang="en-US" sz="1250" dirty="0"/>
          </a:p>
        </p:txBody>
      </p:sp>
      <p:sp>
        <p:nvSpPr>
          <p:cNvPr id="4" name="Text 2"/>
          <p:cNvSpPr txBox="1"/>
          <p:nvPr/>
        </p:nvSpPr>
        <p:spPr>
          <a:xfrm>
            <a:off x="822960" y="1234440"/>
            <a:ext cx="10332720" cy="731520"/>
          </a:xfrm>
          <a:prstGeom prst="rect">
            <a:avLst/>
          </a:prstGeom>
          <a:noFill/>
          <a:ln/>
        </p:spPr>
        <p:txBody>
          <a:bodyPr wrap="square" lIns="0" tIns="0" rIns="0" bIns="0" rtlCol="0" anchor="ctr"/>
          <a:lstStyle/>
          <a:p>
            <a:pPr indent="0" marL="0">
              <a:buNone/>
            </a:pPr>
            <a:r>
              <a:rPr lang="en-US" sz="2800" b="1" dirty="0">
                <a:solidFill>
                  <a:srgbClr val="1D1D1F"/>
                </a:solidFill>
                <a:latin typeface="Calibri" pitchFamily="34" charset="0"/>
                <a:ea typeface="Calibri" pitchFamily="34" charset="-122"/>
                <a:cs typeface="Calibri" pitchFamily="34" charset="-120"/>
              </a:rPr>
              <a:t>The attack proves the risk. The rest keep me honest.</a:t>
            </a:r>
            <a:endParaRPr lang="en-US" sz="2800" dirty="0"/>
          </a:p>
        </p:txBody>
      </p:sp>
      <p:sp>
        <p:nvSpPr>
          <p:cNvPr id="5" name="Shape 3"/>
          <p:cNvSpPr/>
          <p:nvPr/>
        </p:nvSpPr>
        <p:spPr>
          <a:xfrm>
            <a:off x="822960" y="2194560"/>
            <a:ext cx="10698480" cy="1371600"/>
          </a:xfrm>
          <a:prstGeom prst="roundRect">
            <a:avLst>
              <a:gd name="adj" fmla="val 8000"/>
            </a:avLst>
          </a:prstGeom>
          <a:solidFill>
            <a:srgbClr val="1D1D1F"/>
          </a:solidFill>
          <a:ln/>
        </p:spPr>
      </p:sp>
      <p:sp>
        <p:nvSpPr>
          <p:cNvPr id="6" name="Text 4"/>
          <p:cNvSpPr txBox="1"/>
          <p:nvPr/>
        </p:nvSpPr>
        <p:spPr>
          <a:xfrm>
            <a:off x="1188720" y="2487168"/>
            <a:ext cx="1828800" cy="320040"/>
          </a:xfrm>
          <a:prstGeom prst="rect">
            <a:avLst/>
          </a:prstGeom>
          <a:noFill/>
          <a:ln/>
        </p:spPr>
        <p:txBody>
          <a:bodyPr wrap="square" lIns="0" tIns="0" rIns="0" bIns="0" rtlCol="0" anchor="ctr"/>
          <a:lstStyle/>
          <a:p>
            <a:pPr indent="0" marL="0">
              <a:buNone/>
            </a:pPr>
            <a:r>
              <a:rPr lang="en-US" sz="1250" b="1" spc="200" kern="0" dirty="0">
                <a:solidFill>
                  <a:srgbClr val="0071E3"/>
                </a:solidFill>
                <a:latin typeface="Calibri" pitchFamily="34" charset="0"/>
                <a:ea typeface="Calibri" pitchFamily="34" charset="-122"/>
                <a:cs typeface="Calibri" pitchFamily="34" charset="-120"/>
              </a:rPr>
              <a:t>PRIMARY</a:t>
            </a:r>
            <a:endParaRPr lang="en-US" sz="1250" dirty="0"/>
          </a:p>
        </p:txBody>
      </p:sp>
      <p:sp>
        <p:nvSpPr>
          <p:cNvPr id="7" name="Text 5"/>
          <p:cNvSpPr txBox="1"/>
          <p:nvPr/>
        </p:nvSpPr>
        <p:spPr>
          <a:xfrm>
            <a:off x="1188720" y="2788920"/>
            <a:ext cx="9966960" cy="6400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Poisoning attack-success and detection retained under attack: naive adaptive falls, ours holds.</a:t>
            </a:r>
            <a:endParaRPr lang="en-US" sz="2000" dirty="0"/>
          </a:p>
        </p:txBody>
      </p:sp>
      <p:sp>
        <p:nvSpPr>
          <p:cNvPr id="8" name="Shape 6"/>
          <p:cNvSpPr/>
          <p:nvPr/>
        </p:nvSpPr>
        <p:spPr>
          <a:xfrm>
            <a:off x="822960" y="3840480"/>
            <a:ext cx="3429000" cy="1783080"/>
          </a:xfrm>
          <a:prstGeom prst="roundRect">
            <a:avLst>
              <a:gd name="adj" fmla="val 6154"/>
            </a:avLst>
          </a:prstGeom>
          <a:solidFill>
            <a:srgbClr val="F5F5F7"/>
          </a:solidFill>
          <a:ln/>
        </p:spPr>
      </p:sp>
      <p:sp>
        <p:nvSpPr>
          <p:cNvPr id="9" name="Text 7"/>
          <p:cNvSpPr txBox="1"/>
          <p:nvPr/>
        </p:nvSpPr>
        <p:spPr>
          <a:xfrm>
            <a:off x="1078992" y="4069080"/>
            <a:ext cx="2971800" cy="365760"/>
          </a:xfrm>
          <a:prstGeom prst="rect">
            <a:avLst/>
          </a:prstGeom>
          <a:noFill/>
          <a:ln/>
        </p:spPr>
        <p:txBody>
          <a:bodyPr wrap="square" lIns="0" tIns="0" rIns="0" bIns="0" rtlCol="0" anchor="ctr"/>
          <a:lstStyle/>
          <a:p>
            <a:pPr indent="0" marL="0">
              <a:buNone/>
            </a:pPr>
            <a:r>
              <a:rPr lang="en-US" sz="1600" b="1" dirty="0">
                <a:solidFill>
                  <a:srgbClr val="1D1D1F"/>
                </a:solidFill>
                <a:latin typeface="Calibri" pitchFamily="34" charset="0"/>
                <a:ea typeface="Calibri" pitchFamily="34" charset="-122"/>
                <a:cs typeface="Calibri" pitchFamily="34" charset="-120"/>
              </a:rPr>
              <a:t>Detection</a:t>
            </a:r>
            <a:endParaRPr lang="en-US" sz="1600" dirty="0"/>
          </a:p>
        </p:txBody>
      </p:sp>
      <p:sp>
        <p:nvSpPr>
          <p:cNvPr id="10" name="Text 8"/>
          <p:cNvSpPr txBox="1"/>
          <p:nvPr/>
        </p:nvSpPr>
        <p:spPr>
          <a:xfrm>
            <a:off x="1078992" y="4480560"/>
            <a:ext cx="2971800" cy="1005840"/>
          </a:xfrm>
          <a:prstGeom prst="rect">
            <a:avLst/>
          </a:prstGeom>
          <a:noFill/>
          <a:ln/>
        </p:spPr>
        <p:txBody>
          <a:bodyPr wrap="square" lIns="0" tIns="0" rIns="0" bIns="0" rtlCol="0" anchor="ctr"/>
          <a:lstStyle/>
          <a:p>
            <a:pPr indent="0" marL="0">
              <a:lnSpc>
                <a:spcPct val="110000"/>
              </a:lnSpc>
              <a:buNone/>
            </a:pPr>
            <a:r>
              <a:rPr lang="en-US" sz="1400" dirty="0">
                <a:solidFill>
                  <a:srgbClr val="424245"/>
                </a:solidFill>
                <a:latin typeface="Calibri" pitchFamily="34" charset="0"/>
                <a:ea typeface="Calibri" pitchFamily="34" charset="-122"/>
                <a:cs typeface="Calibri" pitchFamily="34" charset="-120"/>
              </a:rPr>
              <a:t>Recall, precision, F1, AUROC on real attacks.</a:t>
            </a:r>
            <a:endParaRPr lang="en-US" sz="1400" dirty="0"/>
          </a:p>
        </p:txBody>
      </p:sp>
      <p:sp>
        <p:nvSpPr>
          <p:cNvPr id="11" name="Shape 9"/>
          <p:cNvSpPr/>
          <p:nvPr/>
        </p:nvSpPr>
        <p:spPr>
          <a:xfrm>
            <a:off x="4453128" y="3840480"/>
            <a:ext cx="3429000" cy="1783080"/>
          </a:xfrm>
          <a:prstGeom prst="roundRect">
            <a:avLst>
              <a:gd name="adj" fmla="val 6154"/>
            </a:avLst>
          </a:prstGeom>
          <a:solidFill>
            <a:srgbClr val="F5F5F7"/>
          </a:solidFill>
          <a:ln/>
        </p:spPr>
      </p:sp>
      <p:sp>
        <p:nvSpPr>
          <p:cNvPr id="12" name="Text 10"/>
          <p:cNvSpPr txBox="1"/>
          <p:nvPr/>
        </p:nvSpPr>
        <p:spPr>
          <a:xfrm>
            <a:off x="4709160" y="4069080"/>
            <a:ext cx="2971800" cy="365760"/>
          </a:xfrm>
          <a:prstGeom prst="rect">
            <a:avLst/>
          </a:prstGeom>
          <a:noFill/>
          <a:ln/>
        </p:spPr>
        <p:txBody>
          <a:bodyPr wrap="square" lIns="0" tIns="0" rIns="0" bIns="0" rtlCol="0" anchor="ctr"/>
          <a:lstStyle/>
          <a:p>
            <a:pPr indent="0" marL="0">
              <a:buNone/>
            </a:pPr>
            <a:r>
              <a:rPr lang="en-US" sz="1600" b="1" dirty="0">
                <a:solidFill>
                  <a:srgbClr val="1D1D1F"/>
                </a:solidFill>
                <a:latin typeface="Calibri" pitchFamily="34" charset="0"/>
                <a:ea typeface="Calibri" pitchFamily="34" charset="-122"/>
                <a:cs typeface="Calibri" pitchFamily="34" charset="-120"/>
              </a:rPr>
              <a:t>Benign drift</a:t>
            </a:r>
            <a:endParaRPr lang="en-US" sz="1600" dirty="0"/>
          </a:p>
        </p:txBody>
      </p:sp>
      <p:sp>
        <p:nvSpPr>
          <p:cNvPr id="13" name="Text 11"/>
          <p:cNvSpPr txBox="1"/>
          <p:nvPr/>
        </p:nvSpPr>
        <p:spPr>
          <a:xfrm>
            <a:off x="4709160" y="4480560"/>
            <a:ext cx="2971800" cy="1005840"/>
          </a:xfrm>
          <a:prstGeom prst="rect">
            <a:avLst/>
          </a:prstGeom>
          <a:noFill/>
          <a:ln/>
        </p:spPr>
        <p:txBody>
          <a:bodyPr wrap="square" lIns="0" tIns="0" rIns="0" bIns="0" rtlCol="0" anchor="ctr"/>
          <a:lstStyle/>
          <a:p>
            <a:pPr indent="0" marL="0">
              <a:lnSpc>
                <a:spcPct val="110000"/>
              </a:lnSpc>
              <a:buNone/>
            </a:pPr>
            <a:r>
              <a:rPr lang="en-US" sz="1400" dirty="0">
                <a:solidFill>
                  <a:srgbClr val="424245"/>
                </a:solidFill>
                <a:latin typeface="Calibri" pitchFamily="34" charset="0"/>
                <a:ea typeface="Calibri" pitchFamily="34" charset="-122"/>
                <a:cs typeface="Calibri" pitchFamily="34" charset="-120"/>
              </a:rPr>
              <a:t>False-positive rate stays low as normal shifts.</a:t>
            </a:r>
            <a:endParaRPr lang="en-US" sz="1400" dirty="0"/>
          </a:p>
        </p:txBody>
      </p:sp>
      <p:sp>
        <p:nvSpPr>
          <p:cNvPr id="14" name="Shape 12"/>
          <p:cNvSpPr/>
          <p:nvPr/>
        </p:nvSpPr>
        <p:spPr>
          <a:xfrm>
            <a:off x="8083296" y="3840480"/>
            <a:ext cx="3429000" cy="1783080"/>
          </a:xfrm>
          <a:prstGeom prst="roundRect">
            <a:avLst>
              <a:gd name="adj" fmla="val 6154"/>
            </a:avLst>
          </a:prstGeom>
          <a:solidFill>
            <a:srgbClr val="F5F5F7"/>
          </a:solidFill>
          <a:ln/>
        </p:spPr>
      </p:sp>
      <p:sp>
        <p:nvSpPr>
          <p:cNvPr id="15" name="Text 13"/>
          <p:cNvSpPr txBox="1"/>
          <p:nvPr/>
        </p:nvSpPr>
        <p:spPr>
          <a:xfrm>
            <a:off x="8339328" y="4069080"/>
            <a:ext cx="2971800" cy="365760"/>
          </a:xfrm>
          <a:prstGeom prst="rect">
            <a:avLst/>
          </a:prstGeom>
          <a:noFill/>
          <a:ln/>
        </p:spPr>
        <p:txBody>
          <a:bodyPr wrap="square" lIns="0" tIns="0" rIns="0" bIns="0" rtlCol="0" anchor="ctr"/>
          <a:lstStyle/>
          <a:p>
            <a:pPr indent="0" marL="0">
              <a:buNone/>
            </a:pPr>
            <a:r>
              <a:rPr lang="en-US" sz="1600" b="1" dirty="0">
                <a:solidFill>
                  <a:srgbClr val="1D1D1F"/>
                </a:solidFill>
                <a:latin typeface="Calibri" pitchFamily="34" charset="0"/>
                <a:ea typeface="Calibri" pitchFamily="34" charset="-122"/>
                <a:cs typeface="Calibri" pitchFamily="34" charset="-120"/>
              </a:rPr>
              <a:t>On the chip</a:t>
            </a:r>
            <a:endParaRPr lang="en-US" sz="1600" dirty="0"/>
          </a:p>
        </p:txBody>
      </p:sp>
      <p:sp>
        <p:nvSpPr>
          <p:cNvPr id="16" name="Text 14"/>
          <p:cNvSpPr txBox="1"/>
          <p:nvPr/>
        </p:nvSpPr>
        <p:spPr>
          <a:xfrm>
            <a:off x="8339328" y="4480560"/>
            <a:ext cx="2971800" cy="1005840"/>
          </a:xfrm>
          <a:prstGeom prst="rect">
            <a:avLst/>
          </a:prstGeom>
          <a:noFill/>
          <a:ln/>
        </p:spPr>
        <p:txBody>
          <a:bodyPr wrap="square" lIns="0" tIns="0" rIns="0" bIns="0" rtlCol="0" anchor="ctr"/>
          <a:lstStyle/>
          <a:p>
            <a:pPr indent="0" marL="0">
              <a:lnSpc>
                <a:spcPct val="110000"/>
              </a:lnSpc>
              <a:buNone/>
            </a:pPr>
            <a:r>
              <a:rPr lang="en-US" sz="1400" dirty="0">
                <a:solidFill>
                  <a:srgbClr val="424245"/>
                </a:solidFill>
                <a:latin typeface="Calibri" pitchFamily="34" charset="0"/>
                <a:ea typeface="Calibri" pitchFamily="34" charset="-122"/>
                <a:cs typeface="Calibri" pitchFamily="34" charset="-120"/>
              </a:rPr>
              <a:t>RAM, latency, energy per inference, model size.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D1D1F"/>
        </a:solidFill>
      </p:bgPr>
    </p:bg>
    <p:spTree>
      <p:nvGrpSpPr>
        <p:cNvPr id="1" name=""/>
        <p:cNvGrpSpPr/>
        <p:nvPr/>
      </p:nvGrpSpPr>
      <p:grpSpPr>
        <a:xfrm>
          <a:off x="0" y="0"/>
          <a:ext cx="0" cy="0"/>
          <a:chOff x="0" y="0"/>
          <a:chExt cx="0" cy="0"/>
        </a:xfrm>
      </p:grpSpPr>
      <p:sp>
        <p:nvSpPr>
          <p:cNvPr id="2" name="Shape 0"/>
          <p:cNvSpPr/>
          <p:nvPr/>
        </p:nvSpPr>
        <p:spPr>
          <a:xfrm>
            <a:off x="822960" y="864108"/>
            <a:ext cx="100584" cy="100584"/>
          </a:xfrm>
          <a:prstGeom prst="ellipse">
            <a:avLst/>
          </a:prstGeom>
          <a:solidFill>
            <a:srgbClr val="0071E3"/>
          </a:solidFill>
          <a:ln/>
        </p:spPr>
      </p:sp>
      <p:sp>
        <p:nvSpPr>
          <p:cNvPr id="3" name="Text 1"/>
          <p:cNvSpPr txBox="1"/>
          <p:nvPr/>
        </p:nvSpPr>
        <p:spPr>
          <a:xfrm>
            <a:off x="1024128" y="768096"/>
            <a:ext cx="8686800" cy="292608"/>
          </a:xfrm>
          <a:prstGeom prst="rect">
            <a:avLst/>
          </a:prstGeom>
          <a:noFill/>
          <a:ln/>
        </p:spPr>
        <p:txBody>
          <a:bodyPr wrap="square" lIns="0" tIns="0" rIns="0" bIns="0" rtlCol="0" anchor="ctr"/>
          <a:lstStyle/>
          <a:p>
            <a:pPr algn="l" indent="0" marL="0">
              <a:buNone/>
            </a:pPr>
            <a:r>
              <a:rPr lang="en-US" sz="1250" b="1" spc="220" kern="0" dirty="0">
                <a:solidFill>
                  <a:srgbClr val="0071E3"/>
                </a:solidFill>
                <a:latin typeface="Calibri" pitchFamily="34" charset="0"/>
                <a:ea typeface="Calibri" pitchFamily="34" charset="-122"/>
                <a:cs typeface="Calibri" pitchFamily="34" charset="-120"/>
              </a:rPr>
              <a:t>WHAT I EXPECT TO CONTRIBUTE</a:t>
            </a:r>
            <a:endParaRPr lang="en-US" sz="1250" dirty="0"/>
          </a:p>
        </p:txBody>
      </p:sp>
      <p:sp>
        <p:nvSpPr>
          <p:cNvPr id="4" name="Text 2"/>
          <p:cNvSpPr txBox="1"/>
          <p:nvPr/>
        </p:nvSpPr>
        <p:spPr>
          <a:xfrm>
            <a:off x="822960" y="1554480"/>
            <a:ext cx="10424160" cy="2286000"/>
          </a:xfrm>
          <a:prstGeom prst="rect">
            <a:avLst/>
          </a:prstGeom>
          <a:noFill/>
          <a:ln/>
        </p:spPr>
        <p:txBody>
          <a:bodyPr wrap="square" lIns="0" tIns="0" rIns="0" bIns="0" rtlCol="0" anchor="ctr"/>
          <a:lstStyle/>
          <a:p>
            <a:pPr indent="0" marL="0">
              <a:lnSpc>
                <a:spcPct val="112000"/>
              </a:lnSpc>
              <a:buNone/>
            </a:pPr>
            <a:r>
              <a:rPr lang="en-US" sz="2900" b="1" dirty="0">
                <a:solidFill>
                  <a:srgbClr val="FFFFFF"/>
                </a:solidFill>
                <a:latin typeface="Calibri" pitchFamily="34" charset="0"/>
                <a:ea typeface="Calibri" pitchFamily="34" charset="-122"/>
                <a:cs typeface="Calibri" pitchFamily="34" charset="-120"/>
              </a:rPr>
              <a:t>Show that self-adapting detectors can be poisoned, build a lightweight guard that stops it on a real device, and measure exactly what that safety costs.</a:t>
            </a:r>
            <a:endParaRPr lang="en-US" sz="2900" dirty="0"/>
          </a:p>
        </p:txBody>
      </p:sp>
      <p:sp>
        <p:nvSpPr>
          <p:cNvPr id="5" name="Shape 3"/>
          <p:cNvSpPr/>
          <p:nvPr/>
        </p:nvSpPr>
        <p:spPr>
          <a:xfrm>
            <a:off x="822960" y="4983480"/>
            <a:ext cx="146304" cy="146304"/>
          </a:xfrm>
          <a:prstGeom prst="ellipse">
            <a:avLst/>
          </a:prstGeom>
          <a:solidFill>
            <a:srgbClr val="0071E3"/>
          </a:solidFill>
          <a:ln/>
        </p:spPr>
      </p:sp>
      <p:sp>
        <p:nvSpPr>
          <p:cNvPr id="6" name="Text 4"/>
          <p:cNvSpPr txBox="1"/>
          <p:nvPr/>
        </p:nvSpPr>
        <p:spPr>
          <a:xfrm>
            <a:off x="1078992" y="4864608"/>
            <a:ext cx="329184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24 Sep</a:t>
            </a:r>
            <a:endParaRPr lang="en-US" sz="1600" dirty="0"/>
          </a:p>
        </p:txBody>
      </p:sp>
      <p:sp>
        <p:nvSpPr>
          <p:cNvPr id="7" name="Text 5"/>
          <p:cNvSpPr txBox="1"/>
          <p:nvPr/>
        </p:nvSpPr>
        <p:spPr>
          <a:xfrm>
            <a:off x="1078992" y="5230368"/>
            <a:ext cx="3291840" cy="548640"/>
          </a:xfrm>
          <a:prstGeom prst="rect">
            <a:avLst/>
          </a:prstGeom>
          <a:noFill/>
          <a:ln/>
        </p:spPr>
        <p:txBody>
          <a:bodyPr wrap="square" lIns="0" tIns="0" rIns="0" bIns="0" rtlCol="0" anchor="ctr"/>
          <a:lstStyle/>
          <a:p>
            <a:pPr indent="0" marL="0">
              <a:buNone/>
            </a:pPr>
            <a:r>
              <a:rPr lang="en-US" sz="1350" dirty="0">
                <a:solidFill>
                  <a:srgbClr val="C7C7CC"/>
                </a:solidFill>
                <a:latin typeface="Calibri" pitchFamily="34" charset="0"/>
                <a:ea typeface="Calibri" pitchFamily="34" charset="-122"/>
                <a:cs typeface="Calibri" pitchFamily="34" charset="-120"/>
              </a:rPr>
              <a:t>Proposal</a:t>
            </a:r>
            <a:endParaRPr lang="en-US" sz="1350" dirty="0"/>
          </a:p>
        </p:txBody>
      </p:sp>
      <p:sp>
        <p:nvSpPr>
          <p:cNvPr id="8" name="Text 6"/>
          <p:cNvSpPr txBox="1"/>
          <p:nvPr/>
        </p:nvSpPr>
        <p:spPr>
          <a:xfrm>
            <a:off x="4023360" y="4800600"/>
            <a:ext cx="457200" cy="457200"/>
          </a:xfrm>
          <a:prstGeom prst="rect">
            <a:avLst/>
          </a:prstGeom>
          <a:noFill/>
          <a:ln/>
        </p:spPr>
        <p:txBody>
          <a:bodyPr wrap="square" lIns="0" tIns="0" rIns="0" bIns="0" rtlCol="0" anchor="ctr"/>
          <a:lstStyle/>
          <a:p>
            <a:pPr algn="ctr" indent="0" marL="0">
              <a:buNone/>
            </a:pPr>
            <a:r>
              <a:rPr lang="en-US" sz="2200" dirty="0">
                <a:solidFill>
                  <a:srgbClr val="86868B"/>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4617720" y="4983480"/>
            <a:ext cx="146304" cy="146304"/>
          </a:xfrm>
          <a:prstGeom prst="ellipse">
            <a:avLst/>
          </a:prstGeom>
          <a:solidFill>
            <a:srgbClr val="0071E3"/>
          </a:solidFill>
          <a:ln/>
        </p:spPr>
      </p:sp>
      <p:sp>
        <p:nvSpPr>
          <p:cNvPr id="10" name="Text 8"/>
          <p:cNvSpPr txBox="1"/>
          <p:nvPr/>
        </p:nvSpPr>
        <p:spPr>
          <a:xfrm>
            <a:off x="4873752" y="4864608"/>
            <a:ext cx="329184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Mid-review</a:t>
            </a:r>
            <a:endParaRPr lang="en-US" sz="1600" dirty="0"/>
          </a:p>
        </p:txBody>
      </p:sp>
      <p:sp>
        <p:nvSpPr>
          <p:cNvPr id="11" name="Text 9"/>
          <p:cNvSpPr txBox="1"/>
          <p:nvPr/>
        </p:nvSpPr>
        <p:spPr>
          <a:xfrm>
            <a:off x="4873752" y="5230368"/>
            <a:ext cx="3291840" cy="548640"/>
          </a:xfrm>
          <a:prstGeom prst="rect">
            <a:avLst/>
          </a:prstGeom>
          <a:noFill/>
          <a:ln/>
        </p:spPr>
        <p:txBody>
          <a:bodyPr wrap="square" lIns="0" tIns="0" rIns="0" bIns="0" rtlCol="0" anchor="ctr"/>
          <a:lstStyle/>
          <a:p>
            <a:pPr indent="0" marL="0">
              <a:buNone/>
            </a:pPr>
            <a:r>
              <a:rPr lang="en-US" sz="1350" dirty="0">
                <a:solidFill>
                  <a:srgbClr val="C7C7CC"/>
                </a:solidFill>
                <a:latin typeface="Calibri" pitchFamily="34" charset="0"/>
                <a:ea typeface="Calibri" pitchFamily="34" charset="-122"/>
                <a:cs typeface="Calibri" pitchFamily="34" charset="-120"/>
              </a:rPr>
              <a:t>Attack, baselines, first results</a:t>
            </a:r>
            <a:endParaRPr lang="en-US" sz="1350" dirty="0"/>
          </a:p>
        </p:txBody>
      </p:sp>
      <p:sp>
        <p:nvSpPr>
          <p:cNvPr id="12" name="Text 10"/>
          <p:cNvSpPr txBox="1"/>
          <p:nvPr/>
        </p:nvSpPr>
        <p:spPr>
          <a:xfrm>
            <a:off x="7818120" y="4800600"/>
            <a:ext cx="457200" cy="457200"/>
          </a:xfrm>
          <a:prstGeom prst="rect">
            <a:avLst/>
          </a:prstGeom>
          <a:noFill/>
          <a:ln/>
        </p:spPr>
        <p:txBody>
          <a:bodyPr wrap="square" lIns="0" tIns="0" rIns="0" bIns="0" rtlCol="0" anchor="ctr"/>
          <a:lstStyle/>
          <a:p>
            <a:pPr algn="ctr" indent="0" marL="0">
              <a:buNone/>
            </a:pPr>
            <a:r>
              <a:rPr lang="en-US" sz="2200" dirty="0">
                <a:solidFill>
                  <a:srgbClr val="86868B"/>
                </a:solidFill>
                <a:latin typeface="Calibri" pitchFamily="34" charset="0"/>
                <a:ea typeface="Calibri" pitchFamily="34" charset="-122"/>
                <a:cs typeface="Calibri" pitchFamily="34" charset="-120"/>
              </a:rPr>
              <a:t>›</a:t>
            </a:r>
            <a:endParaRPr lang="en-US" sz="2200" dirty="0"/>
          </a:p>
        </p:txBody>
      </p:sp>
      <p:sp>
        <p:nvSpPr>
          <p:cNvPr id="13" name="Shape 11"/>
          <p:cNvSpPr/>
          <p:nvPr/>
        </p:nvSpPr>
        <p:spPr>
          <a:xfrm>
            <a:off x="8412480" y="4983480"/>
            <a:ext cx="146304" cy="146304"/>
          </a:xfrm>
          <a:prstGeom prst="ellipse">
            <a:avLst/>
          </a:prstGeom>
          <a:solidFill>
            <a:srgbClr val="0071E3"/>
          </a:solidFill>
          <a:ln/>
        </p:spPr>
      </p:sp>
      <p:sp>
        <p:nvSpPr>
          <p:cNvPr id="14" name="Text 12"/>
          <p:cNvSpPr txBox="1"/>
          <p:nvPr/>
        </p:nvSpPr>
        <p:spPr>
          <a:xfrm>
            <a:off x="8668512" y="4864608"/>
            <a:ext cx="329184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Final</a:t>
            </a:r>
            <a:endParaRPr lang="en-US" sz="1600" dirty="0"/>
          </a:p>
        </p:txBody>
      </p:sp>
      <p:sp>
        <p:nvSpPr>
          <p:cNvPr id="15" name="Text 13"/>
          <p:cNvSpPr txBox="1"/>
          <p:nvPr/>
        </p:nvSpPr>
        <p:spPr>
          <a:xfrm>
            <a:off x="8668512" y="5230368"/>
            <a:ext cx="3291840" cy="548640"/>
          </a:xfrm>
          <a:prstGeom prst="rect">
            <a:avLst/>
          </a:prstGeom>
          <a:noFill/>
          <a:ln/>
        </p:spPr>
        <p:txBody>
          <a:bodyPr wrap="square" lIns="0" tIns="0" rIns="0" bIns="0" rtlCol="0" anchor="ctr"/>
          <a:lstStyle/>
          <a:p>
            <a:pPr indent="0" marL="0">
              <a:buNone/>
            </a:pPr>
            <a:r>
              <a:rPr lang="en-US" sz="1350" dirty="0">
                <a:solidFill>
                  <a:srgbClr val="C7C7CC"/>
                </a:solidFill>
                <a:latin typeface="Calibri" pitchFamily="34" charset="0"/>
                <a:ea typeface="Calibri" pitchFamily="34" charset="-122"/>
                <a:cs typeface="Calibri" pitchFamily="34" charset="-120"/>
              </a:rPr>
              <a:t>Full system, IEEE report, code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2026-09-12T18:21:24Z</dcterms:created>
  <dcterms:modified xsi:type="dcterms:W3CDTF">2026-09-12T18:21:24Z</dcterms:modified>
</cp:coreProperties>
</file>