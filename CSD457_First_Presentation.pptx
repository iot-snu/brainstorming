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One sentence: our detector updates itself to stay accurate, and we make sure an attacker cannot abuse those updates. Whole talk is about 7 minutes, leaving 3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Say the title sentence, then the three steps. Everything after this slide supports one of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beats: on-device is right, it must keep learning, learning can be abused.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One line per paper, and read the red column: server only, theory only, no defense, no drift, never used for this. That column is our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Say the credit line out loud. It shows we read deeply and narrows our claim to something we can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RQ1 is the method, RQ2 is the new attack, RQ3 is real exposure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One line: honest drift can go anywhere, poisoning has to go toward the attack. So we ration only that direction. On an ESP32 it is a few dot products per update. If asked whether it needs attack signatures: this slide shows the version that uses them for known attacks like Mirai. We also built a signature-free version: it learns only from the dense core of traffic and accepts a change only if the whole traffic cloud moves with it, because honest drift moves everything while poison moves one part. On real N-BaIoT doorbell traffic it kept 100 percent detection of Mirai scan, ack and syn against both a normal attacker and a smart attacker who knows the defense, with 0.2 to 1.5 percent false alarms. Its open weakness is an attack hidden inside strong genuine drift, so our plan combines both: signature-free by default, signatures as a guaranteed floor for the most important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Finding 1 killed our first idea. Finding 2 is new and broke our own earlier design. Finding 3 is why this matters for 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We compare against doing nothing, against naive learning, and against every kind of defense, including the 2009 classic.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Say the chart is synthetic, then give the real N-BaIoT numbers in the caption: poisoned at only 10 to 20 percent share (10 for scan, 20 for ack and syn), ours 100 percent detection. Left: red is naive learning, poisoned in 24 cycles. Middle: freezing defenses keep the attack visible but false alarms explode once drift starts. Right: the attacker leaves at cycle 45 and the frozen defense never recovers. Blue is ours everywhere. Next: the same experiment on N-BaIoT and the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then questions. Is this just ANTIDOTE? No: ANTIDOTE retrains a PCA model on a server in batches; ours learns continuously on a microcontroller and never freezes. Does it need attack signatures? No: a signature-free version already beats both a normal and a smart attacker on real N-BaIoT traffic; signatures are an optional extra floor for key attacks. Its open weakness is an attack hidden inside strong genuine drift. Honest drift toward an attack? In simulation false alarms peaked near 7 percent, then recovered. Is the simulation real data? No, real data by mid-review.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Leave it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822960" y="818388"/>
            <a:ext cx="100584" cy="100584"/>
          </a:xfrm>
          <a:prstGeom prst="ellipse">
            <a:avLst/>
          </a:prstGeom>
          <a:solidFill>
            <a:srgbClr val="86868B"/>
          </a:solidFill>
          <a:ln/>
        </p:spPr>
      </p:sp>
      <p:sp>
        <p:nvSpPr>
          <p:cNvPr id="3" name="Text 1"/>
          <p:cNvSpPr txBox="1"/>
          <p:nvPr/>
        </p:nvSpPr>
        <p:spPr>
          <a:xfrm>
            <a:off x="1024128" y="722376"/>
            <a:ext cx="9144000" cy="292608"/>
          </a:xfrm>
          <a:prstGeom prst="rect">
            <a:avLst/>
          </a:prstGeom>
          <a:noFill/>
          <a:ln/>
        </p:spPr>
        <p:txBody>
          <a:bodyPr wrap="square" lIns="0" tIns="0" rIns="0" bIns="0" rtlCol="0" anchor="ctr"/>
          <a:lstStyle/>
          <a:p>
            <a:pPr indent="0" marL="0">
              <a:buNone/>
            </a:pPr>
            <a:r>
              <a:rPr lang="en-US" sz="1250" b="1" spc="220" kern="0" dirty="0">
                <a:solidFill>
                  <a:srgbClr val="86868B"/>
                </a:solidFill>
                <a:latin typeface="Calibri" pitchFamily="34" charset="0"/>
                <a:ea typeface="Calibri" pitchFamily="34" charset="-122"/>
                <a:cs typeface="Calibri" pitchFamily="34" charset="-120"/>
              </a:rPr>
              <a:t>CSD457  ·  INTERNET OF THINGS  ·  GROUP G-04</a:t>
            </a:r>
            <a:endParaRPr lang="en-US" sz="1250" dirty="0"/>
          </a:p>
        </p:txBody>
      </p:sp>
      <p:sp>
        <p:nvSpPr>
          <p:cNvPr id="4" name="Text 2"/>
          <p:cNvSpPr txBox="1"/>
          <p:nvPr/>
        </p:nvSpPr>
        <p:spPr>
          <a:xfrm>
            <a:off x="822960" y="1920240"/>
            <a:ext cx="10515600" cy="2011680"/>
          </a:xfrm>
          <a:prstGeom prst="rect">
            <a:avLst/>
          </a:prstGeom>
          <a:noFill/>
          <a:ln/>
        </p:spPr>
        <p:txBody>
          <a:bodyPr wrap="square" lIns="0" tIns="0" rIns="0" bIns="0" rtlCol="0" anchor="ctr"/>
          <a:lstStyle/>
          <a:p>
            <a:pPr indent="0" marL="0">
              <a:lnSpc>
                <a:spcPct val="103000"/>
              </a:lnSpc>
              <a:buNone/>
            </a:pPr>
            <a:r>
              <a:rPr lang="en-US" sz="4400" b="1" dirty="0">
                <a:solidFill>
                  <a:srgbClr val="0071E3"/>
                </a:solidFill>
                <a:latin typeface="Calibri" pitchFamily="34" charset="0"/>
                <a:ea typeface="Calibri" pitchFamily="34" charset="-122"/>
                <a:cs typeface="Calibri" pitchFamily="34" charset="-120"/>
              </a:rPr>
              <a:t>Poison-Resilient </a:t>
            </a:r>
            <a:pPr indent="0" marL="0">
              <a:lnSpc>
                <a:spcPct val="103000"/>
              </a:lnSpc>
              <a:buNone/>
            </a:pPr>
            <a:r>
              <a:rPr lang="en-US" sz="4400" b="1" dirty="0">
                <a:solidFill>
                  <a:srgbClr val="FFFFFF"/>
                </a:solidFill>
                <a:latin typeface="Calibri" pitchFamily="34" charset="0"/>
                <a:ea typeface="Calibri" pitchFamily="34" charset="-122"/>
                <a:cs typeface="Calibri" pitchFamily="34" charset="-120"/>
              </a:rPr>
              <a:t>On-Device Intrusion Detection for Drifting IoT</a:t>
            </a:r>
            <a:endParaRPr lang="en-US" sz="4400" dirty="0"/>
          </a:p>
        </p:txBody>
      </p:sp>
      <p:sp>
        <p:nvSpPr>
          <p:cNvPr id="5" name="Text 3"/>
          <p:cNvSpPr txBox="1"/>
          <p:nvPr/>
        </p:nvSpPr>
        <p:spPr>
          <a:xfrm>
            <a:off x="822960" y="4114800"/>
            <a:ext cx="9966960" cy="822960"/>
          </a:xfrm>
          <a:prstGeom prst="rect">
            <a:avLst/>
          </a:prstGeom>
          <a:noFill/>
          <a:ln/>
        </p:spPr>
        <p:txBody>
          <a:bodyPr wrap="square" lIns="0" tIns="0" rIns="0" bIns="0" rtlCol="0" anchor="ctr"/>
          <a:lstStyle/>
          <a:p>
            <a:pPr indent="0" marL="0">
              <a:lnSpc>
                <a:spcPct val="110000"/>
              </a:lnSpc>
              <a:buNone/>
            </a:pPr>
            <a:r>
              <a:rPr lang="en-US" sz="1800" dirty="0">
                <a:solidFill>
                  <a:srgbClr val="C7C7CC"/>
                </a:solidFill>
                <a:latin typeface="Calibri" pitchFamily="34" charset="0"/>
                <a:ea typeface="Calibri" pitchFamily="34" charset="-122"/>
                <a:cs typeface="Calibri" pitchFamily="34" charset="-120"/>
              </a:rPr>
              <a:t>A self-updating detector on an ESP32 that checks its own updates, so an attacker cannot slowly teach it that attacks are normal.</a:t>
            </a:r>
            <a:endParaRPr lang="en-US" sz="1800" dirty="0"/>
          </a:p>
        </p:txBody>
      </p:sp>
      <p:sp>
        <p:nvSpPr>
          <p:cNvPr id="6" name="Text 4"/>
          <p:cNvSpPr txBox="1"/>
          <p:nvPr/>
        </p:nvSpPr>
        <p:spPr>
          <a:xfrm>
            <a:off x="822960" y="5989320"/>
            <a:ext cx="10515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First Presentation, Proposal</a:t>
            </a:r>
            <a:pPr indent="0" marL="0">
              <a:buNone/>
            </a:pPr>
            <a:r>
              <a:rPr lang="en-US" sz="1300" dirty="0">
                <a:solidFill>
                  <a:srgbClr val="86868B"/>
                </a:solidFill>
                <a:latin typeface="Calibri" pitchFamily="34" charset="0"/>
                <a:ea typeface="Calibri" pitchFamily="34" charset="-122"/>
                <a:cs typeface="Calibri" pitchFamily="34" charset="-120"/>
              </a:rPr>
              <a:t>        Rishit Kamboj and Farhan Naik        24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WHAT WE WILL RESEARCH</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700" b="1" dirty="0">
                <a:solidFill>
                  <a:srgbClr val="1D1D1F"/>
                </a:solidFill>
                <a:latin typeface="Calibri" pitchFamily="34" charset="0"/>
                <a:ea typeface="Calibri" pitchFamily="34" charset="-122"/>
                <a:cs typeface="Calibri" pitchFamily="34" charset="-120"/>
              </a:rPr>
              <a:t>An IoT intrusion detector that keeps learning on an ESP32, and cannot be taught to ignore attacks.</a:t>
            </a:r>
            <a:endParaRPr lang="en-US" sz="2700" dirty="0"/>
          </a:p>
        </p:txBody>
      </p:sp>
      <p:sp>
        <p:nvSpPr>
          <p:cNvPr id="5" name="Shape 3"/>
          <p:cNvSpPr/>
          <p:nvPr/>
        </p:nvSpPr>
        <p:spPr>
          <a:xfrm>
            <a:off x="822960" y="2331720"/>
            <a:ext cx="3337560" cy="2651760"/>
          </a:xfrm>
          <a:prstGeom prst="roundRect">
            <a:avLst>
              <a:gd name="adj" fmla="val 4138"/>
            </a:avLst>
          </a:prstGeom>
          <a:solidFill>
            <a:srgbClr val="F5F5F7"/>
          </a:solidFill>
          <a:ln/>
        </p:spPr>
      </p:sp>
      <p:sp>
        <p:nvSpPr>
          <p:cNvPr id="6" name="Text 4"/>
          <p:cNvSpPr txBox="1"/>
          <p:nvPr/>
        </p:nvSpPr>
        <p:spPr>
          <a:xfrm>
            <a:off x="1097280" y="2560320"/>
            <a:ext cx="457200" cy="457200"/>
          </a:xfrm>
          <a:prstGeom prst="ellipse">
            <a:avLst/>
          </a:prstGeom>
          <a:solidFill>
            <a:srgbClr val="0071E3"/>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097280" y="3154680"/>
            <a:ext cx="2788920" cy="384048"/>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Measure the risk</a:t>
            </a:r>
            <a:endParaRPr lang="en-US" sz="1800" dirty="0"/>
          </a:p>
        </p:txBody>
      </p:sp>
      <p:sp>
        <p:nvSpPr>
          <p:cNvPr id="8" name="Text 6"/>
          <p:cNvSpPr txBox="1"/>
          <p:nvPr/>
        </p:nvSpPr>
        <p:spPr>
          <a:xfrm>
            <a:off x="1097280" y="3584448"/>
            <a:ext cx="2788920" cy="1005840"/>
          </a:xfrm>
          <a:prstGeom prst="rect">
            <a:avLst/>
          </a:prstGeom>
          <a:noFill/>
          <a:ln/>
        </p:spPr>
        <p:txBody>
          <a:bodyPr wrap="square" lIns="0" tIns="0" rIns="0" bIns="0" rtlCol="0" anchor="t"/>
          <a:lstStyle/>
          <a:p>
            <a:pPr indent="0" marL="0">
              <a:lnSpc>
                <a:spcPct val="108000"/>
              </a:lnSpc>
              <a:buNone/>
            </a:pPr>
            <a:r>
              <a:rPr lang="en-US" sz="1400" dirty="0">
                <a:solidFill>
                  <a:srgbClr val="424245"/>
                </a:solidFill>
                <a:latin typeface="Calibri" pitchFamily="34" charset="0"/>
                <a:ea typeface="Calibri" pitchFamily="34" charset="-122"/>
                <a:cs typeface="Calibri" pitchFamily="34" charset="-120"/>
              </a:rPr>
              <a:t>Show how easily real, low-traffic IoT devices can be poisoned when their detector learns on the fly.</a:t>
            </a:r>
            <a:endParaRPr lang="en-US" sz="1400" dirty="0"/>
          </a:p>
        </p:txBody>
      </p:sp>
      <p:sp>
        <p:nvSpPr>
          <p:cNvPr id="9" name="Text 7"/>
          <p:cNvSpPr txBox="1"/>
          <p:nvPr/>
        </p:nvSpPr>
        <p:spPr>
          <a:xfrm>
            <a:off x="1097280" y="4617720"/>
            <a:ext cx="2788920" cy="274320"/>
          </a:xfrm>
          <a:prstGeom prst="rect">
            <a:avLst/>
          </a:prstGeom>
          <a:noFill/>
          <a:ln/>
        </p:spPr>
        <p:txBody>
          <a:bodyPr wrap="square" lIns="0" tIns="0" rIns="0" bIns="0" rtlCol="0" anchor="ctr"/>
          <a:lstStyle/>
          <a:p>
            <a:pPr indent="0" marL="0">
              <a:buNone/>
            </a:pPr>
            <a:r>
              <a:rPr lang="en-US" sz="1100" dirty="0">
                <a:solidFill>
                  <a:srgbClr val="86868B"/>
                </a:solidFill>
                <a:latin typeface="Calibri" pitchFamily="34" charset="0"/>
                <a:ea typeface="Calibri" pitchFamily="34" charset="-122"/>
                <a:cs typeface="Calibri" pitchFamily="34" charset="-120"/>
              </a:rPr>
              <a:t>[2, 4]</a:t>
            </a:r>
            <a:endParaRPr lang="en-US" sz="1100" dirty="0"/>
          </a:p>
        </p:txBody>
      </p:sp>
      <p:sp>
        <p:nvSpPr>
          <p:cNvPr id="10" name="Shape 8"/>
          <p:cNvSpPr/>
          <p:nvPr/>
        </p:nvSpPr>
        <p:spPr>
          <a:xfrm>
            <a:off x="4434840" y="2331720"/>
            <a:ext cx="3337560" cy="2651760"/>
          </a:xfrm>
          <a:prstGeom prst="roundRect">
            <a:avLst>
              <a:gd name="adj" fmla="val 4138"/>
            </a:avLst>
          </a:prstGeom>
          <a:solidFill>
            <a:srgbClr val="F5F5F7"/>
          </a:solidFill>
          <a:ln/>
        </p:spPr>
      </p:sp>
      <p:sp>
        <p:nvSpPr>
          <p:cNvPr id="11" name="Text 9"/>
          <p:cNvSpPr txBox="1"/>
          <p:nvPr/>
        </p:nvSpPr>
        <p:spPr>
          <a:xfrm>
            <a:off x="4709160" y="2560320"/>
            <a:ext cx="457200" cy="457200"/>
          </a:xfrm>
          <a:prstGeom prst="ellipse">
            <a:avLst/>
          </a:prstGeom>
          <a:solidFill>
            <a:srgbClr val="0071E3"/>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4709160" y="3154680"/>
            <a:ext cx="2788920" cy="384048"/>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Build the defense</a:t>
            </a:r>
            <a:endParaRPr lang="en-US" sz="1800" dirty="0"/>
          </a:p>
        </p:txBody>
      </p:sp>
      <p:sp>
        <p:nvSpPr>
          <p:cNvPr id="13" name="Text 11"/>
          <p:cNvSpPr txBox="1"/>
          <p:nvPr/>
        </p:nvSpPr>
        <p:spPr>
          <a:xfrm>
            <a:off x="4709160" y="3584448"/>
            <a:ext cx="2788920" cy="1005840"/>
          </a:xfrm>
          <a:prstGeom prst="rect">
            <a:avLst/>
          </a:prstGeom>
          <a:noFill/>
          <a:ln/>
        </p:spPr>
        <p:txBody>
          <a:bodyPr wrap="square" lIns="0" tIns="0" rIns="0" bIns="0" rtlCol="0" anchor="t"/>
          <a:lstStyle/>
          <a:p>
            <a:pPr indent="0" marL="0">
              <a:lnSpc>
                <a:spcPct val="108000"/>
              </a:lnSpc>
              <a:buNone/>
            </a:pPr>
            <a:r>
              <a:rPr lang="en-US" sz="1400" dirty="0">
                <a:solidFill>
                  <a:srgbClr val="424245"/>
                </a:solidFill>
                <a:latin typeface="Calibri" pitchFamily="34" charset="0"/>
                <a:ea typeface="Calibri" pitchFamily="34" charset="-122"/>
                <a:cs typeface="Calibri" pitchFamily="34" charset="-120"/>
              </a:rPr>
              <a:t>Threat-Orthogonal Adaptation: learn honest change freely, and ration only the change that moves toward a known attack.</a:t>
            </a:r>
            <a:endParaRPr lang="en-US" sz="1400" dirty="0"/>
          </a:p>
        </p:txBody>
      </p:sp>
      <p:sp>
        <p:nvSpPr>
          <p:cNvPr id="14" name="Text 12"/>
          <p:cNvSpPr txBox="1"/>
          <p:nvPr/>
        </p:nvSpPr>
        <p:spPr>
          <a:xfrm>
            <a:off x="4709160" y="4617720"/>
            <a:ext cx="2788920" cy="274320"/>
          </a:xfrm>
          <a:prstGeom prst="rect">
            <a:avLst/>
          </a:prstGeom>
          <a:noFill/>
          <a:ln/>
        </p:spPr>
        <p:txBody>
          <a:bodyPr wrap="square" lIns="0" tIns="0" rIns="0" bIns="0" rtlCol="0" anchor="ctr"/>
          <a:lstStyle/>
          <a:p>
            <a:pPr indent="0" marL="0">
              <a:buNone/>
            </a:pPr>
            <a:r>
              <a:rPr lang="en-US" sz="1100" dirty="0">
                <a:solidFill>
                  <a:srgbClr val="86868B"/>
                </a:solidFill>
                <a:latin typeface="Calibri" pitchFamily="34" charset="0"/>
                <a:ea typeface="Calibri" pitchFamily="34" charset="-122"/>
                <a:cs typeface="Calibri" pitchFamily="34" charset="-120"/>
              </a:rPr>
              <a:t>[1, 5]</a:t>
            </a:r>
            <a:endParaRPr lang="en-US" sz="1100" dirty="0"/>
          </a:p>
        </p:txBody>
      </p:sp>
      <p:sp>
        <p:nvSpPr>
          <p:cNvPr id="15" name="Shape 13"/>
          <p:cNvSpPr/>
          <p:nvPr/>
        </p:nvSpPr>
        <p:spPr>
          <a:xfrm>
            <a:off x="8046720" y="2331720"/>
            <a:ext cx="3337560" cy="2651760"/>
          </a:xfrm>
          <a:prstGeom prst="roundRect">
            <a:avLst>
              <a:gd name="adj" fmla="val 4138"/>
            </a:avLst>
          </a:prstGeom>
          <a:solidFill>
            <a:srgbClr val="F5F5F7"/>
          </a:solidFill>
          <a:ln/>
        </p:spPr>
      </p:sp>
      <p:sp>
        <p:nvSpPr>
          <p:cNvPr id="16" name="Text 14"/>
          <p:cNvSpPr txBox="1"/>
          <p:nvPr/>
        </p:nvSpPr>
        <p:spPr>
          <a:xfrm>
            <a:off x="8321040" y="2560320"/>
            <a:ext cx="457200" cy="457200"/>
          </a:xfrm>
          <a:prstGeom prst="ellipse">
            <a:avLst/>
          </a:prstGeom>
          <a:solidFill>
            <a:srgbClr val="0071E3"/>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8321040" y="3154680"/>
            <a:ext cx="2788920" cy="384048"/>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Prove it for real</a:t>
            </a:r>
            <a:endParaRPr lang="en-US" sz="1800" dirty="0"/>
          </a:p>
        </p:txBody>
      </p:sp>
      <p:sp>
        <p:nvSpPr>
          <p:cNvPr id="18" name="Text 16"/>
          <p:cNvSpPr txBox="1"/>
          <p:nvPr/>
        </p:nvSpPr>
        <p:spPr>
          <a:xfrm>
            <a:off x="8321040" y="3584448"/>
            <a:ext cx="2788920" cy="1005840"/>
          </a:xfrm>
          <a:prstGeom prst="rect">
            <a:avLst/>
          </a:prstGeom>
          <a:noFill/>
          <a:ln/>
        </p:spPr>
        <p:txBody>
          <a:bodyPr wrap="square" lIns="0" tIns="0" rIns="0" bIns="0" rtlCol="0" anchor="t"/>
          <a:lstStyle/>
          <a:p>
            <a:pPr indent="0" marL="0">
              <a:lnSpc>
                <a:spcPct val="108000"/>
              </a:lnSpc>
              <a:buNone/>
            </a:pPr>
            <a:r>
              <a:rPr lang="en-US" sz="1400" dirty="0">
                <a:solidFill>
                  <a:srgbClr val="424245"/>
                </a:solidFill>
                <a:latin typeface="Calibri" pitchFamily="34" charset="0"/>
                <a:ea typeface="Calibri" pitchFamily="34" charset="-122"/>
                <a:cs typeface="Calibri" pitchFamily="34" charset="-120"/>
              </a:rPr>
              <a:t>Test on real IoT traffic and real long-term drift, then run it on an ESP32 and measure memory, speed and energy.</a:t>
            </a:r>
            <a:endParaRPr lang="en-US" sz="1400" dirty="0"/>
          </a:p>
        </p:txBody>
      </p:sp>
      <p:sp>
        <p:nvSpPr>
          <p:cNvPr id="19" name="Text 17"/>
          <p:cNvSpPr txBox="1"/>
          <p:nvPr/>
        </p:nvSpPr>
        <p:spPr>
          <a:xfrm>
            <a:off x="8321040" y="4617720"/>
            <a:ext cx="2788920" cy="274320"/>
          </a:xfrm>
          <a:prstGeom prst="rect">
            <a:avLst/>
          </a:prstGeom>
          <a:noFill/>
          <a:ln/>
        </p:spPr>
        <p:txBody>
          <a:bodyPr wrap="square" lIns="0" tIns="0" rIns="0" bIns="0" rtlCol="0" anchor="ctr"/>
          <a:lstStyle/>
          <a:p>
            <a:pPr indent="0" marL="0">
              <a:buNone/>
            </a:pPr>
            <a:r>
              <a:rPr lang="en-US" sz="1100" dirty="0">
                <a:solidFill>
                  <a:srgbClr val="86868B"/>
                </a:solidFill>
                <a:latin typeface="Calibri" pitchFamily="34" charset="0"/>
                <a:ea typeface="Calibri" pitchFamily="34" charset="-122"/>
                <a:cs typeface="Calibri" pitchFamily="34" charset="-120"/>
              </a:rPr>
              <a:t>[3, 4, 5]</a:t>
            </a:r>
            <a:endParaRPr lang="en-US" sz="1100" dirty="0"/>
          </a:p>
        </p:txBody>
      </p:sp>
      <p:sp>
        <p:nvSpPr>
          <p:cNvPr id="20" name="Text 18"/>
          <p:cNvSpPr txBox="1"/>
          <p:nvPr/>
        </p:nvSpPr>
        <p:spPr>
          <a:xfrm>
            <a:off x="822960" y="5303520"/>
            <a:ext cx="10561320" cy="411480"/>
          </a:xfrm>
          <a:prstGeom prst="rect">
            <a:avLst/>
          </a:prstGeom>
          <a:noFill/>
          <a:ln/>
        </p:spPr>
        <p:txBody>
          <a:bodyPr wrap="square" lIns="0" tIns="0" rIns="0" bIns="0" rtlCol="0" anchor="ctr"/>
          <a:lstStyle/>
          <a:p>
            <a:pPr indent="0" marL="0">
              <a:buNone/>
            </a:pPr>
            <a:r>
              <a:rPr lang="en-US" sz="1600" b="1" dirty="0">
                <a:solidFill>
                  <a:srgbClr val="1D1D1F"/>
                </a:solidFill>
                <a:latin typeface="Calibri" pitchFamily="34" charset="0"/>
                <a:ea typeface="Calibri" pitchFamily="34" charset="-122"/>
                <a:cs typeface="Calibri" pitchFamily="34" charset="-120"/>
              </a:rPr>
              <a:t>What we deliver:  </a:t>
            </a:r>
            <a:pPr indent="0" marL="0">
              <a:buNone/>
            </a:pPr>
            <a:r>
              <a:rPr lang="en-US" sz="1600" dirty="0">
                <a:solidFill>
                  <a:srgbClr val="424245"/>
                </a:solidFill>
                <a:latin typeface="Calibri" pitchFamily="34" charset="0"/>
                <a:ea typeface="Calibri" pitchFamily="34" charset="-122"/>
                <a:cs typeface="Calibri" pitchFamily="34" charset="-120"/>
              </a:rPr>
              <a:t>a working ESP32 detector, a new attack on existing defenses, and results on real data.</a:t>
            </a:r>
            <a:endParaRPr lang="en-US" sz="1600" dirty="0"/>
          </a:p>
        </p:txBody>
      </p:sp>
      <p:sp>
        <p:nvSpPr>
          <p:cNvPr id="21" name="Text 19"/>
          <p:cNvSpPr txBox="1"/>
          <p:nvPr/>
        </p:nvSpPr>
        <p:spPr>
          <a:xfrm>
            <a:off x="822960" y="6327648"/>
            <a:ext cx="10515600" cy="274320"/>
          </a:xfrm>
          <a:prstGeom prst="rect">
            <a:avLst/>
          </a:prstGeom>
          <a:noFill/>
          <a:ln/>
        </p:spPr>
        <p:txBody>
          <a:bodyPr wrap="square" lIns="0" tIns="0" rIns="0" bIns="0" rtlCol="0" anchor="ctr"/>
          <a:lstStyle/>
          <a:p>
            <a:pPr indent="0" marL="0">
              <a:buNone/>
            </a:pPr>
            <a:r>
              <a:rPr lang="en-US" sz="1000" i="1" dirty="0">
                <a:solidFill>
                  <a:srgbClr val="86868B"/>
                </a:solidFill>
                <a:latin typeface="Calibri" pitchFamily="34" charset="0"/>
                <a:ea typeface="Calibri" pitchFamily="34" charset="-122"/>
                <a:cs typeface="Calibri" pitchFamily="34" charset="-120"/>
              </a:rPr>
              <a:t>[1] ANTIDOTE, IMC 2009  ·  [2] Kloft and Laskov, JMLR 2012  ·  [3] Kitsune, NDSS 2018  ·  [4] N-BaIoT, 2018  ·  [5] CESNET-TS24, 2025</a:t>
            </a:r>
            <a:endParaRPr lang="en-US" sz="1000" dirty="0"/>
          </a:p>
        </p:txBody>
      </p:sp>
      <p:sp>
        <p:nvSpPr>
          <p:cNvPr id="22" name="Text 20"/>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PROBLEM STATEMENT</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3000" b="1" dirty="0">
                <a:solidFill>
                  <a:srgbClr val="1D1D1F"/>
                </a:solidFill>
                <a:latin typeface="Calibri" pitchFamily="34" charset="0"/>
                <a:ea typeface="Calibri" pitchFamily="34" charset="-122"/>
                <a:cs typeface="Calibri" pitchFamily="34" charset="-120"/>
              </a:rPr>
              <a:t>A detector that learns on the device can be taught to be blind.</a:t>
            </a:r>
            <a:endParaRPr lang="en-US" sz="3000" dirty="0"/>
          </a:p>
        </p:txBody>
      </p:sp>
      <p:sp>
        <p:nvSpPr>
          <p:cNvPr id="5" name="Text 3"/>
          <p:cNvSpPr txBox="1"/>
          <p:nvPr/>
        </p:nvSpPr>
        <p:spPr>
          <a:xfrm>
            <a:off x="822960" y="2423160"/>
            <a:ext cx="457200" cy="457200"/>
          </a:xfrm>
          <a:prstGeom prst="ellipse">
            <a:avLst/>
          </a:prstGeom>
          <a:solidFill>
            <a:srgbClr val="0071E3"/>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554480" y="2404872"/>
            <a:ext cx="9692640" cy="365760"/>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Detection belongs on the device.</a:t>
            </a:r>
            <a:endParaRPr lang="en-US" sz="1800" dirty="0"/>
          </a:p>
        </p:txBody>
      </p:sp>
      <p:sp>
        <p:nvSpPr>
          <p:cNvPr id="7" name="Text 5"/>
          <p:cNvSpPr txBox="1"/>
          <p:nvPr/>
        </p:nvSpPr>
        <p:spPr>
          <a:xfrm>
            <a:off x="1554480" y="2770632"/>
            <a:ext cx="9692640" cy="640080"/>
          </a:xfrm>
          <a:prstGeom prst="rect">
            <a:avLst/>
          </a:prstGeom>
          <a:noFill/>
          <a:ln/>
        </p:spPr>
        <p:txBody>
          <a:bodyPr wrap="square" lIns="0" tIns="0" rIns="0" bIns="0" rtlCol="0" anchor="t"/>
          <a:lstStyle/>
          <a:p>
            <a:pPr indent="0" marL="0">
              <a:lnSpc>
                <a:spcPct val="108000"/>
              </a:lnSpc>
              <a:buNone/>
            </a:pPr>
            <a:r>
              <a:rPr lang="en-US" sz="1500" dirty="0">
                <a:solidFill>
                  <a:srgbClr val="424245"/>
                </a:solidFill>
                <a:latin typeface="Calibri" pitchFamily="34" charset="0"/>
                <a:ea typeface="Calibri" pitchFamily="34" charset="-122"/>
                <a:cs typeface="Calibri" pitchFamily="34" charset="-120"/>
              </a:rPr>
              <a:t>An online anomaly detector can run on small, cheap hardware close to the traffic it protects [3].</a:t>
            </a:r>
            <a:endParaRPr lang="en-US" sz="1500" dirty="0"/>
          </a:p>
        </p:txBody>
      </p:sp>
      <p:sp>
        <p:nvSpPr>
          <p:cNvPr id="8" name="Text 6"/>
          <p:cNvSpPr txBox="1"/>
          <p:nvPr/>
        </p:nvSpPr>
        <p:spPr>
          <a:xfrm>
            <a:off x="822960" y="3611880"/>
            <a:ext cx="457200" cy="457200"/>
          </a:xfrm>
          <a:prstGeom prst="ellipse">
            <a:avLst/>
          </a:prstGeom>
          <a:solidFill>
            <a:srgbClr val="0071E3"/>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554480" y="3593592"/>
            <a:ext cx="9692640" cy="365760"/>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But normal traffic keeps changing.</a:t>
            </a:r>
            <a:endParaRPr lang="en-US" sz="1800" dirty="0"/>
          </a:p>
        </p:txBody>
      </p:sp>
      <p:sp>
        <p:nvSpPr>
          <p:cNvPr id="10" name="Text 8"/>
          <p:cNvSpPr txBox="1"/>
          <p:nvPr/>
        </p:nvSpPr>
        <p:spPr>
          <a:xfrm>
            <a:off x="1554480" y="3959352"/>
            <a:ext cx="9692640" cy="640080"/>
          </a:xfrm>
          <a:prstGeom prst="rect">
            <a:avLst/>
          </a:prstGeom>
          <a:noFill/>
          <a:ln/>
        </p:spPr>
        <p:txBody>
          <a:bodyPr wrap="square" lIns="0" tIns="0" rIns="0" bIns="0" rtlCol="0" anchor="t"/>
          <a:lstStyle/>
          <a:p>
            <a:pPr indent="0" marL="0">
              <a:lnSpc>
                <a:spcPct val="108000"/>
              </a:lnSpc>
              <a:buNone/>
            </a:pPr>
            <a:r>
              <a:rPr lang="en-US" sz="1500" dirty="0">
                <a:solidFill>
                  <a:srgbClr val="424245"/>
                </a:solidFill>
                <a:latin typeface="Calibri" pitchFamily="34" charset="0"/>
                <a:ea typeface="Calibri" pitchFamily="34" charset="-122"/>
                <a:cs typeface="Calibri" pitchFamily="34" charset="-120"/>
              </a:rPr>
              <a:t>Real networks drift for weeks, with volume down 52% at semester end [5]. A frozen detector goes stale, so it has to keep learning.</a:t>
            </a:r>
            <a:endParaRPr lang="en-US" sz="1500" dirty="0"/>
          </a:p>
        </p:txBody>
      </p:sp>
      <p:sp>
        <p:nvSpPr>
          <p:cNvPr id="11" name="Text 9"/>
          <p:cNvSpPr txBox="1"/>
          <p:nvPr/>
        </p:nvSpPr>
        <p:spPr>
          <a:xfrm>
            <a:off x="822960" y="4800600"/>
            <a:ext cx="457200" cy="457200"/>
          </a:xfrm>
          <a:prstGeom prst="ellipse">
            <a:avLst/>
          </a:prstGeom>
          <a:solidFill>
            <a:srgbClr val="0071E3"/>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1554480" y="4782312"/>
            <a:ext cx="9692640" cy="365760"/>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And learning is the weak point.</a:t>
            </a:r>
            <a:endParaRPr lang="en-US" sz="1800" dirty="0"/>
          </a:p>
        </p:txBody>
      </p:sp>
      <p:sp>
        <p:nvSpPr>
          <p:cNvPr id="13" name="Text 11"/>
          <p:cNvSpPr txBox="1"/>
          <p:nvPr/>
        </p:nvSpPr>
        <p:spPr>
          <a:xfrm>
            <a:off x="1554480" y="5148072"/>
            <a:ext cx="9692640" cy="640080"/>
          </a:xfrm>
          <a:prstGeom prst="rect">
            <a:avLst/>
          </a:prstGeom>
          <a:noFill/>
          <a:ln/>
        </p:spPr>
        <p:txBody>
          <a:bodyPr wrap="square" lIns="0" tIns="0" rIns="0" bIns="0" rtlCol="0" anchor="t"/>
          <a:lstStyle/>
          <a:p>
            <a:pPr indent="0" marL="0">
              <a:lnSpc>
                <a:spcPct val="108000"/>
              </a:lnSpc>
              <a:buNone/>
            </a:pPr>
            <a:r>
              <a:rPr lang="en-US" sz="1500" dirty="0">
                <a:solidFill>
                  <a:srgbClr val="424245"/>
                </a:solidFill>
                <a:latin typeface="Calibri" pitchFamily="34" charset="0"/>
                <a:ea typeface="Calibri" pitchFamily="34" charset="-122"/>
                <a:cs typeface="Calibri" pitchFamily="34" charset="-120"/>
              </a:rPr>
              <a:t>An attacker can feed it slow, harmless-looking changes until an attack looks normal [1]. The larger the attacker's share of traffic, the easier this gets [2].</a:t>
            </a:r>
            <a:endParaRPr lang="en-US" sz="1500" dirty="0"/>
          </a:p>
        </p:txBody>
      </p:sp>
      <p:sp>
        <p:nvSpPr>
          <p:cNvPr id="14" name="Text 12"/>
          <p:cNvSpPr txBox="1"/>
          <p:nvPr/>
        </p:nvSpPr>
        <p:spPr>
          <a:xfrm>
            <a:off x="822960" y="6327648"/>
            <a:ext cx="10515600" cy="274320"/>
          </a:xfrm>
          <a:prstGeom prst="rect">
            <a:avLst/>
          </a:prstGeom>
          <a:noFill/>
          <a:ln/>
        </p:spPr>
        <p:txBody>
          <a:bodyPr wrap="square" lIns="0" tIns="0" rIns="0" bIns="0" rtlCol="0" anchor="ctr"/>
          <a:lstStyle/>
          <a:p>
            <a:pPr indent="0" marL="0">
              <a:buNone/>
            </a:pPr>
            <a:r>
              <a:rPr lang="en-US" sz="1000" i="1" dirty="0">
                <a:solidFill>
                  <a:srgbClr val="86868B"/>
                </a:solidFill>
                <a:latin typeface="Calibri" pitchFamily="34" charset="0"/>
                <a:ea typeface="Calibri" pitchFamily="34" charset="-122"/>
                <a:cs typeface="Calibri" pitchFamily="34" charset="-120"/>
              </a:rPr>
              <a:t>[1] ACM IMC 2009  ·  [2] JMLR 2012  ·  [3] NDSS 2018  ·  [5] Scientific Data 2025</a:t>
            </a:r>
            <a:endParaRPr lang="en-US" sz="1000" dirty="0"/>
          </a:p>
        </p:txBody>
      </p:sp>
      <p:sp>
        <p:nvSpPr>
          <p:cNvPr id="15" name="Text 13"/>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EXISTING WORK  ·  THE 5 PAPERS WE BUILD ON</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800" b="1" dirty="0">
                <a:solidFill>
                  <a:srgbClr val="1D1D1F"/>
                </a:solidFill>
                <a:latin typeface="Calibri" pitchFamily="34" charset="0"/>
                <a:ea typeface="Calibri" pitchFamily="34" charset="-122"/>
                <a:cs typeface="Calibri" pitchFamily="34" charset="-120"/>
              </a:rPr>
              <a:t>Each paper gives us one piece. None puts them together.</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194560"/>
          <a:ext cx="10561320" cy="914400"/>
        </p:xfrm>
        <a:graphic>
          <a:graphicData uri="http://schemas.openxmlformats.org/drawingml/2006/table">
            <a:tbl>
              <a:tblPr/>
              <a:tblGrid>
                <a:gridCol w="2011680"/>
                <a:gridCol w="1737360"/>
                <a:gridCol w="3429000"/>
                <a:gridCol w="3383280"/>
              </a:tblGrid>
              <a:tr h="384048">
                <a:tc>
                  <a:txBody>
                    <a:bodyPr/>
                    <a:lstStyle/>
                    <a:p>
                      <a:pPr indent="0" marL="0">
                        <a:buNone/>
                      </a:pPr>
                      <a:r>
                        <a:rPr lang="en-US" sz="1150" b="1" dirty="0">
                          <a:solidFill>
                            <a:srgbClr val="86868B"/>
                          </a:solidFill>
                          <a:latin typeface="Calibri" pitchFamily="34" charset="0"/>
                          <a:ea typeface="Calibri" pitchFamily="34" charset="-122"/>
                          <a:cs typeface="Calibri" pitchFamily="34" charset="-120"/>
                        </a:rPr>
                        <a:t>PAPER</a:t>
                      </a:r>
                      <a:endParaRPr lang="en-US" sz="115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12700" cap="flat" cmpd="sng" algn="ctr">
                      <a:solidFill>
                        <a:srgbClr val="E8E8ED"/>
                      </a:solidFill>
                      <a:prstDash val="solid"/>
                      <a:round/>
                      <a:headEnd type="none" w="med" len="med"/>
                      <a:tailEnd type="none" w="med" len="med"/>
                    </a:lnB>
                    <a:solidFill>
                      <a:srgbClr val="FFFFFF"/>
                    </a:solidFill>
                  </a:tcPr>
                </a:tc>
                <a:tc>
                  <a:txBody>
                    <a:bodyPr/>
                    <a:lstStyle/>
                    <a:p>
                      <a:pPr indent="0" marL="0">
                        <a:buNone/>
                      </a:pPr>
                      <a:r>
                        <a:rPr lang="en-US" sz="1150" b="1" dirty="0">
                          <a:solidFill>
                            <a:srgbClr val="86868B"/>
                          </a:solidFill>
                          <a:latin typeface="Calibri" pitchFamily="34" charset="0"/>
                          <a:ea typeface="Calibri" pitchFamily="34" charset="-122"/>
                          <a:cs typeface="Calibri" pitchFamily="34" charset="-120"/>
                        </a:rPr>
                        <a:t>VENUE</a:t>
                      </a:r>
                      <a:endParaRPr lang="en-US" sz="115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12700" cap="flat" cmpd="sng" algn="ctr">
                      <a:solidFill>
                        <a:srgbClr val="E8E8ED"/>
                      </a:solidFill>
                      <a:prstDash val="solid"/>
                      <a:round/>
                      <a:headEnd type="none" w="med" len="med"/>
                      <a:tailEnd type="none" w="med" len="med"/>
                    </a:lnB>
                    <a:solidFill>
                      <a:srgbClr val="FFFFFF"/>
                    </a:solidFill>
                  </a:tcPr>
                </a:tc>
                <a:tc>
                  <a:txBody>
                    <a:bodyPr/>
                    <a:lstStyle/>
                    <a:p>
                      <a:pPr indent="0" marL="0">
                        <a:buNone/>
                      </a:pPr>
                      <a:r>
                        <a:rPr lang="en-US" sz="1150" b="1" dirty="0">
                          <a:solidFill>
                            <a:srgbClr val="86868B"/>
                          </a:solidFill>
                          <a:latin typeface="Calibri" pitchFamily="34" charset="0"/>
                          <a:ea typeface="Calibri" pitchFamily="34" charset="-122"/>
                          <a:cs typeface="Calibri" pitchFamily="34" charset="-120"/>
                        </a:rPr>
                        <a:t>WHAT IT SHOWS</a:t>
                      </a:r>
                      <a:endParaRPr lang="en-US" sz="115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12700" cap="flat" cmpd="sng" algn="ctr">
                      <a:solidFill>
                        <a:srgbClr val="E8E8ED"/>
                      </a:solidFill>
                      <a:prstDash val="solid"/>
                      <a:round/>
                      <a:headEnd type="none" w="med" len="med"/>
                      <a:tailEnd type="none" w="med" len="med"/>
                    </a:lnB>
                    <a:solidFill>
                      <a:srgbClr val="FFFFFF"/>
                    </a:solidFill>
                  </a:tcPr>
                </a:tc>
                <a:tc>
                  <a:txBody>
                    <a:bodyPr/>
                    <a:lstStyle/>
                    <a:p>
                      <a:pPr indent="0" marL="0">
                        <a:buNone/>
                      </a:pPr>
                      <a:r>
                        <a:rPr lang="en-US" sz="1150" b="1" dirty="0">
                          <a:solidFill>
                            <a:srgbClr val="86868B"/>
                          </a:solidFill>
                          <a:latin typeface="Calibri" pitchFamily="34" charset="0"/>
                          <a:ea typeface="Calibri" pitchFamily="34" charset="-122"/>
                          <a:cs typeface="Calibri" pitchFamily="34" charset="-120"/>
                        </a:rPr>
                        <a:t>WHAT IT LEAVES OPEN</a:t>
                      </a:r>
                      <a:endParaRPr lang="en-US" sz="115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12700" cap="flat" cmpd="sng" algn="ctr">
                      <a:solidFill>
                        <a:srgbClr val="E8E8ED"/>
                      </a:solidFill>
                      <a:prstDash val="solid"/>
                      <a:round/>
                      <a:headEnd type="none" w="med" len="med"/>
                      <a:tailEnd type="none" w="med" len="med"/>
                    </a:lnB>
                    <a:solidFill>
                      <a:srgbClr val="FFFFFF"/>
                    </a:solidFill>
                  </a:tcPr>
                </a:tc>
              </a:tr>
              <a:tr h="621792">
                <a:tc>
                  <a:txBody>
                    <a:bodyPr/>
                    <a:lstStyle/>
                    <a:p>
                      <a:pPr indent="0" marL="0">
                        <a:buNone/>
                      </a:pPr>
                      <a:r>
                        <a:rPr lang="en-US" sz="1250" b="1" dirty="0">
                          <a:solidFill>
                            <a:srgbClr val="1D1D1F"/>
                          </a:solidFill>
                          <a:latin typeface="Calibri" pitchFamily="34" charset="0"/>
                          <a:ea typeface="Calibri" pitchFamily="34" charset="-122"/>
                          <a:cs typeface="Calibri" pitchFamily="34" charset="-120"/>
                        </a:rPr>
                        <a:t>ANTIDOTE [1]</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ACM IMC 2009</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Boiling-frog poisoning works; robust PCA resists it</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D70015"/>
                          </a:solidFill>
                          <a:latin typeface="Calibri" pitchFamily="34" charset="0"/>
                          <a:ea typeface="Calibri" pitchFamily="34" charset="-122"/>
                          <a:cs typeface="Calibri" pitchFamily="34" charset="-120"/>
                        </a:rPr>
                        <a:t>Server-side batch retraining, not on a device</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r>
              <a:tr h="621792">
                <a:tc>
                  <a:txBody>
                    <a:bodyPr/>
                    <a:lstStyle/>
                    <a:p>
                      <a:pPr indent="0" marL="0">
                        <a:buNone/>
                      </a:pPr>
                      <a:r>
                        <a:rPr lang="en-US" sz="1250" b="1" dirty="0">
                          <a:solidFill>
                            <a:srgbClr val="1D1D1F"/>
                          </a:solidFill>
                          <a:latin typeface="Calibri" pitchFamily="34" charset="0"/>
                          <a:ea typeface="Calibri" pitchFamily="34" charset="-122"/>
                          <a:cs typeface="Calibri" pitchFamily="34" charset="-120"/>
                        </a:rPr>
                        <a:t>Kloft and Laskov [2]</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JMLR 2012</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Poisoning power grows with the attacker's traffic share</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D70015"/>
                          </a:solidFill>
                          <a:latin typeface="Calibri" pitchFamily="34" charset="0"/>
                          <a:ea typeface="Calibri" pitchFamily="34" charset="-122"/>
                          <a:cs typeface="Calibri" pitchFamily="34" charset="-120"/>
                        </a:rPr>
                        <a:t>Theory only, never tested on low-traffic IoT</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r>
              <a:tr h="621792">
                <a:tc>
                  <a:txBody>
                    <a:bodyPr/>
                    <a:lstStyle/>
                    <a:p>
                      <a:pPr indent="0" marL="0">
                        <a:buNone/>
                      </a:pPr>
                      <a:r>
                        <a:rPr lang="en-US" sz="1250" b="1" dirty="0">
                          <a:solidFill>
                            <a:srgbClr val="1D1D1F"/>
                          </a:solidFill>
                          <a:latin typeface="Calibri" pitchFamily="34" charset="0"/>
                          <a:ea typeface="Calibri" pitchFamily="34" charset="-122"/>
                          <a:cs typeface="Calibri" pitchFamily="34" charset="-120"/>
                        </a:rPr>
                        <a:t>Kitsune [3]</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NDSS 2018</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Online anomaly IDS light enough for small devices</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D70015"/>
                          </a:solidFill>
                          <a:latin typeface="Calibri" pitchFamily="34" charset="0"/>
                          <a:ea typeface="Calibri" pitchFamily="34" charset="-122"/>
                          <a:cs typeface="Calibri" pitchFamily="34" charset="-120"/>
                        </a:rPr>
                        <a:t>Stops learning after training; no poisoning defense</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r>
              <a:tr h="621792">
                <a:tc>
                  <a:txBody>
                    <a:bodyPr/>
                    <a:lstStyle/>
                    <a:p>
                      <a:pPr indent="0" marL="0">
                        <a:buNone/>
                      </a:pPr>
                      <a:r>
                        <a:rPr lang="en-US" sz="1250" b="1" dirty="0">
                          <a:solidFill>
                            <a:srgbClr val="1D1D1F"/>
                          </a:solidFill>
                          <a:latin typeface="Calibri" pitchFamily="34" charset="0"/>
                          <a:ea typeface="Calibri" pitchFamily="34" charset="-122"/>
                          <a:cs typeface="Calibri" pitchFamily="34" charset="-120"/>
                        </a:rPr>
                        <a:t>N-BaIoT [4]</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IEEE Perv. Comp. 2018</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Real traffic from 9 IoT devices, including Mirai</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D70015"/>
                          </a:solidFill>
                          <a:latin typeface="Calibri" pitchFamily="34" charset="0"/>
                          <a:ea typeface="Calibri" pitchFamily="34" charset="-122"/>
                          <a:cs typeface="Calibri" pitchFamily="34" charset="-120"/>
                        </a:rPr>
                        <a:t>Offline detection; no drift, no poisoning</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r>
              <a:tr h="621792">
                <a:tc>
                  <a:txBody>
                    <a:bodyPr/>
                    <a:lstStyle/>
                    <a:p>
                      <a:pPr indent="0" marL="0">
                        <a:buNone/>
                      </a:pPr>
                      <a:r>
                        <a:rPr lang="en-US" sz="1250" b="1" dirty="0">
                          <a:solidFill>
                            <a:srgbClr val="1D1D1F"/>
                          </a:solidFill>
                          <a:latin typeface="Calibri" pitchFamily="34" charset="0"/>
                          <a:ea typeface="Calibri" pitchFamily="34" charset="-122"/>
                          <a:cs typeface="Calibri" pitchFamily="34" charset="-120"/>
                        </a:rPr>
                        <a:t>CESNET-TS24 [5]</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Sci. Data 2025</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424245"/>
                          </a:solidFill>
                          <a:latin typeface="Calibri" pitchFamily="34" charset="0"/>
                          <a:ea typeface="Calibri" pitchFamily="34" charset="-122"/>
                          <a:cs typeface="Calibri" pitchFamily="34" charset="-120"/>
                        </a:rPr>
                        <a:t>40 weeks of real traffic drift from 50 institutions</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c>
                  <a:txBody>
                    <a:bodyPr/>
                    <a:lstStyle/>
                    <a:p>
                      <a:pPr indent="0" marL="0">
                        <a:buNone/>
                      </a:pPr>
                      <a:r>
                        <a:rPr lang="en-US" sz="1250" dirty="0">
                          <a:solidFill>
                            <a:srgbClr val="D70015"/>
                          </a:solidFill>
                          <a:latin typeface="Calibri" pitchFamily="34" charset="0"/>
                          <a:ea typeface="Calibri" pitchFamily="34" charset="-122"/>
                          <a:cs typeface="Calibri" pitchFamily="34" charset="-120"/>
                        </a:rPr>
                        <a:t>A dataset; nobody has used it to test poisoning defenses</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8E8ED"/>
                      </a:solidFill>
                      <a:prstDash val="solid"/>
                      <a:round/>
                      <a:headEnd type="none" w="med" len="med"/>
                      <a:tailEnd type="none" w="med" len="med"/>
                    </a:lnB>
                  </a:tcPr>
                </a:tc>
              </a:tr>
            </a:tbl>
          </a:graphicData>
        </a:graphic>
      </p:graphicFrame>
      <p:sp>
        <p:nvSpPr>
          <p:cNvPr id="6" name="Text 3"/>
          <p:cNvSpPr txBox="1"/>
          <p:nvPr/>
        </p:nvSpPr>
        <p:spPr>
          <a:xfrm>
            <a:off x="822960" y="6327648"/>
            <a:ext cx="10515600" cy="274320"/>
          </a:xfrm>
          <a:prstGeom prst="rect">
            <a:avLst/>
          </a:prstGeom>
          <a:noFill/>
          <a:ln/>
        </p:spPr>
        <p:txBody>
          <a:bodyPr wrap="square" lIns="0" tIns="0" rIns="0" bIns="0" rtlCol="0" anchor="ctr"/>
          <a:lstStyle/>
          <a:p>
            <a:pPr indent="0" marL="0">
              <a:buNone/>
            </a:pPr>
            <a:r>
              <a:rPr lang="en-US" sz="1000" i="1" dirty="0">
                <a:solidFill>
                  <a:srgbClr val="86868B"/>
                </a:solidFill>
                <a:latin typeface="Calibri" pitchFamily="34" charset="0"/>
                <a:ea typeface="Calibri" pitchFamily="34" charset="-122"/>
                <a:cs typeface="Calibri" pitchFamily="34" charset="-120"/>
              </a:rPr>
              <a:t>Chosen from 78 papers found and 28 read in full. Full citations on the last slide.</a:t>
            </a:r>
            <a:endParaRPr lang="en-US" sz="1000" dirty="0"/>
          </a:p>
        </p:txBody>
      </p:sp>
      <p:sp>
        <p:nvSpPr>
          <p:cNvPr id="7" name="Text 4"/>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RESEARCH GAP</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800" b="1" dirty="0">
                <a:solidFill>
                  <a:srgbClr val="1D1D1F"/>
                </a:solidFill>
                <a:latin typeface="Calibri" pitchFamily="34" charset="0"/>
                <a:ea typeface="Calibri" pitchFamily="34" charset="-122"/>
                <a:cs typeface="Calibri" pitchFamily="34" charset="-120"/>
              </a:rPr>
              <a:t>Nothing keeps learning safely on a device.</a:t>
            </a:r>
            <a:endParaRPr lang="en-US" sz="2800" dirty="0"/>
          </a:p>
        </p:txBody>
      </p:sp>
      <p:sp>
        <p:nvSpPr>
          <p:cNvPr id="5" name="Shape 3"/>
          <p:cNvSpPr/>
          <p:nvPr/>
        </p:nvSpPr>
        <p:spPr>
          <a:xfrm>
            <a:off x="822960" y="2240280"/>
            <a:ext cx="3337560" cy="1600200"/>
          </a:xfrm>
          <a:prstGeom prst="roundRect">
            <a:avLst>
              <a:gd name="adj" fmla="val 6857"/>
            </a:avLst>
          </a:prstGeom>
          <a:solidFill>
            <a:srgbClr val="F5F5F7"/>
          </a:solidFill>
          <a:ln/>
        </p:spPr>
      </p:sp>
      <p:sp>
        <p:nvSpPr>
          <p:cNvPr id="6" name="Text 4"/>
          <p:cNvSpPr txBox="1"/>
          <p:nvPr/>
        </p:nvSpPr>
        <p:spPr>
          <a:xfrm>
            <a:off x="1097280" y="2450592"/>
            <a:ext cx="2788920" cy="365760"/>
          </a:xfrm>
          <a:prstGeom prst="rect">
            <a:avLst/>
          </a:prstGeom>
          <a:noFill/>
          <a:ln/>
        </p:spPr>
        <p:txBody>
          <a:bodyPr wrap="square" lIns="0" tIns="0" rIns="0" bIns="0" rtlCol="0" anchor="ctr"/>
          <a:lstStyle/>
          <a:p>
            <a:pPr indent="0" marL="0">
              <a:buNone/>
            </a:pPr>
            <a:r>
              <a:rPr lang="en-US" sz="1700" b="1" dirty="0">
                <a:solidFill>
                  <a:srgbClr val="1D1D1F"/>
                </a:solidFill>
                <a:latin typeface="Calibri" pitchFamily="34" charset="0"/>
                <a:ea typeface="Calibri" pitchFamily="34" charset="-122"/>
                <a:cs typeface="Calibri" pitchFamily="34" charset="-120"/>
              </a:rPr>
              <a:t>On-device detectors</a:t>
            </a:r>
            <a:endParaRPr lang="en-US" sz="1700" dirty="0"/>
          </a:p>
        </p:txBody>
      </p:sp>
      <p:sp>
        <p:nvSpPr>
          <p:cNvPr id="7" name="Text 5"/>
          <p:cNvSpPr txBox="1"/>
          <p:nvPr/>
        </p:nvSpPr>
        <p:spPr>
          <a:xfrm>
            <a:off x="1097280" y="2852928"/>
            <a:ext cx="2788920" cy="594360"/>
          </a:xfrm>
          <a:prstGeom prst="rect">
            <a:avLst/>
          </a:prstGeom>
          <a:noFill/>
          <a:ln/>
        </p:spPr>
        <p:txBody>
          <a:bodyPr wrap="square" lIns="0" tIns="0" rIns="0" bIns="0" rtlCol="0" anchor="t"/>
          <a:lstStyle/>
          <a:p>
            <a:pPr indent="0" marL="0">
              <a:buNone/>
            </a:pPr>
            <a:r>
              <a:rPr lang="en-US" sz="1400" dirty="0">
                <a:solidFill>
                  <a:srgbClr val="424245"/>
                </a:solidFill>
                <a:latin typeface="Calibri" pitchFamily="34" charset="0"/>
                <a:ea typeface="Calibri" pitchFamily="34" charset="-122"/>
                <a:cs typeface="Calibri" pitchFamily="34" charset="-120"/>
              </a:rPr>
              <a:t>Run on small hardware, but stop learning, so they go stale</a:t>
            </a:r>
            <a:endParaRPr lang="en-US" sz="1400" dirty="0"/>
          </a:p>
        </p:txBody>
      </p:sp>
      <p:sp>
        <p:nvSpPr>
          <p:cNvPr id="8" name="Text 6"/>
          <p:cNvSpPr txBox="1"/>
          <p:nvPr/>
        </p:nvSpPr>
        <p:spPr>
          <a:xfrm>
            <a:off x="1097280" y="3474720"/>
            <a:ext cx="2788920" cy="274320"/>
          </a:xfrm>
          <a:prstGeom prst="rect">
            <a:avLst/>
          </a:prstGeom>
          <a:noFill/>
          <a:ln/>
        </p:spPr>
        <p:txBody>
          <a:bodyPr wrap="square" lIns="0" tIns="0" rIns="0" bIns="0" rtlCol="0" anchor="ctr"/>
          <a:lstStyle/>
          <a:p>
            <a:pPr indent="0" marL="0">
              <a:buNone/>
            </a:pPr>
            <a:r>
              <a:rPr lang="en-US" sz="1100" dirty="0">
                <a:solidFill>
                  <a:srgbClr val="86868B"/>
                </a:solidFill>
                <a:latin typeface="Calibri" pitchFamily="34" charset="0"/>
                <a:ea typeface="Calibri" pitchFamily="34" charset="-122"/>
                <a:cs typeface="Calibri" pitchFamily="34" charset="-120"/>
              </a:rPr>
              <a:t>[3]</a:t>
            </a:r>
            <a:endParaRPr lang="en-US" sz="1100" dirty="0"/>
          </a:p>
        </p:txBody>
      </p:sp>
      <p:sp>
        <p:nvSpPr>
          <p:cNvPr id="9" name="Shape 7"/>
          <p:cNvSpPr/>
          <p:nvPr/>
        </p:nvSpPr>
        <p:spPr>
          <a:xfrm>
            <a:off x="4434840" y="2240280"/>
            <a:ext cx="3337560" cy="1600200"/>
          </a:xfrm>
          <a:prstGeom prst="roundRect">
            <a:avLst>
              <a:gd name="adj" fmla="val 6857"/>
            </a:avLst>
          </a:prstGeom>
          <a:solidFill>
            <a:srgbClr val="F5F5F7"/>
          </a:solidFill>
          <a:ln/>
        </p:spPr>
      </p:sp>
      <p:sp>
        <p:nvSpPr>
          <p:cNvPr id="10" name="Text 8"/>
          <p:cNvSpPr txBox="1"/>
          <p:nvPr/>
        </p:nvSpPr>
        <p:spPr>
          <a:xfrm>
            <a:off x="4709160" y="2450592"/>
            <a:ext cx="2788920" cy="365760"/>
          </a:xfrm>
          <a:prstGeom prst="rect">
            <a:avLst/>
          </a:prstGeom>
          <a:noFill/>
          <a:ln/>
        </p:spPr>
        <p:txBody>
          <a:bodyPr wrap="square" lIns="0" tIns="0" rIns="0" bIns="0" rtlCol="0" anchor="ctr"/>
          <a:lstStyle/>
          <a:p>
            <a:pPr indent="0" marL="0">
              <a:buNone/>
            </a:pPr>
            <a:r>
              <a:rPr lang="en-US" sz="1700" b="1" dirty="0">
                <a:solidFill>
                  <a:srgbClr val="1D1D1F"/>
                </a:solidFill>
                <a:latin typeface="Calibri" pitchFamily="34" charset="0"/>
                <a:ea typeface="Calibri" pitchFamily="34" charset="-122"/>
                <a:cs typeface="Calibri" pitchFamily="34" charset="-120"/>
              </a:rPr>
              <a:t>Real drift</a:t>
            </a:r>
            <a:endParaRPr lang="en-US" sz="1700" dirty="0"/>
          </a:p>
        </p:txBody>
      </p:sp>
      <p:sp>
        <p:nvSpPr>
          <p:cNvPr id="11" name="Text 9"/>
          <p:cNvSpPr txBox="1"/>
          <p:nvPr/>
        </p:nvSpPr>
        <p:spPr>
          <a:xfrm>
            <a:off x="4709160" y="2852928"/>
            <a:ext cx="2788920" cy="594360"/>
          </a:xfrm>
          <a:prstGeom prst="rect">
            <a:avLst/>
          </a:prstGeom>
          <a:noFill/>
          <a:ln/>
        </p:spPr>
        <p:txBody>
          <a:bodyPr wrap="square" lIns="0" tIns="0" rIns="0" bIns="0" rtlCol="0" anchor="t"/>
          <a:lstStyle/>
          <a:p>
            <a:pPr indent="0" marL="0">
              <a:buNone/>
            </a:pPr>
            <a:r>
              <a:rPr lang="en-US" sz="1400" dirty="0">
                <a:solidFill>
                  <a:srgbClr val="424245"/>
                </a:solidFill>
                <a:latin typeface="Calibri" pitchFamily="34" charset="0"/>
                <a:ea typeface="Calibri" pitchFamily="34" charset="-122"/>
                <a:cs typeface="Calibri" pitchFamily="34" charset="-120"/>
              </a:rPr>
              <a:t>Normal traffic changes for weeks, so learning cannot stop</a:t>
            </a:r>
            <a:endParaRPr lang="en-US" sz="1400" dirty="0"/>
          </a:p>
        </p:txBody>
      </p:sp>
      <p:sp>
        <p:nvSpPr>
          <p:cNvPr id="12" name="Text 10"/>
          <p:cNvSpPr txBox="1"/>
          <p:nvPr/>
        </p:nvSpPr>
        <p:spPr>
          <a:xfrm>
            <a:off x="4709160" y="3474720"/>
            <a:ext cx="2788920" cy="274320"/>
          </a:xfrm>
          <a:prstGeom prst="rect">
            <a:avLst/>
          </a:prstGeom>
          <a:noFill/>
          <a:ln/>
        </p:spPr>
        <p:txBody>
          <a:bodyPr wrap="square" lIns="0" tIns="0" rIns="0" bIns="0" rtlCol="0" anchor="ctr"/>
          <a:lstStyle/>
          <a:p>
            <a:pPr indent="0" marL="0">
              <a:buNone/>
            </a:pPr>
            <a:r>
              <a:rPr lang="en-US" sz="1100" dirty="0">
                <a:solidFill>
                  <a:srgbClr val="86868B"/>
                </a:solidFill>
                <a:latin typeface="Calibri" pitchFamily="34" charset="0"/>
                <a:ea typeface="Calibri" pitchFamily="34" charset="-122"/>
                <a:cs typeface="Calibri" pitchFamily="34" charset="-120"/>
              </a:rPr>
              <a:t>[5]</a:t>
            </a:r>
            <a:endParaRPr lang="en-US" sz="1100" dirty="0"/>
          </a:p>
        </p:txBody>
      </p:sp>
      <p:sp>
        <p:nvSpPr>
          <p:cNvPr id="13" name="Shape 11"/>
          <p:cNvSpPr/>
          <p:nvPr/>
        </p:nvSpPr>
        <p:spPr>
          <a:xfrm>
            <a:off x="8046720" y="2240280"/>
            <a:ext cx="3337560" cy="1600200"/>
          </a:xfrm>
          <a:prstGeom prst="roundRect">
            <a:avLst>
              <a:gd name="adj" fmla="val 6857"/>
            </a:avLst>
          </a:prstGeom>
          <a:solidFill>
            <a:srgbClr val="F5F5F7"/>
          </a:solidFill>
          <a:ln/>
        </p:spPr>
      </p:sp>
      <p:sp>
        <p:nvSpPr>
          <p:cNvPr id="14" name="Text 12"/>
          <p:cNvSpPr txBox="1"/>
          <p:nvPr/>
        </p:nvSpPr>
        <p:spPr>
          <a:xfrm>
            <a:off x="8321040" y="2450592"/>
            <a:ext cx="2788920" cy="365760"/>
          </a:xfrm>
          <a:prstGeom prst="rect">
            <a:avLst/>
          </a:prstGeom>
          <a:noFill/>
          <a:ln/>
        </p:spPr>
        <p:txBody>
          <a:bodyPr wrap="square" lIns="0" tIns="0" rIns="0" bIns="0" rtlCol="0" anchor="ctr"/>
          <a:lstStyle/>
          <a:p>
            <a:pPr indent="0" marL="0">
              <a:buNone/>
            </a:pPr>
            <a:r>
              <a:rPr lang="en-US" sz="1700" b="1" dirty="0">
                <a:solidFill>
                  <a:srgbClr val="1D1D1F"/>
                </a:solidFill>
                <a:latin typeface="Calibri" pitchFamily="34" charset="0"/>
                <a:ea typeface="Calibri" pitchFamily="34" charset="-122"/>
                <a:cs typeface="Calibri" pitchFamily="34" charset="-120"/>
              </a:rPr>
              <a:t>Existing defense</a:t>
            </a:r>
            <a:endParaRPr lang="en-US" sz="1700" dirty="0"/>
          </a:p>
        </p:txBody>
      </p:sp>
      <p:sp>
        <p:nvSpPr>
          <p:cNvPr id="15" name="Text 13"/>
          <p:cNvSpPr txBox="1"/>
          <p:nvPr/>
        </p:nvSpPr>
        <p:spPr>
          <a:xfrm>
            <a:off x="8321040" y="2852928"/>
            <a:ext cx="2788920" cy="594360"/>
          </a:xfrm>
          <a:prstGeom prst="rect">
            <a:avLst/>
          </a:prstGeom>
          <a:noFill/>
          <a:ln/>
        </p:spPr>
        <p:txBody>
          <a:bodyPr wrap="square" lIns="0" tIns="0" rIns="0" bIns="0" rtlCol="0" anchor="t"/>
          <a:lstStyle/>
          <a:p>
            <a:pPr indent="0" marL="0">
              <a:buNone/>
            </a:pPr>
            <a:r>
              <a:rPr lang="en-US" sz="1400" dirty="0">
                <a:solidFill>
                  <a:srgbClr val="424245"/>
                </a:solidFill>
                <a:latin typeface="Calibri" pitchFamily="34" charset="0"/>
                <a:ea typeface="Calibri" pitchFamily="34" charset="-122"/>
                <a:cs typeface="Calibri" pitchFamily="34" charset="-120"/>
              </a:rPr>
              <a:t>Resists poisoning, but on a server with batch retraining</a:t>
            </a:r>
            <a:endParaRPr lang="en-US" sz="1400" dirty="0"/>
          </a:p>
        </p:txBody>
      </p:sp>
      <p:sp>
        <p:nvSpPr>
          <p:cNvPr id="16" name="Text 14"/>
          <p:cNvSpPr txBox="1"/>
          <p:nvPr/>
        </p:nvSpPr>
        <p:spPr>
          <a:xfrm>
            <a:off x="8321040" y="3474720"/>
            <a:ext cx="2788920" cy="274320"/>
          </a:xfrm>
          <a:prstGeom prst="rect">
            <a:avLst/>
          </a:prstGeom>
          <a:noFill/>
          <a:ln/>
        </p:spPr>
        <p:txBody>
          <a:bodyPr wrap="square" lIns="0" tIns="0" rIns="0" bIns="0" rtlCol="0" anchor="ctr"/>
          <a:lstStyle/>
          <a:p>
            <a:pPr indent="0" marL="0">
              <a:buNone/>
            </a:pPr>
            <a:r>
              <a:rPr lang="en-US" sz="1100" dirty="0">
                <a:solidFill>
                  <a:srgbClr val="86868B"/>
                </a:solidFill>
                <a:latin typeface="Calibri" pitchFamily="34" charset="0"/>
                <a:ea typeface="Calibri" pitchFamily="34" charset="-122"/>
                <a:cs typeface="Calibri" pitchFamily="34" charset="-120"/>
              </a:rPr>
              <a:t>[1]</a:t>
            </a:r>
            <a:endParaRPr lang="en-US" sz="1100" dirty="0"/>
          </a:p>
        </p:txBody>
      </p:sp>
      <p:sp>
        <p:nvSpPr>
          <p:cNvPr id="17" name="Shape 15"/>
          <p:cNvSpPr/>
          <p:nvPr/>
        </p:nvSpPr>
        <p:spPr>
          <a:xfrm>
            <a:off x="822960" y="4069080"/>
            <a:ext cx="10561320" cy="2011680"/>
          </a:xfrm>
          <a:prstGeom prst="roundRect">
            <a:avLst>
              <a:gd name="adj" fmla="val 5455"/>
            </a:avLst>
          </a:prstGeom>
          <a:solidFill>
            <a:srgbClr val="1D1D1F"/>
          </a:solidFill>
          <a:ln/>
        </p:spPr>
      </p:sp>
      <p:sp>
        <p:nvSpPr>
          <p:cNvPr id="18" name="Text 16"/>
          <p:cNvSpPr txBox="1"/>
          <p:nvPr/>
        </p:nvSpPr>
        <p:spPr>
          <a:xfrm>
            <a:off x="1188720" y="4297680"/>
            <a:ext cx="4572000" cy="274320"/>
          </a:xfrm>
          <a:prstGeom prst="rect">
            <a:avLst/>
          </a:prstGeom>
          <a:noFill/>
          <a:ln/>
        </p:spPr>
        <p:txBody>
          <a:bodyPr wrap="square" lIns="0" tIns="0" rIns="0" bIns="0" rtlCol="0" anchor="ctr"/>
          <a:lstStyle/>
          <a:p>
            <a:pPr indent="0" marL="0">
              <a:buNone/>
            </a:pPr>
            <a:r>
              <a:rPr lang="en-US" sz="1200" b="1" spc="200" kern="0" dirty="0">
                <a:solidFill>
                  <a:srgbClr val="0071E3"/>
                </a:solidFill>
                <a:latin typeface="Calibri" pitchFamily="34" charset="0"/>
                <a:ea typeface="Calibri" pitchFamily="34" charset="-122"/>
                <a:cs typeface="Calibri" pitchFamily="34" charset="-120"/>
              </a:rPr>
              <a:t>THE GAP WE FILL</a:t>
            </a:r>
            <a:endParaRPr lang="en-US" sz="1200" dirty="0"/>
          </a:p>
        </p:txBody>
      </p:sp>
      <p:sp>
        <p:nvSpPr>
          <p:cNvPr id="19" name="Text 17"/>
          <p:cNvSpPr txBox="1"/>
          <p:nvPr/>
        </p:nvSpPr>
        <p:spPr>
          <a:xfrm>
            <a:off x="1188720" y="4590288"/>
            <a:ext cx="9875520" cy="731520"/>
          </a:xfrm>
          <a:prstGeom prst="rect">
            <a:avLst/>
          </a:prstGeom>
          <a:noFill/>
          <a:ln/>
        </p:spPr>
        <p:txBody>
          <a:bodyPr wrap="square" lIns="0" tIns="0" rIns="0" bIns="0" rtlCol="0" anchor="t"/>
          <a:lstStyle/>
          <a:p>
            <a:pPr indent="0" marL="0">
              <a:lnSpc>
                <a:spcPct val="108000"/>
              </a:lnSpc>
              <a:buNone/>
            </a:pPr>
            <a:r>
              <a:rPr lang="en-US" sz="1900" b="1" dirty="0">
                <a:solidFill>
                  <a:srgbClr val="FFFFFF"/>
                </a:solidFill>
                <a:latin typeface="Calibri" pitchFamily="34" charset="0"/>
                <a:ea typeface="Calibri" pitchFamily="34" charset="-122"/>
                <a:cs typeface="Calibri" pitchFamily="34" charset="-120"/>
              </a:rPr>
              <a:t>A detector that keeps adapting on the device, never freezes, and still cannot be walked toward an attack.</a:t>
            </a:r>
            <a:endParaRPr lang="en-US" sz="1900" dirty="0"/>
          </a:p>
        </p:txBody>
      </p:sp>
      <p:sp>
        <p:nvSpPr>
          <p:cNvPr id="20" name="Text 18"/>
          <p:cNvSpPr txBox="1"/>
          <p:nvPr/>
        </p:nvSpPr>
        <p:spPr>
          <a:xfrm>
            <a:off x="1188720" y="5376672"/>
            <a:ext cx="9875520" cy="548640"/>
          </a:xfrm>
          <a:prstGeom prst="rect">
            <a:avLst/>
          </a:prstGeom>
          <a:noFill/>
          <a:ln/>
        </p:spPr>
        <p:txBody>
          <a:bodyPr wrap="square" lIns="0" tIns="0" rIns="0" bIns="0" rtlCol="0" anchor="t"/>
          <a:lstStyle/>
          <a:p>
            <a:pPr indent="0" marL="0">
              <a:buNone/>
            </a:pPr>
            <a:r>
              <a:rPr lang="en-US" sz="1300" dirty="0">
                <a:solidFill>
                  <a:srgbClr val="C7C7CC"/>
                </a:solidFill>
                <a:latin typeface="Calibri" pitchFamily="34" charset="0"/>
                <a:ea typeface="Calibri" pitchFamily="34" charset="-122"/>
                <a:cs typeface="Calibri" pitchFamily="34" charset="-120"/>
              </a:rPr>
              <a:t>Credit where due: the attack and a server-side defense both come from ANTIDOTE [1]. Our target is continuous learning on the device.</a:t>
            </a:r>
            <a:endParaRPr lang="en-US" sz="1300" dirty="0"/>
          </a:p>
        </p:txBody>
      </p:sp>
      <p:sp>
        <p:nvSpPr>
          <p:cNvPr id="21" name="Text 19"/>
          <p:cNvSpPr txBox="1"/>
          <p:nvPr/>
        </p:nvSpPr>
        <p:spPr>
          <a:xfrm>
            <a:off x="822960" y="6327648"/>
            <a:ext cx="10515600" cy="274320"/>
          </a:xfrm>
          <a:prstGeom prst="rect">
            <a:avLst/>
          </a:prstGeom>
          <a:noFill/>
          <a:ln/>
        </p:spPr>
        <p:txBody>
          <a:bodyPr wrap="square" lIns="0" tIns="0" rIns="0" bIns="0" rtlCol="0" anchor="ctr"/>
          <a:lstStyle/>
          <a:p>
            <a:pPr indent="0" marL="0">
              <a:buNone/>
            </a:pPr>
            <a:r>
              <a:rPr lang="en-US" sz="1000" i="1" dirty="0">
                <a:solidFill>
                  <a:srgbClr val="86868B"/>
                </a:solidFill>
                <a:latin typeface="Calibri" pitchFamily="34" charset="0"/>
                <a:ea typeface="Calibri" pitchFamily="34" charset="-122"/>
                <a:cs typeface="Calibri" pitchFamily="34" charset="-120"/>
              </a:rPr>
              <a:t>[1] ACM IMC 2009  ·  [3] NDSS 2018  ·  [5] Scientific Data 2025</a:t>
            </a:r>
            <a:endParaRPr lang="en-US" sz="1000" dirty="0"/>
          </a:p>
        </p:txBody>
      </p:sp>
      <p:sp>
        <p:nvSpPr>
          <p:cNvPr id="22" name="Text 20"/>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RESEARCH QUESTIONS</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800" b="1" dirty="0">
                <a:solidFill>
                  <a:srgbClr val="1D1D1F"/>
                </a:solidFill>
                <a:latin typeface="Calibri" pitchFamily="34" charset="0"/>
                <a:ea typeface="Calibri" pitchFamily="34" charset="-122"/>
                <a:cs typeface="Calibri" pitchFamily="34" charset="-120"/>
              </a:rPr>
              <a:t>Three questions, one per claim.</a:t>
            </a:r>
            <a:endParaRPr lang="en-US" sz="2800" dirty="0"/>
          </a:p>
        </p:txBody>
      </p:sp>
      <p:sp>
        <p:nvSpPr>
          <p:cNvPr id="5" name="Shape 3"/>
          <p:cNvSpPr/>
          <p:nvPr/>
        </p:nvSpPr>
        <p:spPr>
          <a:xfrm>
            <a:off x="822960" y="2240280"/>
            <a:ext cx="10561320" cy="1005840"/>
          </a:xfrm>
          <a:prstGeom prst="roundRect">
            <a:avLst>
              <a:gd name="adj" fmla="val 10909"/>
            </a:avLst>
          </a:prstGeom>
          <a:solidFill>
            <a:srgbClr val="F5F5F7"/>
          </a:solidFill>
          <a:ln/>
        </p:spPr>
      </p:sp>
      <p:sp>
        <p:nvSpPr>
          <p:cNvPr id="6" name="Text 4"/>
          <p:cNvSpPr txBox="1"/>
          <p:nvPr/>
        </p:nvSpPr>
        <p:spPr>
          <a:xfrm>
            <a:off x="1143000" y="2240280"/>
            <a:ext cx="1097280" cy="100584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RQ1</a:t>
            </a:r>
            <a:endParaRPr lang="en-US" sz="2200" dirty="0"/>
          </a:p>
        </p:txBody>
      </p:sp>
      <p:sp>
        <p:nvSpPr>
          <p:cNvPr id="7" name="Text 5"/>
          <p:cNvSpPr txBox="1"/>
          <p:nvPr/>
        </p:nvSpPr>
        <p:spPr>
          <a:xfrm>
            <a:off x="2286000" y="2240280"/>
            <a:ext cx="8869680" cy="1005840"/>
          </a:xfrm>
          <a:prstGeom prst="rect">
            <a:avLst/>
          </a:prstGeom>
          <a:noFill/>
          <a:ln/>
        </p:spPr>
        <p:txBody>
          <a:bodyPr wrap="square" lIns="0" tIns="0" rIns="0" bIns="0" rtlCol="0" anchor="ctr"/>
          <a:lstStyle/>
          <a:p>
            <a:pPr indent="0" marL="0">
              <a:lnSpc>
                <a:spcPct val="105000"/>
              </a:lnSpc>
              <a:buNone/>
            </a:pPr>
            <a:r>
              <a:rPr lang="en-US" sz="1700" dirty="0">
                <a:solidFill>
                  <a:srgbClr val="1D1D1F"/>
                </a:solidFill>
                <a:latin typeface="Calibri" pitchFamily="34" charset="0"/>
                <a:ea typeface="Calibri" pitchFamily="34" charset="-122"/>
                <a:cs typeface="Calibri" pitchFamily="34" charset="-120"/>
              </a:rPr>
              <a:t>Can a detector keep learning honest drift while refusing only the part of each update that moves it toward a known attack?</a:t>
            </a:r>
            <a:endParaRPr lang="en-US" sz="1700" dirty="0"/>
          </a:p>
        </p:txBody>
      </p:sp>
      <p:sp>
        <p:nvSpPr>
          <p:cNvPr id="8" name="Shape 6"/>
          <p:cNvSpPr/>
          <p:nvPr/>
        </p:nvSpPr>
        <p:spPr>
          <a:xfrm>
            <a:off x="822960" y="3429000"/>
            <a:ext cx="10561320" cy="1005840"/>
          </a:xfrm>
          <a:prstGeom prst="roundRect">
            <a:avLst>
              <a:gd name="adj" fmla="val 10909"/>
            </a:avLst>
          </a:prstGeom>
          <a:solidFill>
            <a:srgbClr val="F5F5F7"/>
          </a:solidFill>
          <a:ln/>
        </p:spPr>
      </p:sp>
      <p:sp>
        <p:nvSpPr>
          <p:cNvPr id="9" name="Text 7"/>
          <p:cNvSpPr txBox="1"/>
          <p:nvPr/>
        </p:nvSpPr>
        <p:spPr>
          <a:xfrm>
            <a:off x="1143000" y="3429000"/>
            <a:ext cx="1097280" cy="100584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RQ2</a:t>
            </a:r>
            <a:endParaRPr lang="en-US" sz="2200" dirty="0"/>
          </a:p>
        </p:txBody>
      </p:sp>
      <p:sp>
        <p:nvSpPr>
          <p:cNvPr id="10" name="Text 8"/>
          <p:cNvSpPr txBox="1"/>
          <p:nvPr/>
        </p:nvSpPr>
        <p:spPr>
          <a:xfrm>
            <a:off x="2286000" y="3429000"/>
            <a:ext cx="8869680" cy="1005840"/>
          </a:xfrm>
          <a:prstGeom prst="rect">
            <a:avLst/>
          </a:prstGeom>
          <a:noFill/>
          <a:ln/>
        </p:spPr>
        <p:txBody>
          <a:bodyPr wrap="square" lIns="0" tIns="0" rIns="0" bIns="0" rtlCol="0" anchor="ctr"/>
          <a:lstStyle/>
          <a:p>
            <a:pPr indent="0" marL="0">
              <a:lnSpc>
                <a:spcPct val="105000"/>
              </a:lnSpc>
              <a:buNone/>
            </a:pPr>
            <a:r>
              <a:rPr lang="en-US" sz="1700" dirty="0">
                <a:solidFill>
                  <a:srgbClr val="1D1D1F"/>
                </a:solidFill>
                <a:latin typeface="Calibri" pitchFamily="34" charset="0"/>
                <a:ea typeface="Calibri" pitchFamily="34" charset="-122"/>
                <a:cs typeface="Calibri" pitchFamily="34" charset="-120"/>
              </a:rPr>
              <a:t>Can an attacker turn a defense that freezes into a denial of service, and does never-freezing adaptation prevent that?</a:t>
            </a:r>
            <a:endParaRPr lang="en-US" sz="1700" dirty="0"/>
          </a:p>
        </p:txBody>
      </p:sp>
      <p:sp>
        <p:nvSpPr>
          <p:cNvPr id="11" name="Shape 9"/>
          <p:cNvSpPr/>
          <p:nvPr/>
        </p:nvSpPr>
        <p:spPr>
          <a:xfrm>
            <a:off x="822960" y="4617720"/>
            <a:ext cx="10561320" cy="1005840"/>
          </a:xfrm>
          <a:prstGeom prst="roundRect">
            <a:avLst>
              <a:gd name="adj" fmla="val 10909"/>
            </a:avLst>
          </a:prstGeom>
          <a:solidFill>
            <a:srgbClr val="F5F5F7"/>
          </a:solidFill>
          <a:ln/>
        </p:spPr>
      </p:sp>
      <p:sp>
        <p:nvSpPr>
          <p:cNvPr id="12" name="Text 10"/>
          <p:cNvSpPr txBox="1"/>
          <p:nvPr/>
        </p:nvSpPr>
        <p:spPr>
          <a:xfrm>
            <a:off x="1143000" y="4617720"/>
            <a:ext cx="1097280" cy="100584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RQ3</a:t>
            </a:r>
            <a:endParaRPr lang="en-US" sz="2200" dirty="0"/>
          </a:p>
        </p:txBody>
      </p:sp>
      <p:sp>
        <p:nvSpPr>
          <p:cNvPr id="13" name="Text 11"/>
          <p:cNvSpPr txBox="1"/>
          <p:nvPr/>
        </p:nvSpPr>
        <p:spPr>
          <a:xfrm>
            <a:off x="2286000" y="4617720"/>
            <a:ext cx="8869680" cy="1005840"/>
          </a:xfrm>
          <a:prstGeom prst="rect">
            <a:avLst/>
          </a:prstGeom>
          <a:noFill/>
          <a:ln/>
        </p:spPr>
        <p:txBody>
          <a:bodyPr wrap="square" lIns="0" tIns="0" rIns="0" bIns="0" rtlCol="0" anchor="ctr"/>
          <a:lstStyle/>
          <a:p>
            <a:pPr indent="0" marL="0">
              <a:lnSpc>
                <a:spcPct val="105000"/>
              </a:lnSpc>
              <a:buNone/>
            </a:pPr>
            <a:r>
              <a:rPr lang="en-US" sz="1700" dirty="0">
                <a:solidFill>
                  <a:srgbClr val="1D1D1F"/>
                </a:solidFill>
                <a:latin typeface="Calibri" pitchFamily="34" charset="0"/>
                <a:ea typeface="Calibri" pitchFamily="34" charset="-122"/>
                <a:cs typeface="Calibri" pitchFamily="34" charset="-120"/>
              </a:rPr>
              <a:t>How exposed are real low-traffic IoT devices [2, 4], and what does protection cost on an ESP32?</a:t>
            </a:r>
            <a:endParaRPr lang="en-US" sz="1700" dirty="0"/>
          </a:p>
        </p:txBody>
      </p:sp>
      <p:sp>
        <p:nvSpPr>
          <p:cNvPr id="14" name="Text 12"/>
          <p:cNvSpPr txBox="1"/>
          <p:nvPr/>
        </p:nvSpPr>
        <p:spPr>
          <a:xfrm>
            <a:off x="822960" y="5760720"/>
            <a:ext cx="10515600" cy="530352"/>
          </a:xfrm>
          <a:prstGeom prst="rect">
            <a:avLst/>
          </a:prstGeom>
          <a:noFill/>
          <a:ln/>
        </p:spPr>
        <p:txBody>
          <a:bodyPr wrap="square" lIns="0" tIns="0" rIns="0" bIns="0" rtlCol="0" anchor="t"/>
          <a:lstStyle/>
          <a:p>
            <a:pPr indent="0" marL="0">
              <a:buNone/>
            </a:pPr>
            <a:r>
              <a:rPr lang="en-US" sz="1400" i="1" dirty="0">
                <a:solidFill>
                  <a:srgbClr val="86868B"/>
                </a:solidFill>
                <a:latin typeface="Calibri" pitchFamily="34" charset="0"/>
                <a:ea typeface="Calibri" pitchFamily="34" charset="-122"/>
                <a:cs typeface="Calibri" pitchFamily="34" charset="-120"/>
              </a:rPr>
              <a:t>Hypothesis: rationing only the threat-aligned part of each update keeps attacks visible without the false-alarm cost of freezing.</a:t>
            </a:r>
            <a:endParaRPr lang="en-US" sz="1400" dirty="0"/>
          </a:p>
        </p:txBody>
      </p:sp>
      <p:sp>
        <p:nvSpPr>
          <p:cNvPr id="15" name="Text 13"/>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PROPOSED APPROACH  ·  THREAT-ORTHOGONAL ADAPTATION</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800" b="1" dirty="0">
                <a:solidFill>
                  <a:srgbClr val="1D1D1F"/>
                </a:solidFill>
                <a:latin typeface="Calibri" pitchFamily="34" charset="0"/>
                <a:ea typeface="Calibri" pitchFamily="34" charset="-122"/>
                <a:cs typeface="Calibri" pitchFamily="34" charset="-120"/>
              </a:rPr>
              <a:t>Split every update. Only the dangerous part is rationed.</a:t>
            </a:r>
            <a:endParaRPr lang="en-US" sz="2800" dirty="0"/>
          </a:p>
        </p:txBody>
      </p:sp>
      <p:sp>
        <p:nvSpPr>
          <p:cNvPr id="5" name="Shape 3"/>
          <p:cNvSpPr/>
          <p:nvPr/>
        </p:nvSpPr>
        <p:spPr>
          <a:xfrm>
            <a:off x="822960" y="2240280"/>
            <a:ext cx="1874520" cy="914400"/>
          </a:xfrm>
          <a:prstGeom prst="roundRect">
            <a:avLst>
              <a:gd name="adj" fmla="val 12000"/>
            </a:avLst>
          </a:prstGeom>
          <a:solidFill>
            <a:srgbClr val="F5F5F7"/>
          </a:solidFill>
          <a:ln/>
        </p:spPr>
      </p:sp>
      <p:sp>
        <p:nvSpPr>
          <p:cNvPr id="6" name="Text 4"/>
          <p:cNvSpPr txBox="1"/>
          <p:nvPr/>
        </p:nvSpPr>
        <p:spPr>
          <a:xfrm>
            <a:off x="1005840" y="2331720"/>
            <a:ext cx="1508760" cy="365760"/>
          </a:xfrm>
          <a:prstGeom prst="rect">
            <a:avLst/>
          </a:prstGeom>
          <a:noFill/>
          <a:ln/>
        </p:spPr>
        <p:txBody>
          <a:bodyPr wrap="square" lIns="0" tIns="0" rIns="0" bIns="0" rtlCol="0" anchor="ctr"/>
          <a:lstStyle/>
          <a:p>
            <a:pPr indent="0" marL="0">
              <a:buNone/>
            </a:pPr>
            <a:r>
              <a:rPr lang="en-US" sz="1500" b="1" dirty="0">
                <a:solidFill>
                  <a:srgbClr val="1D1D1F"/>
                </a:solidFill>
                <a:latin typeface="Calibri" pitchFamily="34" charset="0"/>
                <a:ea typeface="Calibri" pitchFamily="34" charset="-122"/>
                <a:cs typeface="Calibri" pitchFamily="34" charset="-120"/>
              </a:rPr>
              <a:t>Traffic</a:t>
            </a:r>
            <a:endParaRPr lang="en-US" sz="1500" dirty="0"/>
          </a:p>
        </p:txBody>
      </p:sp>
      <p:sp>
        <p:nvSpPr>
          <p:cNvPr id="7" name="Text 5"/>
          <p:cNvSpPr txBox="1"/>
          <p:nvPr/>
        </p:nvSpPr>
        <p:spPr>
          <a:xfrm>
            <a:off x="1005840" y="2697480"/>
            <a:ext cx="1508760" cy="320040"/>
          </a:xfrm>
          <a:prstGeom prst="rect">
            <a:avLst/>
          </a:prstGeom>
          <a:noFill/>
          <a:ln/>
        </p:spPr>
        <p:txBody>
          <a:bodyPr wrap="square" lIns="0" tIns="0" rIns="0" bIns="0" rtlCol="0" anchor="ctr"/>
          <a:lstStyle/>
          <a:p>
            <a:pPr indent="0" marL="0">
              <a:buNone/>
            </a:pPr>
            <a:r>
              <a:rPr lang="en-US" sz="1200" dirty="0">
                <a:solidFill>
                  <a:srgbClr val="86868B"/>
                </a:solidFill>
                <a:latin typeface="Calibri" pitchFamily="34" charset="0"/>
                <a:ea typeface="Calibri" pitchFamily="34" charset="-122"/>
                <a:cs typeface="Calibri" pitchFamily="34" charset="-120"/>
              </a:rPr>
              <a:t>Kitsune features [3]</a:t>
            </a:r>
            <a:endParaRPr lang="en-US" sz="1200" dirty="0"/>
          </a:p>
        </p:txBody>
      </p:sp>
      <p:sp>
        <p:nvSpPr>
          <p:cNvPr id="8" name="Shape 6"/>
          <p:cNvSpPr/>
          <p:nvPr/>
        </p:nvSpPr>
        <p:spPr>
          <a:xfrm>
            <a:off x="2761488" y="2697480"/>
            <a:ext cx="237744" cy="0"/>
          </a:xfrm>
          <a:prstGeom prst="line">
            <a:avLst/>
          </a:prstGeom>
          <a:noFill/>
          <a:ln w="19050">
            <a:solidFill>
              <a:srgbClr val="86868B"/>
            </a:solidFill>
            <a:prstDash val="solid"/>
            <a:tailEnd type="triangle"/>
          </a:ln>
        </p:spPr>
      </p:sp>
      <p:sp>
        <p:nvSpPr>
          <p:cNvPr id="9" name="Shape 7"/>
          <p:cNvSpPr/>
          <p:nvPr/>
        </p:nvSpPr>
        <p:spPr>
          <a:xfrm>
            <a:off x="3063240" y="2240280"/>
            <a:ext cx="1874520" cy="914400"/>
          </a:xfrm>
          <a:prstGeom prst="roundRect">
            <a:avLst>
              <a:gd name="adj" fmla="val 12000"/>
            </a:avLst>
          </a:prstGeom>
          <a:solidFill>
            <a:srgbClr val="F5F5F7"/>
          </a:solidFill>
          <a:ln/>
        </p:spPr>
      </p:sp>
      <p:sp>
        <p:nvSpPr>
          <p:cNvPr id="10" name="Text 8"/>
          <p:cNvSpPr txBox="1"/>
          <p:nvPr/>
        </p:nvSpPr>
        <p:spPr>
          <a:xfrm>
            <a:off x="3246120" y="2331720"/>
            <a:ext cx="1508760" cy="365760"/>
          </a:xfrm>
          <a:prstGeom prst="rect">
            <a:avLst/>
          </a:prstGeom>
          <a:noFill/>
          <a:ln/>
        </p:spPr>
        <p:txBody>
          <a:bodyPr wrap="square" lIns="0" tIns="0" rIns="0" bIns="0" rtlCol="0" anchor="ctr"/>
          <a:lstStyle/>
          <a:p>
            <a:pPr indent="0" marL="0">
              <a:buNone/>
            </a:pPr>
            <a:r>
              <a:rPr lang="en-US" sz="1500" b="1" dirty="0">
                <a:solidFill>
                  <a:srgbClr val="1D1D1F"/>
                </a:solidFill>
                <a:latin typeface="Calibri" pitchFamily="34" charset="0"/>
                <a:ea typeface="Calibri" pitchFamily="34" charset="-122"/>
                <a:cs typeface="Calibri" pitchFamily="34" charset="-120"/>
              </a:rPr>
              <a:t>Detector</a:t>
            </a:r>
            <a:endParaRPr lang="en-US" sz="1500" dirty="0"/>
          </a:p>
        </p:txBody>
      </p:sp>
      <p:sp>
        <p:nvSpPr>
          <p:cNvPr id="11" name="Text 9"/>
          <p:cNvSpPr txBox="1"/>
          <p:nvPr/>
        </p:nvSpPr>
        <p:spPr>
          <a:xfrm>
            <a:off x="3246120" y="2697480"/>
            <a:ext cx="1508760" cy="320040"/>
          </a:xfrm>
          <a:prstGeom prst="rect">
            <a:avLst/>
          </a:prstGeom>
          <a:noFill/>
          <a:ln/>
        </p:spPr>
        <p:txBody>
          <a:bodyPr wrap="square" lIns="0" tIns="0" rIns="0" bIns="0" rtlCol="0" anchor="ctr"/>
          <a:lstStyle/>
          <a:p>
            <a:pPr indent="0" marL="0">
              <a:buNone/>
            </a:pPr>
            <a:r>
              <a:rPr lang="en-US" sz="1200" dirty="0">
                <a:solidFill>
                  <a:srgbClr val="86868B"/>
                </a:solidFill>
                <a:latin typeface="Calibri" pitchFamily="34" charset="0"/>
                <a:ea typeface="Calibri" pitchFamily="34" charset="-122"/>
                <a:cs typeface="Calibri" pitchFamily="34" charset="-120"/>
              </a:rPr>
              <a:t>centre + spread</a:t>
            </a:r>
            <a:endParaRPr lang="en-US" sz="1200" dirty="0"/>
          </a:p>
        </p:txBody>
      </p:sp>
      <p:sp>
        <p:nvSpPr>
          <p:cNvPr id="12" name="Shape 10"/>
          <p:cNvSpPr/>
          <p:nvPr/>
        </p:nvSpPr>
        <p:spPr>
          <a:xfrm>
            <a:off x="5001768" y="2697480"/>
            <a:ext cx="237744" cy="0"/>
          </a:xfrm>
          <a:prstGeom prst="line">
            <a:avLst/>
          </a:prstGeom>
          <a:noFill/>
          <a:ln w="19050">
            <a:solidFill>
              <a:srgbClr val="86868B"/>
            </a:solidFill>
            <a:prstDash val="solid"/>
            <a:tailEnd type="triangle"/>
          </a:ln>
        </p:spPr>
      </p:sp>
      <p:sp>
        <p:nvSpPr>
          <p:cNvPr id="13" name="Shape 11"/>
          <p:cNvSpPr/>
          <p:nvPr/>
        </p:nvSpPr>
        <p:spPr>
          <a:xfrm>
            <a:off x="5303520" y="2240280"/>
            <a:ext cx="1874520" cy="914400"/>
          </a:xfrm>
          <a:prstGeom prst="roundRect">
            <a:avLst>
              <a:gd name="adj" fmla="val 12000"/>
            </a:avLst>
          </a:prstGeom>
          <a:solidFill>
            <a:srgbClr val="F5F5F7"/>
          </a:solidFill>
          <a:ln/>
        </p:spPr>
      </p:sp>
      <p:sp>
        <p:nvSpPr>
          <p:cNvPr id="14" name="Text 12"/>
          <p:cNvSpPr txBox="1"/>
          <p:nvPr/>
        </p:nvSpPr>
        <p:spPr>
          <a:xfrm>
            <a:off x="5486400" y="2331720"/>
            <a:ext cx="1508760" cy="365760"/>
          </a:xfrm>
          <a:prstGeom prst="rect">
            <a:avLst/>
          </a:prstGeom>
          <a:noFill/>
          <a:ln/>
        </p:spPr>
        <p:txBody>
          <a:bodyPr wrap="square" lIns="0" tIns="0" rIns="0" bIns="0" rtlCol="0" anchor="ctr"/>
          <a:lstStyle/>
          <a:p>
            <a:pPr indent="0" marL="0">
              <a:buNone/>
            </a:pPr>
            <a:r>
              <a:rPr lang="en-US" sz="1500" b="1" dirty="0">
                <a:solidFill>
                  <a:srgbClr val="1D1D1F"/>
                </a:solidFill>
                <a:latin typeface="Calibri" pitchFamily="34" charset="0"/>
                <a:ea typeface="Calibri" pitchFamily="34" charset="-122"/>
                <a:cs typeface="Calibri" pitchFamily="34" charset="-120"/>
              </a:rPr>
              <a:t>Drift check</a:t>
            </a:r>
            <a:endParaRPr lang="en-US" sz="1500" dirty="0"/>
          </a:p>
        </p:txBody>
      </p:sp>
      <p:sp>
        <p:nvSpPr>
          <p:cNvPr id="15" name="Text 13"/>
          <p:cNvSpPr txBox="1"/>
          <p:nvPr/>
        </p:nvSpPr>
        <p:spPr>
          <a:xfrm>
            <a:off x="5486400" y="2697480"/>
            <a:ext cx="1508760" cy="320040"/>
          </a:xfrm>
          <a:prstGeom prst="rect">
            <a:avLst/>
          </a:prstGeom>
          <a:noFill/>
          <a:ln/>
        </p:spPr>
        <p:txBody>
          <a:bodyPr wrap="square" lIns="0" tIns="0" rIns="0" bIns="0" rtlCol="0" anchor="ctr"/>
          <a:lstStyle/>
          <a:p>
            <a:pPr indent="0" marL="0">
              <a:buNone/>
            </a:pPr>
            <a:r>
              <a:rPr lang="en-US" sz="1200" dirty="0">
                <a:solidFill>
                  <a:srgbClr val="86868B"/>
                </a:solidFill>
                <a:latin typeface="Calibri" pitchFamily="34" charset="0"/>
                <a:ea typeface="Calibri" pitchFamily="34" charset="-122"/>
                <a:cs typeface="Calibri" pitchFamily="34" charset="-120"/>
              </a:rPr>
              <a:t>is normal moving?</a:t>
            </a:r>
            <a:endParaRPr lang="en-US" sz="1200" dirty="0"/>
          </a:p>
        </p:txBody>
      </p:sp>
      <p:sp>
        <p:nvSpPr>
          <p:cNvPr id="16" name="Shape 14"/>
          <p:cNvSpPr/>
          <p:nvPr/>
        </p:nvSpPr>
        <p:spPr>
          <a:xfrm>
            <a:off x="7242048" y="2697480"/>
            <a:ext cx="237744" cy="0"/>
          </a:xfrm>
          <a:prstGeom prst="line">
            <a:avLst/>
          </a:prstGeom>
          <a:noFill/>
          <a:ln w="19050">
            <a:solidFill>
              <a:srgbClr val="86868B"/>
            </a:solidFill>
            <a:prstDash val="solid"/>
            <a:tailEnd type="triangle"/>
          </a:ln>
        </p:spPr>
      </p:sp>
      <p:sp>
        <p:nvSpPr>
          <p:cNvPr id="17" name="Shape 15"/>
          <p:cNvSpPr/>
          <p:nvPr/>
        </p:nvSpPr>
        <p:spPr>
          <a:xfrm>
            <a:off x="7543800" y="2240280"/>
            <a:ext cx="1874520" cy="914400"/>
          </a:xfrm>
          <a:prstGeom prst="roundRect">
            <a:avLst>
              <a:gd name="adj" fmla="val 12000"/>
            </a:avLst>
          </a:prstGeom>
          <a:solidFill>
            <a:srgbClr val="F5F5F7"/>
          </a:solidFill>
          <a:ln/>
        </p:spPr>
      </p:sp>
      <p:sp>
        <p:nvSpPr>
          <p:cNvPr id="18" name="Text 16"/>
          <p:cNvSpPr txBox="1"/>
          <p:nvPr/>
        </p:nvSpPr>
        <p:spPr>
          <a:xfrm>
            <a:off x="7726680" y="2331720"/>
            <a:ext cx="1508760" cy="365760"/>
          </a:xfrm>
          <a:prstGeom prst="rect">
            <a:avLst/>
          </a:prstGeom>
          <a:noFill/>
          <a:ln/>
        </p:spPr>
        <p:txBody>
          <a:bodyPr wrap="square" lIns="0" tIns="0" rIns="0" bIns="0" rtlCol="0" anchor="ctr"/>
          <a:lstStyle/>
          <a:p>
            <a:pPr indent="0" marL="0">
              <a:buNone/>
            </a:pPr>
            <a:r>
              <a:rPr lang="en-US" sz="1500" b="1" dirty="0">
                <a:solidFill>
                  <a:srgbClr val="D70015"/>
                </a:solidFill>
                <a:latin typeface="Calibri" pitchFamily="34" charset="0"/>
                <a:ea typeface="Calibri" pitchFamily="34" charset="-122"/>
                <a:cs typeface="Calibri" pitchFamily="34" charset="-120"/>
              </a:rPr>
              <a:t>New update</a:t>
            </a:r>
            <a:endParaRPr lang="en-US" sz="1500" dirty="0"/>
          </a:p>
        </p:txBody>
      </p:sp>
      <p:sp>
        <p:nvSpPr>
          <p:cNvPr id="19" name="Text 17"/>
          <p:cNvSpPr txBox="1"/>
          <p:nvPr/>
        </p:nvSpPr>
        <p:spPr>
          <a:xfrm>
            <a:off x="7726680" y="2697480"/>
            <a:ext cx="1508760" cy="320040"/>
          </a:xfrm>
          <a:prstGeom prst="rect">
            <a:avLst/>
          </a:prstGeom>
          <a:noFill/>
          <a:ln/>
        </p:spPr>
        <p:txBody>
          <a:bodyPr wrap="square" lIns="0" tIns="0" rIns="0" bIns="0" rtlCol="0" anchor="ctr"/>
          <a:lstStyle/>
          <a:p>
            <a:pPr indent="0" marL="0">
              <a:buNone/>
            </a:pPr>
            <a:r>
              <a:rPr lang="en-US" sz="1200" dirty="0">
                <a:solidFill>
                  <a:srgbClr val="86868B"/>
                </a:solidFill>
                <a:latin typeface="Calibri" pitchFamily="34" charset="0"/>
                <a:ea typeface="Calibri" pitchFamily="34" charset="-122"/>
                <a:cs typeface="Calibri" pitchFamily="34" charset="-120"/>
              </a:rPr>
              <a:t>poison enters here</a:t>
            </a:r>
            <a:endParaRPr lang="en-US" sz="1200" dirty="0"/>
          </a:p>
        </p:txBody>
      </p:sp>
      <p:sp>
        <p:nvSpPr>
          <p:cNvPr id="20" name="Shape 18"/>
          <p:cNvSpPr/>
          <p:nvPr/>
        </p:nvSpPr>
        <p:spPr>
          <a:xfrm>
            <a:off x="9482328" y="2697480"/>
            <a:ext cx="329184" cy="0"/>
          </a:xfrm>
          <a:prstGeom prst="line">
            <a:avLst/>
          </a:prstGeom>
          <a:noFill/>
          <a:ln w="19050">
            <a:solidFill>
              <a:srgbClr val="86868B"/>
            </a:solidFill>
            <a:prstDash val="solid"/>
            <a:tailEnd type="triangle"/>
          </a:ln>
        </p:spPr>
      </p:sp>
      <p:sp>
        <p:nvSpPr>
          <p:cNvPr id="21" name="Shape 19"/>
          <p:cNvSpPr/>
          <p:nvPr/>
        </p:nvSpPr>
        <p:spPr>
          <a:xfrm>
            <a:off x="9720072" y="2240280"/>
            <a:ext cx="1645920" cy="914400"/>
          </a:xfrm>
          <a:prstGeom prst="roundRect">
            <a:avLst>
              <a:gd name="adj" fmla="val 12000"/>
            </a:avLst>
          </a:prstGeom>
          <a:solidFill>
            <a:srgbClr val="1D1D1F"/>
          </a:solidFill>
          <a:ln/>
        </p:spPr>
      </p:sp>
      <p:sp>
        <p:nvSpPr>
          <p:cNvPr id="22" name="Text 20"/>
          <p:cNvSpPr txBox="1"/>
          <p:nvPr/>
        </p:nvSpPr>
        <p:spPr>
          <a:xfrm>
            <a:off x="9902952" y="2240280"/>
            <a:ext cx="137160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Split and apply</a:t>
            </a:r>
            <a:endParaRPr lang="en-US" sz="1300" dirty="0"/>
          </a:p>
        </p:txBody>
      </p:sp>
      <p:sp>
        <p:nvSpPr>
          <p:cNvPr id="23" name="Shape 21"/>
          <p:cNvSpPr/>
          <p:nvPr/>
        </p:nvSpPr>
        <p:spPr>
          <a:xfrm>
            <a:off x="822960" y="3474720"/>
            <a:ext cx="5166360" cy="2606040"/>
          </a:xfrm>
          <a:prstGeom prst="roundRect">
            <a:avLst>
              <a:gd name="adj" fmla="val 4211"/>
            </a:avLst>
          </a:prstGeom>
          <a:solidFill>
            <a:srgbClr val="F5F5F7"/>
          </a:solidFill>
          <a:ln/>
        </p:spPr>
      </p:sp>
      <p:sp>
        <p:nvSpPr>
          <p:cNvPr id="24" name="Text 22"/>
          <p:cNvSpPr txBox="1"/>
          <p:nvPr/>
        </p:nvSpPr>
        <p:spPr>
          <a:xfrm>
            <a:off x="1143000" y="3657600"/>
            <a:ext cx="4526280" cy="365760"/>
          </a:xfrm>
          <a:prstGeom prst="rect">
            <a:avLst/>
          </a:prstGeom>
          <a:noFill/>
          <a:ln/>
        </p:spPr>
        <p:txBody>
          <a:bodyPr wrap="square" lIns="0" tIns="0" rIns="0" bIns="0" rtlCol="0" anchor="ctr"/>
          <a:lstStyle/>
          <a:p>
            <a:pPr indent="0" marL="0">
              <a:buNone/>
            </a:pPr>
            <a:r>
              <a:rPr lang="en-US" sz="1700" b="1" dirty="0">
                <a:solidFill>
                  <a:srgbClr val="0071E3"/>
                </a:solidFill>
                <a:latin typeface="Calibri" pitchFamily="34" charset="0"/>
                <a:ea typeface="Calibri" pitchFamily="34" charset="-122"/>
                <a:cs typeface="Calibri" pitchFamily="34" charset="-120"/>
              </a:rPr>
              <a:t>Safe part  ·  applied at once</a:t>
            </a:r>
            <a:endParaRPr lang="en-US" sz="1700" dirty="0"/>
          </a:p>
        </p:txBody>
      </p:sp>
      <p:sp>
        <p:nvSpPr>
          <p:cNvPr id="25" name="Text 23"/>
          <p:cNvSpPr txBox="1"/>
          <p:nvPr/>
        </p:nvSpPr>
        <p:spPr>
          <a:xfrm>
            <a:off x="1143000" y="4069080"/>
            <a:ext cx="4526280" cy="411480"/>
          </a:xfrm>
          <a:prstGeom prst="rect">
            <a:avLst/>
          </a:prstGeom>
          <a:noFill/>
          <a:ln/>
        </p:spPr>
        <p:txBody>
          <a:bodyPr wrap="square" lIns="0" tIns="0" rIns="0" bIns="0" rtlCol="0" anchor="ctr"/>
          <a:lstStyle/>
          <a:p>
            <a:pPr indent="0" marL="0">
              <a:buNone/>
            </a:pPr>
            <a:r>
              <a:rPr lang="en-US" sz="1500" b="1" dirty="0">
                <a:solidFill>
                  <a:srgbClr val="1D1D1F"/>
                </a:solidFill>
                <a:latin typeface="Calibri" pitchFamily="34" charset="0"/>
                <a:ea typeface="Calibri" pitchFamily="34" charset="-122"/>
                <a:cs typeface="Calibri" pitchFamily="34" charset="-120"/>
              </a:rPr>
              <a:t>Sideways or away from known attacks</a:t>
            </a:r>
            <a:endParaRPr lang="en-US" sz="1500" dirty="0"/>
          </a:p>
        </p:txBody>
      </p:sp>
      <p:sp>
        <p:nvSpPr>
          <p:cNvPr id="26" name="Text 24"/>
          <p:cNvSpPr txBox="1"/>
          <p:nvPr/>
        </p:nvSpPr>
        <p:spPr>
          <a:xfrm>
            <a:off x="1143000" y="4526280"/>
            <a:ext cx="4526280" cy="1051560"/>
          </a:xfrm>
          <a:prstGeom prst="rect">
            <a:avLst/>
          </a:prstGeom>
          <a:noFill/>
          <a:ln/>
        </p:spPr>
        <p:txBody>
          <a:bodyPr wrap="square" lIns="0" tIns="0" rIns="0" bIns="0" rtlCol="0" anchor="t"/>
          <a:lstStyle/>
          <a:p>
            <a:pPr indent="0" marL="0">
              <a:lnSpc>
                <a:spcPct val="108000"/>
              </a:lnSpc>
              <a:buNone/>
            </a:pPr>
            <a:r>
              <a:rPr lang="en-US" sz="1350" dirty="0">
                <a:solidFill>
                  <a:srgbClr val="424245"/>
                </a:solidFill>
                <a:latin typeface="Calibri" pitchFamily="34" charset="0"/>
                <a:ea typeface="Calibri" pitchFamily="34" charset="-122"/>
                <a:cs typeface="Calibri" pitchFamily="34" charset="-120"/>
              </a:rPr>
              <a:t>Honest drift, like the semester-end traffic drop [5], mostly moves away from attacks. It is always applied, so the detector keeps up and never freezes.</a:t>
            </a:r>
            <a:endParaRPr lang="en-US" sz="1350" dirty="0"/>
          </a:p>
        </p:txBody>
      </p:sp>
      <p:sp>
        <p:nvSpPr>
          <p:cNvPr id="27" name="Text 25"/>
          <p:cNvSpPr txBox="1"/>
          <p:nvPr/>
        </p:nvSpPr>
        <p:spPr>
          <a:xfrm>
            <a:off x="1143000" y="5650992"/>
            <a:ext cx="4526280" cy="320040"/>
          </a:xfrm>
          <a:prstGeom prst="rect">
            <a:avLst/>
          </a:prstGeom>
          <a:noFill/>
          <a:ln/>
        </p:spPr>
        <p:txBody>
          <a:bodyPr wrap="square" lIns="0" tIns="0" rIns="0" bIns="0" rtlCol="0" anchor="ctr"/>
          <a:lstStyle/>
          <a:p>
            <a:pPr indent="0" marL="0">
              <a:buNone/>
            </a:pPr>
            <a:r>
              <a:rPr lang="en-US" sz="1300" b="1" dirty="0">
                <a:solidFill>
                  <a:srgbClr val="248A3D"/>
                </a:solidFill>
                <a:latin typeface="Calibri" pitchFamily="34" charset="0"/>
                <a:ea typeface="Calibri" pitchFamily="34" charset="-122"/>
                <a:cs typeface="Calibri" pitchFamily="34" charset="-120"/>
              </a:rPr>
              <a:t>No freeze, no false-alarm flood</a:t>
            </a:r>
            <a:endParaRPr lang="en-US" sz="1300" dirty="0"/>
          </a:p>
        </p:txBody>
      </p:sp>
      <p:sp>
        <p:nvSpPr>
          <p:cNvPr id="28" name="Shape 26"/>
          <p:cNvSpPr/>
          <p:nvPr/>
        </p:nvSpPr>
        <p:spPr>
          <a:xfrm>
            <a:off x="6217920" y="3474720"/>
            <a:ext cx="5166360" cy="2606040"/>
          </a:xfrm>
          <a:prstGeom prst="roundRect">
            <a:avLst>
              <a:gd name="adj" fmla="val 4211"/>
            </a:avLst>
          </a:prstGeom>
          <a:solidFill>
            <a:srgbClr val="F5F5F7"/>
          </a:solidFill>
          <a:ln/>
        </p:spPr>
      </p:sp>
      <p:sp>
        <p:nvSpPr>
          <p:cNvPr id="29" name="Text 27"/>
          <p:cNvSpPr txBox="1"/>
          <p:nvPr/>
        </p:nvSpPr>
        <p:spPr>
          <a:xfrm>
            <a:off x="6537960" y="3657600"/>
            <a:ext cx="4526280" cy="365760"/>
          </a:xfrm>
          <a:prstGeom prst="rect">
            <a:avLst/>
          </a:prstGeom>
          <a:noFill/>
          <a:ln/>
        </p:spPr>
        <p:txBody>
          <a:bodyPr wrap="square" lIns="0" tIns="0" rIns="0" bIns="0" rtlCol="0" anchor="ctr"/>
          <a:lstStyle/>
          <a:p>
            <a:pPr indent="0" marL="0">
              <a:buNone/>
            </a:pPr>
            <a:r>
              <a:rPr lang="en-US" sz="1700" b="1" dirty="0">
                <a:solidFill>
                  <a:srgbClr val="0071E3"/>
                </a:solidFill>
                <a:latin typeface="Calibri" pitchFamily="34" charset="0"/>
                <a:ea typeface="Calibri" pitchFamily="34" charset="-122"/>
                <a:cs typeface="Calibri" pitchFamily="34" charset="-120"/>
              </a:rPr>
              <a:t>Threat part  ·  rationed</a:t>
            </a:r>
            <a:endParaRPr lang="en-US" sz="1700" dirty="0"/>
          </a:p>
        </p:txBody>
      </p:sp>
      <p:sp>
        <p:nvSpPr>
          <p:cNvPr id="30" name="Text 28"/>
          <p:cNvSpPr txBox="1"/>
          <p:nvPr/>
        </p:nvSpPr>
        <p:spPr>
          <a:xfrm>
            <a:off x="6537960" y="4069080"/>
            <a:ext cx="4526280" cy="411480"/>
          </a:xfrm>
          <a:prstGeom prst="rect">
            <a:avLst/>
          </a:prstGeom>
          <a:noFill/>
          <a:ln/>
        </p:spPr>
        <p:txBody>
          <a:bodyPr wrap="square" lIns="0" tIns="0" rIns="0" bIns="0" rtlCol="0" anchor="ctr"/>
          <a:lstStyle/>
          <a:p>
            <a:pPr indent="0" marL="0">
              <a:buNone/>
            </a:pPr>
            <a:r>
              <a:rPr lang="en-US" sz="1500" b="1" dirty="0">
                <a:solidFill>
                  <a:srgbClr val="1D1D1F"/>
                </a:solidFill>
                <a:latin typeface="Calibri" pitchFamily="34" charset="0"/>
                <a:ea typeface="Calibri" pitchFamily="34" charset="-122"/>
                <a:cs typeface="Calibri" pitchFamily="34" charset="-120"/>
              </a:rPr>
              <a:t>Toward a known attack signature</a:t>
            </a:r>
            <a:endParaRPr lang="en-US" sz="1500" dirty="0"/>
          </a:p>
        </p:txBody>
      </p:sp>
      <p:sp>
        <p:nvSpPr>
          <p:cNvPr id="31" name="Text 29"/>
          <p:cNvSpPr txBox="1"/>
          <p:nvPr/>
        </p:nvSpPr>
        <p:spPr>
          <a:xfrm>
            <a:off x="6537960" y="4526280"/>
            <a:ext cx="4526280" cy="1051560"/>
          </a:xfrm>
          <a:prstGeom prst="rect">
            <a:avLst/>
          </a:prstGeom>
          <a:noFill/>
          <a:ln/>
        </p:spPr>
        <p:txBody>
          <a:bodyPr wrap="square" lIns="0" tIns="0" rIns="0" bIns="0" rtlCol="0" anchor="t"/>
          <a:lstStyle/>
          <a:p>
            <a:pPr indent="0" marL="0">
              <a:lnSpc>
                <a:spcPct val="108000"/>
              </a:lnSpc>
              <a:buNone/>
            </a:pPr>
            <a:r>
              <a:rPr lang="en-US" sz="1350" dirty="0">
                <a:solidFill>
                  <a:srgbClr val="424245"/>
                </a:solidFill>
                <a:latin typeface="Calibri" pitchFamily="34" charset="0"/>
                <a:ea typeface="Calibri" pitchFamily="34" charset="-122"/>
                <a:cs typeface="Calibri" pitchFamily="34" charset="-120"/>
              </a:rPr>
              <a:t>Poisoning has to move normal toward the attack it hides [1]. Only that part is capped, at a slow rate learned from clean data.</a:t>
            </a:r>
            <a:endParaRPr lang="en-US" sz="1350" dirty="0"/>
          </a:p>
        </p:txBody>
      </p:sp>
      <p:sp>
        <p:nvSpPr>
          <p:cNvPr id="32" name="Text 30"/>
          <p:cNvSpPr txBox="1"/>
          <p:nvPr/>
        </p:nvSpPr>
        <p:spPr>
          <a:xfrm>
            <a:off x="6537960" y="5650992"/>
            <a:ext cx="4526280" cy="320040"/>
          </a:xfrm>
          <a:prstGeom prst="rect">
            <a:avLst/>
          </a:prstGeom>
          <a:noFill/>
          <a:ln/>
        </p:spPr>
        <p:txBody>
          <a:bodyPr wrap="square" lIns="0" tIns="0" rIns="0" bIns="0" rtlCol="0" anchor="ctr"/>
          <a:lstStyle/>
          <a:p>
            <a:pPr indent="0" marL="0">
              <a:buNone/>
            </a:pPr>
            <a:r>
              <a:rPr lang="en-US" sz="1300" b="1" dirty="0">
                <a:solidFill>
                  <a:srgbClr val="248A3D"/>
                </a:solidFill>
                <a:latin typeface="Calibri" pitchFamily="34" charset="0"/>
                <a:ea typeface="Calibri" pitchFamily="34" charset="-122"/>
                <a:cs typeface="Calibri" pitchFamily="34" charset="-120"/>
              </a:rPr>
              <a:t>Provable minimum time to compromise</a:t>
            </a:r>
            <a:endParaRPr lang="en-US" sz="1300" dirty="0"/>
          </a:p>
        </p:txBody>
      </p:sp>
      <p:sp>
        <p:nvSpPr>
          <p:cNvPr id="33" name="Text 31"/>
          <p:cNvSpPr txBox="1"/>
          <p:nvPr/>
        </p:nvSpPr>
        <p:spPr>
          <a:xfrm>
            <a:off x="822960" y="6327648"/>
            <a:ext cx="10515600" cy="274320"/>
          </a:xfrm>
          <a:prstGeom prst="rect">
            <a:avLst/>
          </a:prstGeom>
          <a:noFill/>
          <a:ln/>
        </p:spPr>
        <p:txBody>
          <a:bodyPr wrap="square" lIns="0" tIns="0" rIns="0" bIns="0" rtlCol="0" anchor="ctr"/>
          <a:lstStyle/>
          <a:p>
            <a:pPr indent="0" marL="0">
              <a:buNone/>
            </a:pPr>
            <a:r>
              <a:rPr lang="en-US" sz="1000" i="1" dirty="0">
                <a:solidFill>
                  <a:srgbClr val="86868B"/>
                </a:solidFill>
                <a:latin typeface="Calibri" pitchFamily="34" charset="0"/>
                <a:ea typeface="Calibri" pitchFamily="34" charset="-122"/>
                <a:cs typeface="Calibri" pitchFamily="34" charset="-120"/>
              </a:rPr>
              <a:t>[1] ACM IMC 2009  ·  [3] NDSS 2018  ·  [5] Scientific Data 2025</a:t>
            </a:r>
            <a:endParaRPr lang="en-US" sz="1000" dirty="0"/>
          </a:p>
        </p:txBody>
      </p:sp>
      <p:sp>
        <p:nvSpPr>
          <p:cNvPr id="34" name="Text 32"/>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WHAT OUR RESEARCH TURNED UP</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800" b="1" dirty="0">
                <a:solidFill>
                  <a:srgbClr val="1D1D1F"/>
                </a:solidFill>
                <a:latin typeface="Calibri" pitchFamily="34" charset="0"/>
                <a:ea typeface="Calibri" pitchFamily="34" charset="-122"/>
                <a:cs typeface="Calibri" pitchFamily="34" charset="-120"/>
              </a:rPr>
              <a:t>Three findings that shaped the design.</a:t>
            </a:r>
            <a:endParaRPr lang="en-US" sz="2800" dirty="0"/>
          </a:p>
        </p:txBody>
      </p:sp>
      <p:sp>
        <p:nvSpPr>
          <p:cNvPr id="5" name="Text 3"/>
          <p:cNvSpPr txBox="1"/>
          <p:nvPr/>
        </p:nvSpPr>
        <p:spPr>
          <a:xfrm>
            <a:off x="822960" y="2148840"/>
            <a:ext cx="731520" cy="45720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01</a:t>
            </a:r>
            <a:endParaRPr lang="en-US" sz="2200" dirty="0"/>
          </a:p>
        </p:txBody>
      </p:sp>
      <p:sp>
        <p:nvSpPr>
          <p:cNvPr id="6" name="Text 4"/>
          <p:cNvSpPr txBox="1"/>
          <p:nvPr/>
        </p:nvSpPr>
        <p:spPr>
          <a:xfrm>
            <a:off x="1645920" y="2148840"/>
            <a:ext cx="9692640" cy="384048"/>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Honest drift is directional too.</a:t>
            </a:r>
            <a:endParaRPr lang="en-US" sz="1800" dirty="0"/>
          </a:p>
        </p:txBody>
      </p:sp>
      <p:sp>
        <p:nvSpPr>
          <p:cNvPr id="7" name="Text 5"/>
          <p:cNvSpPr txBox="1"/>
          <p:nvPr/>
        </p:nvSpPr>
        <p:spPr>
          <a:xfrm>
            <a:off x="1645920" y="2551176"/>
            <a:ext cx="9692640" cy="731520"/>
          </a:xfrm>
          <a:prstGeom prst="rect">
            <a:avLst/>
          </a:prstGeom>
          <a:noFill/>
          <a:ln/>
        </p:spPr>
        <p:txBody>
          <a:bodyPr wrap="square" lIns="0" tIns="0" rIns="0" bIns="0" rtlCol="0" anchor="t"/>
          <a:lstStyle/>
          <a:p>
            <a:pPr indent="0" marL="0">
              <a:lnSpc>
                <a:spcPct val="108000"/>
              </a:lnSpc>
              <a:buNone/>
            </a:pPr>
            <a:r>
              <a:rPr lang="en-US" sz="1400" dirty="0">
                <a:solidFill>
                  <a:srgbClr val="424245"/>
                </a:solidFill>
                <a:latin typeface="Calibri" pitchFamily="34" charset="0"/>
                <a:ea typeface="Calibri" pitchFamily="34" charset="-122"/>
                <a:cs typeface="Calibri" pitchFamily="34" charset="-120"/>
              </a:rPr>
              <a:t>Real traffic drifts steadily for weeks [5]. So 'steady drift means attack' would raise false alarms. What matters is drift toward an attack.</a:t>
            </a:r>
            <a:endParaRPr lang="en-US" sz="1400" dirty="0"/>
          </a:p>
        </p:txBody>
      </p:sp>
      <p:sp>
        <p:nvSpPr>
          <p:cNvPr id="8" name="Text 6"/>
          <p:cNvSpPr txBox="1"/>
          <p:nvPr/>
        </p:nvSpPr>
        <p:spPr>
          <a:xfrm>
            <a:off x="822960" y="3474720"/>
            <a:ext cx="731520" cy="45720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02</a:t>
            </a:r>
            <a:endParaRPr lang="en-US" sz="2200" dirty="0"/>
          </a:p>
        </p:txBody>
      </p:sp>
      <p:sp>
        <p:nvSpPr>
          <p:cNvPr id="9" name="Text 7"/>
          <p:cNvSpPr txBox="1"/>
          <p:nvPr/>
        </p:nvSpPr>
        <p:spPr>
          <a:xfrm>
            <a:off x="1645920" y="3474720"/>
            <a:ext cx="9692640" cy="384048"/>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Defenses that freeze can be weaponized.</a:t>
            </a:r>
            <a:endParaRPr lang="en-US" sz="1800" dirty="0"/>
          </a:p>
        </p:txBody>
      </p:sp>
      <p:sp>
        <p:nvSpPr>
          <p:cNvPr id="10" name="Text 8"/>
          <p:cNvSpPr txBox="1"/>
          <p:nvPr/>
        </p:nvSpPr>
        <p:spPr>
          <a:xfrm>
            <a:off x="1645920" y="3877056"/>
            <a:ext cx="9692640" cy="731520"/>
          </a:xfrm>
          <a:prstGeom prst="rect">
            <a:avLst/>
          </a:prstGeom>
          <a:noFill/>
          <a:ln/>
        </p:spPr>
        <p:txBody>
          <a:bodyPr wrap="square" lIns="0" tIns="0" rIns="0" bIns="0" rtlCol="0" anchor="t"/>
          <a:lstStyle/>
          <a:p>
            <a:pPr indent="0" marL="0">
              <a:lnSpc>
                <a:spcPct val="108000"/>
              </a:lnSpc>
              <a:buNone/>
            </a:pPr>
            <a:r>
              <a:rPr lang="en-US" sz="1400" dirty="0">
                <a:solidFill>
                  <a:srgbClr val="424245"/>
                </a:solidFill>
                <a:latin typeface="Calibri" pitchFamily="34" charset="0"/>
                <a:ea typeface="Calibri" pitchFamily="34" charset="-122"/>
                <a:cs typeface="Calibri" pitchFamily="34" charset="-120"/>
              </a:rPr>
              <a:t>An attacker trips the freeze, then leaves. Honest drift continues and the frozen detector drowns in false alarms. Our simulation shows it on slide 10.</a:t>
            </a:r>
            <a:endParaRPr lang="en-US" sz="1400" dirty="0"/>
          </a:p>
        </p:txBody>
      </p:sp>
      <p:sp>
        <p:nvSpPr>
          <p:cNvPr id="11" name="Text 9"/>
          <p:cNvSpPr txBox="1"/>
          <p:nvPr/>
        </p:nvSpPr>
        <p:spPr>
          <a:xfrm>
            <a:off x="822960" y="4800600"/>
            <a:ext cx="731520" cy="45720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03</a:t>
            </a:r>
            <a:endParaRPr lang="en-US" sz="2200" dirty="0"/>
          </a:p>
        </p:txBody>
      </p:sp>
      <p:sp>
        <p:nvSpPr>
          <p:cNvPr id="12" name="Text 10"/>
          <p:cNvSpPr txBox="1"/>
          <p:nvPr/>
        </p:nvSpPr>
        <p:spPr>
          <a:xfrm>
            <a:off x="1645920" y="4800600"/>
            <a:ext cx="9692640" cy="384048"/>
          </a:xfrm>
          <a:prstGeom prst="rect">
            <a:avLst/>
          </a:prstGeom>
          <a:noFill/>
          <a:ln/>
        </p:spPr>
        <p:txBody>
          <a:bodyPr wrap="square" lIns="0" tIns="0" rIns="0" bIns="0" rtlCol="0" anchor="ctr"/>
          <a:lstStyle/>
          <a:p>
            <a:pPr indent="0" marL="0">
              <a:buNone/>
            </a:pPr>
            <a:r>
              <a:rPr lang="en-US" sz="1800" b="1" dirty="0">
                <a:solidFill>
                  <a:srgbClr val="1D1D1F"/>
                </a:solidFill>
                <a:latin typeface="Calibri" pitchFamily="34" charset="0"/>
                <a:ea typeface="Calibri" pitchFamily="34" charset="-122"/>
                <a:cs typeface="Calibri" pitchFamily="34" charset="-120"/>
              </a:rPr>
              <a:t>Small IoT devices are easier to poison.</a:t>
            </a:r>
            <a:endParaRPr lang="en-US" sz="1800" dirty="0"/>
          </a:p>
        </p:txBody>
      </p:sp>
      <p:sp>
        <p:nvSpPr>
          <p:cNvPr id="13" name="Text 11"/>
          <p:cNvSpPr txBox="1"/>
          <p:nvPr/>
        </p:nvSpPr>
        <p:spPr>
          <a:xfrm>
            <a:off x="1645920" y="5202936"/>
            <a:ext cx="9692640" cy="731520"/>
          </a:xfrm>
          <a:prstGeom prst="rect">
            <a:avLst/>
          </a:prstGeom>
          <a:noFill/>
          <a:ln/>
        </p:spPr>
        <p:txBody>
          <a:bodyPr wrap="square" lIns="0" tIns="0" rIns="0" bIns="0" rtlCol="0" anchor="t"/>
          <a:lstStyle/>
          <a:p>
            <a:pPr indent="0" marL="0">
              <a:lnSpc>
                <a:spcPct val="108000"/>
              </a:lnSpc>
              <a:buNone/>
            </a:pPr>
            <a:r>
              <a:rPr lang="en-US" sz="1400" dirty="0">
                <a:solidFill>
                  <a:srgbClr val="424245"/>
                </a:solidFill>
                <a:latin typeface="Calibri" pitchFamily="34" charset="0"/>
                <a:ea typeface="Calibri" pitchFamily="34" charset="-122"/>
                <a:cs typeface="Calibri" pitchFamily="34" charset="-120"/>
              </a:rPr>
              <a:t>Poisoning succeeds only when the attacker is a large share of what the detector learns from [2]. A smart plug sends little traffic [4], so matching it is easy.</a:t>
            </a:r>
            <a:endParaRPr lang="en-US" sz="1400" dirty="0"/>
          </a:p>
        </p:txBody>
      </p:sp>
      <p:sp>
        <p:nvSpPr>
          <p:cNvPr id="14" name="Text 12"/>
          <p:cNvSpPr txBox="1"/>
          <p:nvPr/>
        </p:nvSpPr>
        <p:spPr>
          <a:xfrm>
            <a:off x="822960" y="6327648"/>
            <a:ext cx="10515600" cy="274320"/>
          </a:xfrm>
          <a:prstGeom prst="rect">
            <a:avLst/>
          </a:prstGeom>
          <a:noFill/>
          <a:ln/>
        </p:spPr>
        <p:txBody>
          <a:bodyPr wrap="square" lIns="0" tIns="0" rIns="0" bIns="0" rtlCol="0" anchor="ctr"/>
          <a:lstStyle/>
          <a:p>
            <a:pPr indent="0" marL="0">
              <a:buNone/>
            </a:pPr>
            <a:r>
              <a:rPr lang="en-US" sz="1000" i="1" dirty="0">
                <a:solidFill>
                  <a:srgbClr val="86868B"/>
                </a:solidFill>
                <a:latin typeface="Calibri" pitchFamily="34" charset="0"/>
                <a:ea typeface="Calibri" pitchFamily="34" charset="-122"/>
                <a:cs typeface="Calibri" pitchFamily="34" charset="-120"/>
              </a:rPr>
              <a:t>[2] JMLR 2012  ·  [4] IEEE Pervasive Computing 2018  ·  [5] Scientific Data 2025</a:t>
            </a:r>
            <a:endParaRPr lang="en-US" sz="1000" dirty="0"/>
          </a:p>
        </p:txBody>
      </p:sp>
      <p:sp>
        <p:nvSpPr>
          <p:cNvPr id="15" name="Text 13"/>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PLATFORM, TOOLS AND BASELINES</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800" b="1" dirty="0">
                <a:solidFill>
                  <a:srgbClr val="1D1D1F"/>
                </a:solidFill>
                <a:latin typeface="Calibri" pitchFamily="34" charset="0"/>
                <a:ea typeface="Calibri" pitchFamily="34" charset="-122"/>
                <a:cs typeface="Calibri" pitchFamily="34" charset="-120"/>
              </a:rPr>
              <a:t>What we build on, and what we have to beat.</a:t>
            </a:r>
            <a:endParaRPr lang="en-US" sz="2800" dirty="0"/>
          </a:p>
        </p:txBody>
      </p:sp>
      <p:sp>
        <p:nvSpPr>
          <p:cNvPr id="5" name="Shape 3"/>
          <p:cNvSpPr/>
          <p:nvPr/>
        </p:nvSpPr>
        <p:spPr>
          <a:xfrm>
            <a:off x="822960" y="2194560"/>
            <a:ext cx="5029200" cy="3886200"/>
          </a:xfrm>
          <a:prstGeom prst="roundRect">
            <a:avLst>
              <a:gd name="adj" fmla="val 2824"/>
            </a:avLst>
          </a:prstGeom>
          <a:solidFill>
            <a:srgbClr val="F5F5F7"/>
          </a:solidFill>
          <a:ln/>
        </p:spPr>
      </p:sp>
      <p:sp>
        <p:nvSpPr>
          <p:cNvPr id="6" name="Text 4"/>
          <p:cNvSpPr txBox="1"/>
          <p:nvPr/>
        </p:nvSpPr>
        <p:spPr>
          <a:xfrm>
            <a:off x="1143000" y="2395728"/>
            <a:ext cx="4389120" cy="365760"/>
          </a:xfrm>
          <a:prstGeom prst="rect">
            <a:avLst/>
          </a:prstGeom>
          <a:noFill/>
          <a:ln/>
        </p:spPr>
        <p:txBody>
          <a:bodyPr wrap="square" lIns="0" tIns="0" rIns="0" bIns="0" rtlCol="0" anchor="ctr"/>
          <a:lstStyle/>
          <a:p>
            <a:pPr indent="0" marL="0">
              <a:buNone/>
            </a:pPr>
            <a:r>
              <a:rPr lang="en-US" sz="1700" b="1" dirty="0">
                <a:solidFill>
                  <a:srgbClr val="0071E3"/>
                </a:solidFill>
                <a:latin typeface="Calibri" pitchFamily="34" charset="0"/>
                <a:ea typeface="Calibri" pitchFamily="34" charset="-122"/>
                <a:cs typeface="Calibri" pitchFamily="34" charset="-120"/>
              </a:rPr>
              <a:t>Build on</a:t>
            </a:r>
            <a:endParaRPr lang="en-US" sz="1700" dirty="0"/>
          </a:p>
        </p:txBody>
      </p:sp>
      <p:sp>
        <p:nvSpPr>
          <p:cNvPr id="7" name="Text 5"/>
          <p:cNvSpPr txBox="1"/>
          <p:nvPr/>
        </p:nvSpPr>
        <p:spPr>
          <a:xfrm>
            <a:off x="1143000" y="2852928"/>
            <a:ext cx="4434840" cy="3017520"/>
          </a:xfrm>
          <a:prstGeom prst="rect">
            <a:avLst/>
          </a:prstGeom>
          <a:noFill/>
          <a:ln/>
        </p:spPr>
        <p:txBody>
          <a:bodyPr wrap="square" lIns="0" tIns="0" rIns="0" bIns="0" rtlCol="0" anchor="t"/>
          <a:lstStyle/>
          <a:p>
            <a:pPr indent="0" marL="0">
              <a:lnSpc>
                <a:spcPct val="106000"/>
              </a:lnSpc>
              <a:buNone/>
            </a:pPr>
            <a:r>
              <a:rPr lang="en-US" sz="1450" b="1" dirty="0">
                <a:solidFill>
                  <a:srgbClr val="1D1D1F"/>
                </a:solidFill>
                <a:latin typeface="Calibri" pitchFamily="34" charset="0"/>
                <a:ea typeface="Calibri" pitchFamily="34" charset="-122"/>
                <a:cs typeface="Calibri" pitchFamily="34" charset="-120"/>
              </a:rPr>
              <a:t>Hardware</a:t>
            </a:r>
            <a:endParaRPr lang="en-US" sz="1450" dirty="0"/>
          </a:p>
          <a:p>
            <a:pPr indent="0" marL="0">
              <a:lnSpc>
                <a:spcPct val="106000"/>
              </a:lnSpc>
              <a:spcAft>
                <a:spcPts val="1000"/>
              </a:spcAft>
              <a:buNone/>
            </a:pPr>
            <a:r>
              <a:rPr lang="en-US" sz="1450" dirty="0">
                <a:solidFill>
                  <a:srgbClr val="424245"/>
                </a:solidFill>
                <a:latin typeface="Calibri" pitchFamily="34" charset="0"/>
                <a:ea typeface="Calibri" pitchFamily="34" charset="-122"/>
                <a:cs typeface="Calibri" pitchFamily="34" charset="-120"/>
              </a:rPr>
              <a:t>ESP32 for the detector, the defense and cost measurement</a:t>
            </a:r>
            <a:endParaRPr lang="en-US" sz="1450" dirty="0"/>
          </a:p>
          <a:p>
            <a:pPr indent="0" marL="0">
              <a:lnSpc>
                <a:spcPct val="106000"/>
              </a:lnSpc>
              <a:buNone/>
            </a:pPr>
            <a:r>
              <a:rPr lang="en-US" sz="1450" b="1" dirty="0">
                <a:solidFill>
                  <a:srgbClr val="1D1D1F"/>
                </a:solidFill>
                <a:latin typeface="Calibri" pitchFamily="34" charset="0"/>
                <a:ea typeface="Calibri" pitchFamily="34" charset="-122"/>
                <a:cs typeface="Calibri" pitchFamily="34" charset="-120"/>
              </a:rPr>
              <a:t>Software</a:t>
            </a:r>
            <a:endParaRPr lang="en-US" sz="1450" dirty="0"/>
          </a:p>
          <a:p>
            <a:pPr indent="0" marL="0">
              <a:lnSpc>
                <a:spcPct val="106000"/>
              </a:lnSpc>
              <a:spcAft>
                <a:spcPts val="1000"/>
              </a:spcAft>
              <a:buNone/>
            </a:pPr>
            <a:r>
              <a:rPr lang="en-US" sz="1450" dirty="0">
                <a:solidFill>
                  <a:srgbClr val="424245"/>
                </a:solidFill>
                <a:latin typeface="Calibri" pitchFamily="34" charset="0"/>
                <a:ea typeface="Calibri" pitchFamily="34" charset="-122"/>
                <a:cs typeface="Calibri" pitchFamily="34" charset="-120"/>
              </a:rPr>
              <a:t>Python and NumPy for experiments, ESP-IDF on the board</a:t>
            </a:r>
            <a:endParaRPr lang="en-US" sz="1450" dirty="0"/>
          </a:p>
          <a:p>
            <a:pPr indent="0" marL="0">
              <a:lnSpc>
                <a:spcPct val="106000"/>
              </a:lnSpc>
              <a:buNone/>
            </a:pPr>
            <a:r>
              <a:rPr lang="en-US" sz="1450" b="1" dirty="0">
                <a:solidFill>
                  <a:srgbClr val="1D1D1F"/>
                </a:solidFill>
                <a:latin typeface="Calibri" pitchFamily="34" charset="0"/>
                <a:ea typeface="Calibri" pitchFamily="34" charset="-122"/>
                <a:cs typeface="Calibri" pitchFamily="34" charset="-120"/>
              </a:rPr>
              <a:t>Data</a:t>
            </a:r>
            <a:endParaRPr lang="en-US" sz="1450" dirty="0"/>
          </a:p>
          <a:p>
            <a:pPr indent="0" marL="0">
              <a:lnSpc>
                <a:spcPct val="106000"/>
              </a:lnSpc>
              <a:buNone/>
            </a:pPr>
            <a:r>
              <a:rPr lang="en-US" sz="1450" dirty="0">
                <a:solidFill>
                  <a:srgbClr val="424245"/>
                </a:solidFill>
                <a:latin typeface="Calibri" pitchFamily="34" charset="0"/>
                <a:ea typeface="Calibri" pitchFamily="34" charset="-122"/>
                <a:cs typeface="Calibri" pitchFamily="34" charset="-120"/>
              </a:rPr>
              <a:t>N-BaIoT [4] for real IoT traffic and attacks, CESNET-TimeSeries24 [5] for real long-term drift</a:t>
            </a:r>
            <a:endParaRPr lang="en-US" sz="1450" dirty="0"/>
          </a:p>
        </p:txBody>
      </p:sp>
      <p:sp>
        <p:nvSpPr>
          <p:cNvPr id="8" name="Shape 6"/>
          <p:cNvSpPr/>
          <p:nvPr/>
        </p:nvSpPr>
        <p:spPr>
          <a:xfrm>
            <a:off x="6080760" y="2194560"/>
            <a:ext cx="5303520" cy="3886200"/>
          </a:xfrm>
          <a:prstGeom prst="roundRect">
            <a:avLst>
              <a:gd name="adj" fmla="val 2824"/>
            </a:avLst>
          </a:prstGeom>
          <a:solidFill>
            <a:srgbClr val="F5F5F7"/>
          </a:solidFill>
          <a:ln/>
        </p:spPr>
      </p:sp>
      <p:sp>
        <p:nvSpPr>
          <p:cNvPr id="9" name="Text 7"/>
          <p:cNvSpPr txBox="1"/>
          <p:nvPr/>
        </p:nvSpPr>
        <p:spPr>
          <a:xfrm>
            <a:off x="6400800" y="2395728"/>
            <a:ext cx="4663440" cy="365760"/>
          </a:xfrm>
          <a:prstGeom prst="rect">
            <a:avLst/>
          </a:prstGeom>
          <a:noFill/>
          <a:ln/>
        </p:spPr>
        <p:txBody>
          <a:bodyPr wrap="square" lIns="0" tIns="0" rIns="0" bIns="0" rtlCol="0" anchor="ctr"/>
          <a:lstStyle/>
          <a:p>
            <a:pPr indent="0" marL="0">
              <a:buNone/>
            </a:pPr>
            <a:r>
              <a:rPr lang="en-US" sz="1700" b="1" dirty="0">
                <a:solidFill>
                  <a:srgbClr val="0071E3"/>
                </a:solidFill>
                <a:latin typeface="Calibri" pitchFamily="34" charset="0"/>
                <a:ea typeface="Calibri" pitchFamily="34" charset="-122"/>
                <a:cs typeface="Calibri" pitchFamily="34" charset="-120"/>
              </a:rPr>
              <a:t>Baselines</a:t>
            </a:r>
            <a:endParaRPr lang="en-US" sz="1700" dirty="0"/>
          </a:p>
        </p:txBody>
      </p:sp>
      <p:sp>
        <p:nvSpPr>
          <p:cNvPr id="10" name="Text 8"/>
          <p:cNvSpPr txBox="1"/>
          <p:nvPr/>
        </p:nvSpPr>
        <p:spPr>
          <a:xfrm>
            <a:off x="6400800" y="2880360"/>
            <a:ext cx="4663440" cy="566928"/>
          </a:xfrm>
          <a:prstGeom prst="rect">
            <a:avLst/>
          </a:prstGeom>
          <a:noFill/>
          <a:ln/>
        </p:spPr>
        <p:txBody>
          <a:bodyPr wrap="square" lIns="0" tIns="0" rIns="0" bIns="0" rtlCol="0" anchor="t"/>
          <a:lstStyle/>
          <a:p>
            <a:pPr indent="0" marL="0">
              <a:buNone/>
            </a:pPr>
            <a:r>
              <a:rPr lang="en-US" sz="1450" b="1" dirty="0">
                <a:solidFill>
                  <a:srgbClr val="1D1D1F"/>
                </a:solidFill>
                <a:latin typeface="Calibri" pitchFamily="34" charset="0"/>
                <a:ea typeface="Calibri" pitchFamily="34" charset="-122"/>
                <a:cs typeface="Calibri" pitchFamily="34" charset="-120"/>
              </a:rPr>
              <a:t>Static detector [3]</a:t>
            </a:r>
            <a:endParaRPr lang="en-US" sz="1450" dirty="0"/>
          </a:p>
          <a:p>
            <a:pPr indent="0" marL="0">
              <a:buNone/>
            </a:pPr>
            <a:r>
              <a:rPr lang="en-US" sz="1300" dirty="0">
                <a:solidFill>
                  <a:srgbClr val="86868B"/>
                </a:solidFill>
                <a:latin typeface="Calibri" pitchFamily="34" charset="0"/>
                <a:ea typeface="Calibri" pitchFamily="34" charset="-122"/>
                <a:cs typeface="Calibri" pitchFamily="34" charset="-120"/>
              </a:rPr>
              <a:t>trained once, never adapts</a:t>
            </a:r>
            <a:endParaRPr lang="en-US" sz="1450" dirty="0"/>
          </a:p>
        </p:txBody>
      </p:sp>
      <p:sp>
        <p:nvSpPr>
          <p:cNvPr id="11" name="Text 9"/>
          <p:cNvSpPr txBox="1"/>
          <p:nvPr/>
        </p:nvSpPr>
        <p:spPr>
          <a:xfrm>
            <a:off x="6400800" y="3483864"/>
            <a:ext cx="4663440" cy="566928"/>
          </a:xfrm>
          <a:prstGeom prst="rect">
            <a:avLst/>
          </a:prstGeom>
          <a:noFill/>
          <a:ln/>
        </p:spPr>
        <p:txBody>
          <a:bodyPr wrap="square" lIns="0" tIns="0" rIns="0" bIns="0" rtlCol="0" anchor="t"/>
          <a:lstStyle/>
          <a:p>
            <a:pPr indent="0" marL="0">
              <a:buNone/>
            </a:pPr>
            <a:r>
              <a:rPr lang="en-US" sz="1450" b="1" dirty="0">
                <a:solidFill>
                  <a:srgbClr val="1D1D1F"/>
                </a:solidFill>
                <a:latin typeface="Calibri" pitchFamily="34" charset="0"/>
                <a:ea typeface="Calibri" pitchFamily="34" charset="-122"/>
                <a:cs typeface="Calibri" pitchFamily="34" charset="-120"/>
              </a:rPr>
              <a:t>Naive adaptive</a:t>
            </a:r>
            <a:endParaRPr lang="en-US" sz="1450" dirty="0"/>
          </a:p>
          <a:p>
            <a:pPr indent="0" marL="0">
              <a:buNone/>
            </a:pPr>
            <a:r>
              <a:rPr lang="en-US" sz="1300" dirty="0">
                <a:solidFill>
                  <a:srgbClr val="86868B"/>
                </a:solidFill>
                <a:latin typeface="Calibri" pitchFamily="34" charset="0"/>
                <a:ea typeface="Calibri" pitchFamily="34" charset="-122"/>
                <a:cs typeface="Calibri" pitchFamily="34" charset="-120"/>
              </a:rPr>
              <a:t>commits every update, the setting poisoned in [1]</a:t>
            </a:r>
            <a:endParaRPr lang="en-US" sz="1450" dirty="0"/>
          </a:p>
        </p:txBody>
      </p:sp>
      <p:sp>
        <p:nvSpPr>
          <p:cNvPr id="12" name="Text 10"/>
          <p:cNvSpPr txBox="1"/>
          <p:nvPr/>
        </p:nvSpPr>
        <p:spPr>
          <a:xfrm>
            <a:off x="6400800" y="4087368"/>
            <a:ext cx="4663440" cy="566928"/>
          </a:xfrm>
          <a:prstGeom prst="rect">
            <a:avLst/>
          </a:prstGeom>
          <a:noFill/>
          <a:ln/>
        </p:spPr>
        <p:txBody>
          <a:bodyPr wrap="square" lIns="0" tIns="0" rIns="0" bIns="0" rtlCol="0" anchor="t"/>
          <a:lstStyle/>
          <a:p>
            <a:pPr indent="0" marL="0">
              <a:buNone/>
            </a:pPr>
            <a:r>
              <a:rPr lang="en-US" sz="1450" b="1" dirty="0">
                <a:solidFill>
                  <a:srgbClr val="1D1D1F"/>
                </a:solidFill>
                <a:latin typeface="Calibri" pitchFamily="34" charset="0"/>
                <a:ea typeface="Calibri" pitchFamily="34" charset="-122"/>
                <a:cs typeface="Calibri" pitchFamily="34" charset="-120"/>
              </a:rPr>
              <a:t>Freeze budget</a:t>
            </a:r>
            <a:endParaRPr lang="en-US" sz="1450" dirty="0"/>
          </a:p>
          <a:p>
            <a:pPr indent="0" marL="0">
              <a:buNone/>
            </a:pPr>
            <a:r>
              <a:rPr lang="en-US" sz="1300" dirty="0">
                <a:solidFill>
                  <a:srgbClr val="86868B"/>
                </a:solidFill>
                <a:latin typeface="Calibri" pitchFamily="34" charset="0"/>
                <a:ea typeface="Calibri" pitchFamily="34" charset="-122"/>
                <a:cs typeface="Calibri" pitchFamily="34" charset="-120"/>
              </a:rPr>
              <a:t>stops learning once drift looks too large</a:t>
            </a:r>
            <a:endParaRPr lang="en-US" sz="1450" dirty="0"/>
          </a:p>
        </p:txBody>
      </p:sp>
      <p:sp>
        <p:nvSpPr>
          <p:cNvPr id="13" name="Text 11"/>
          <p:cNvSpPr txBox="1"/>
          <p:nvPr/>
        </p:nvSpPr>
        <p:spPr>
          <a:xfrm>
            <a:off x="6400800" y="4690872"/>
            <a:ext cx="4663440" cy="566928"/>
          </a:xfrm>
          <a:prstGeom prst="rect">
            <a:avLst/>
          </a:prstGeom>
          <a:noFill/>
          <a:ln/>
        </p:spPr>
        <p:txBody>
          <a:bodyPr wrap="square" lIns="0" tIns="0" rIns="0" bIns="0" rtlCol="0" anchor="t"/>
          <a:lstStyle/>
          <a:p>
            <a:pPr indent="0" marL="0">
              <a:buNone/>
            </a:pPr>
            <a:r>
              <a:rPr lang="en-US" sz="1450" b="1" dirty="0">
                <a:solidFill>
                  <a:srgbClr val="1D1D1F"/>
                </a:solidFill>
                <a:latin typeface="Calibri" pitchFamily="34" charset="0"/>
                <a:ea typeface="Calibri" pitchFamily="34" charset="-122"/>
                <a:cs typeface="Calibri" pitchFamily="34" charset="-120"/>
              </a:rPr>
              <a:t>Robust filter</a:t>
            </a:r>
            <a:endParaRPr lang="en-US" sz="1450" dirty="0"/>
          </a:p>
          <a:p>
            <a:pPr indent="0" marL="0">
              <a:buNone/>
            </a:pPr>
            <a:r>
              <a:rPr lang="en-US" sz="1300" dirty="0">
                <a:solidFill>
                  <a:srgbClr val="86868B"/>
                </a:solidFill>
                <a:latin typeface="Calibri" pitchFamily="34" charset="0"/>
                <a:ea typeface="Calibri" pitchFamily="34" charset="-122"/>
                <a:cs typeface="Calibri" pitchFamily="34" charset="-120"/>
              </a:rPr>
              <a:t>rejects outlier updates using robust statistics [1]</a:t>
            </a:r>
            <a:endParaRPr lang="en-US" sz="1450" dirty="0"/>
          </a:p>
        </p:txBody>
      </p:sp>
      <p:sp>
        <p:nvSpPr>
          <p:cNvPr id="14" name="Text 12"/>
          <p:cNvSpPr txBox="1"/>
          <p:nvPr/>
        </p:nvSpPr>
        <p:spPr>
          <a:xfrm>
            <a:off x="6400800" y="5294376"/>
            <a:ext cx="4663440" cy="566928"/>
          </a:xfrm>
          <a:prstGeom prst="rect">
            <a:avLst/>
          </a:prstGeom>
          <a:noFill/>
          <a:ln/>
        </p:spPr>
        <p:txBody>
          <a:bodyPr wrap="square" lIns="0" tIns="0" rIns="0" bIns="0" rtlCol="0" anchor="t"/>
          <a:lstStyle/>
          <a:p>
            <a:pPr indent="0" marL="0">
              <a:buNone/>
            </a:pPr>
            <a:r>
              <a:rPr lang="en-US" sz="1450" b="1" dirty="0">
                <a:solidFill>
                  <a:srgbClr val="1D1D1F"/>
                </a:solidFill>
                <a:latin typeface="Calibri" pitchFamily="34" charset="0"/>
                <a:ea typeface="Calibri" pitchFamily="34" charset="-122"/>
                <a:cs typeface="Calibri" pitchFamily="34" charset="-120"/>
              </a:rPr>
              <a:t>ANTIDOTE robust PCA [1]</a:t>
            </a:r>
            <a:endParaRPr lang="en-US" sz="1450" dirty="0"/>
          </a:p>
          <a:p>
            <a:pPr indent="0" marL="0">
              <a:buNone/>
            </a:pPr>
            <a:r>
              <a:rPr lang="en-US" sz="1300" dirty="0">
                <a:solidFill>
                  <a:srgbClr val="86868B"/>
                </a:solidFill>
                <a:latin typeface="Calibri" pitchFamily="34" charset="0"/>
                <a:ea typeface="Calibri" pitchFamily="34" charset="-122"/>
                <a:cs typeface="Calibri" pitchFamily="34" charset="-120"/>
              </a:rPr>
              <a:t>the classic server-side defense</a:t>
            </a:r>
            <a:endParaRPr lang="en-US" sz="1450" dirty="0"/>
          </a:p>
        </p:txBody>
      </p:sp>
      <p:sp>
        <p:nvSpPr>
          <p:cNvPr id="15" name="Text 13"/>
          <p:cNvSpPr txBox="1"/>
          <p:nvPr/>
        </p:nvSpPr>
        <p:spPr>
          <a:xfrm>
            <a:off x="822960" y="6327648"/>
            <a:ext cx="10515600" cy="274320"/>
          </a:xfrm>
          <a:prstGeom prst="rect">
            <a:avLst/>
          </a:prstGeom>
          <a:noFill/>
          <a:ln/>
        </p:spPr>
        <p:txBody>
          <a:bodyPr wrap="square" lIns="0" tIns="0" rIns="0" bIns="0" rtlCol="0" anchor="ctr"/>
          <a:lstStyle/>
          <a:p>
            <a:pPr indent="0" marL="0">
              <a:buNone/>
            </a:pPr>
            <a:r>
              <a:rPr lang="en-US" sz="1000" i="1" dirty="0">
                <a:solidFill>
                  <a:srgbClr val="86868B"/>
                </a:solidFill>
                <a:latin typeface="Calibri" pitchFamily="34" charset="0"/>
                <a:ea typeface="Calibri" pitchFamily="34" charset="-122"/>
                <a:cs typeface="Calibri" pitchFamily="34" charset="-120"/>
              </a:rPr>
              <a:t>[1] ACM IMC 2009  ·  [3] NDSS 2018  ·  [4] IEEE Pervasive Computing 2018  ·  [5] Scientific Data 2025</a:t>
            </a:r>
            <a:endParaRPr lang="en-US" sz="1000" dirty="0"/>
          </a:p>
        </p:txBody>
      </p:sp>
      <p:sp>
        <p:nvSpPr>
          <p:cNvPr id="16" name="Text 14"/>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txBody>
          <a:bodyPr/>
          <a:p/>
        </p:txBody>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EVALUATION METRICS  ·  PRELIMINARY RESULT</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800" b="1" dirty="0">
                <a:solidFill>
                  <a:srgbClr val="1D1D1F"/>
                </a:solidFill>
                <a:latin typeface="Calibri" pitchFamily="34" charset="0"/>
                <a:ea typeface="Calibri" pitchFamily="34" charset="-122"/>
                <a:cs typeface="Calibri" pitchFamily="34" charset="-120"/>
              </a:rPr>
              <a:t>We already tested it, in simulation and on real IoT traffic.</a:t>
            </a:r>
            <a:endParaRPr lang="en-US" sz="2800" dirty="0"/>
          </a:p>
        </p:txBody>
      </p:sp>
      <p:pic>
        <p:nvPicPr>
          <p:cNvPr id="5" name="Image 0" descr="/Users/rishitkamboj/Collegeactual/Study/SEM5/iot/research project/brainstorming/experiments/fig_slide.png">    </p:cNvPr>
          <p:cNvPicPr>
            <a:picLocks noChangeAspect="1"/>
          </p:cNvPicPr>
          <p:nvPr/>
        </p:nvPicPr>
        <p:blipFill>
          <a:blip r:embed="rId1"/>
          <a:stretch>
            <a:fillRect/>
          </a:stretch>
        </p:blipFill>
        <p:spPr>
          <a:xfrm>
            <a:off x="822960" y="2011680"/>
            <a:ext cx="10561320" cy="3236976"/>
          </a:xfrm>
          <a:prstGeom prst="rect">
            <a:avLst/>
          </a:prstGeom>
        </p:spPr>
      </p:pic>
      <p:sp>
        <p:nvSpPr>
          <p:cNvPr id="6" name="Text 3"/>
          <p:cNvSpPr txBox="1"/>
          <p:nvPr/>
        </p:nvSpPr>
        <p:spPr>
          <a:xfrm>
            <a:off x="822960" y="5303520"/>
            <a:ext cx="10561320" cy="502920"/>
          </a:xfrm>
          <a:prstGeom prst="rect">
            <a:avLst/>
          </a:prstGeom>
          <a:noFill/>
          <a:ln/>
        </p:spPr>
        <p:txBody>
          <a:bodyPr wrap="square" lIns="0" tIns="0" rIns="0" bIns="0" rtlCol="0" anchor="t"/>
          <a:lstStyle/>
          <a:p>
            <a:pPr indent="0" marL="0">
              <a:buNone/>
            </a:pPr>
            <a:r>
              <a:rPr lang="en-US" sz="1250" dirty="0">
                <a:solidFill>
                  <a:srgbClr val="424245"/>
                </a:solidFill>
                <a:latin typeface="Calibri" pitchFamily="34" charset="0"/>
                <a:ea typeface="Calibri" pitchFamily="34" charset="-122"/>
                <a:cs typeface="Calibri" pitchFamily="34" charset="-120"/>
              </a:rPr>
              <a:t>Above: synthetic simulation, 5 seeds, attacker at 40% [2]. Real check on N-BaIoT doorbell traffic [4]: naive learning was poisoned with the attacker at only 10 to 20% of traffic, while ours kept 100% detection with 0.8% false alarms.</a:t>
            </a:r>
            <a:endParaRPr lang="en-US" sz="1250" dirty="0"/>
          </a:p>
        </p:txBody>
      </p:sp>
      <p:sp>
        <p:nvSpPr>
          <p:cNvPr id="7" name="Text 4"/>
          <p:cNvSpPr txBox="1"/>
          <p:nvPr/>
        </p:nvSpPr>
        <p:spPr>
          <a:xfrm>
            <a:off x="822960" y="5870448"/>
            <a:ext cx="1056132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Metrics:  </a:t>
            </a:r>
            <a:pPr indent="0" marL="0">
              <a:buNone/>
            </a:pPr>
            <a:r>
              <a:rPr lang="en-US" sz="1300" dirty="0">
                <a:solidFill>
                  <a:srgbClr val="86868B"/>
                </a:solidFill>
                <a:latin typeface="Calibri" pitchFamily="34" charset="0"/>
                <a:ea typeface="Calibri" pitchFamily="34" charset="-122"/>
                <a:cs typeface="Calibri" pitchFamily="34" charset="-120"/>
              </a:rPr>
              <a:t>attack recall and cycles to compromise  ·  false alarms under drift  ·  F1, AUROC  ·  ESP32 memory, latency, energy</a:t>
            </a:r>
            <a:endParaRPr lang="en-US" sz="1300" dirty="0"/>
          </a:p>
        </p:txBody>
      </p:sp>
      <p:sp>
        <p:nvSpPr>
          <p:cNvPr id="8" name="Text 5"/>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822960" y="818388"/>
            <a:ext cx="100584" cy="100584"/>
          </a:xfrm>
          <a:prstGeom prst="ellipse">
            <a:avLst/>
          </a:prstGeom>
          <a:solidFill>
            <a:srgbClr val="0071E3"/>
          </a:solidFill>
          <a:ln/>
        </p:spPr>
      </p:sp>
      <p:sp>
        <p:nvSpPr>
          <p:cNvPr id="3" name="Text 1"/>
          <p:cNvSpPr txBox="1"/>
          <p:nvPr/>
        </p:nvSpPr>
        <p:spPr>
          <a:xfrm>
            <a:off x="1024128" y="72237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EXPECTED CONTRIBUTION</a:t>
            </a:r>
            <a:endParaRPr lang="en-US" sz="1250" dirty="0"/>
          </a:p>
        </p:txBody>
      </p:sp>
      <p:sp>
        <p:nvSpPr>
          <p:cNvPr id="4" name="Text 2"/>
          <p:cNvSpPr txBox="1"/>
          <p:nvPr/>
        </p:nvSpPr>
        <p:spPr>
          <a:xfrm>
            <a:off x="822960" y="1371600"/>
            <a:ext cx="822960" cy="45720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01</a:t>
            </a:r>
            <a:endParaRPr lang="en-US" sz="2200" dirty="0"/>
          </a:p>
        </p:txBody>
      </p:sp>
      <p:sp>
        <p:nvSpPr>
          <p:cNvPr id="5" name="Text 3"/>
          <p:cNvSpPr txBox="1"/>
          <p:nvPr/>
        </p:nvSpPr>
        <p:spPr>
          <a:xfrm>
            <a:off x="1737360" y="1371600"/>
            <a:ext cx="950976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Threat-Orthogonal Adaptation</a:t>
            </a:r>
            <a:endParaRPr lang="en-US" sz="2000" dirty="0"/>
          </a:p>
        </p:txBody>
      </p:sp>
      <p:sp>
        <p:nvSpPr>
          <p:cNvPr id="6" name="Text 4"/>
          <p:cNvSpPr txBox="1"/>
          <p:nvPr/>
        </p:nvSpPr>
        <p:spPr>
          <a:xfrm>
            <a:off x="1737360" y="1783080"/>
            <a:ext cx="9509760" cy="640080"/>
          </a:xfrm>
          <a:prstGeom prst="rect">
            <a:avLst/>
          </a:prstGeom>
          <a:noFill/>
          <a:ln/>
        </p:spPr>
        <p:txBody>
          <a:bodyPr wrap="square" lIns="0" tIns="0" rIns="0" bIns="0" rtlCol="0" anchor="t"/>
          <a:lstStyle/>
          <a:p>
            <a:pPr indent="0" marL="0">
              <a:lnSpc>
                <a:spcPct val="108000"/>
              </a:lnSpc>
              <a:buNone/>
            </a:pPr>
            <a:r>
              <a:rPr lang="en-US" sz="1450" dirty="0">
                <a:solidFill>
                  <a:srgbClr val="C7C7CC"/>
                </a:solidFill>
                <a:latin typeface="Calibri" pitchFamily="34" charset="0"/>
                <a:ea typeface="Calibri" pitchFamily="34" charset="-122"/>
                <a:cs typeface="Calibri" pitchFamily="34" charset="-120"/>
              </a:rPr>
              <a:t>An on-device update rule that never freezes, rations only threat-aligned drift, and gives a provable minimum number of cycles before a known attack can be hidden.</a:t>
            </a:r>
            <a:endParaRPr lang="en-US" sz="1450" dirty="0"/>
          </a:p>
        </p:txBody>
      </p:sp>
      <p:sp>
        <p:nvSpPr>
          <p:cNvPr id="7" name="Text 5"/>
          <p:cNvSpPr txBox="1"/>
          <p:nvPr/>
        </p:nvSpPr>
        <p:spPr>
          <a:xfrm>
            <a:off x="822960" y="2606040"/>
            <a:ext cx="822960" cy="45720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02</a:t>
            </a:r>
            <a:endParaRPr lang="en-US" sz="2200" dirty="0"/>
          </a:p>
        </p:txBody>
      </p:sp>
      <p:sp>
        <p:nvSpPr>
          <p:cNvPr id="8" name="Text 6"/>
          <p:cNvSpPr txBox="1"/>
          <p:nvPr/>
        </p:nvSpPr>
        <p:spPr>
          <a:xfrm>
            <a:off x="1737360" y="2606040"/>
            <a:ext cx="950976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freeze attack</a:t>
            </a:r>
            <a:endParaRPr lang="en-US" sz="2000" dirty="0"/>
          </a:p>
        </p:txBody>
      </p:sp>
      <p:sp>
        <p:nvSpPr>
          <p:cNvPr id="9" name="Text 7"/>
          <p:cNvSpPr txBox="1"/>
          <p:nvPr/>
        </p:nvSpPr>
        <p:spPr>
          <a:xfrm>
            <a:off x="1737360" y="3017520"/>
            <a:ext cx="9509760" cy="640080"/>
          </a:xfrm>
          <a:prstGeom prst="rect">
            <a:avLst/>
          </a:prstGeom>
          <a:noFill/>
          <a:ln/>
        </p:spPr>
        <p:txBody>
          <a:bodyPr wrap="square" lIns="0" tIns="0" rIns="0" bIns="0" rtlCol="0" anchor="t"/>
          <a:lstStyle/>
          <a:p>
            <a:pPr indent="0" marL="0">
              <a:lnSpc>
                <a:spcPct val="108000"/>
              </a:lnSpc>
              <a:buNone/>
            </a:pPr>
            <a:r>
              <a:rPr lang="en-US" sz="1450" dirty="0">
                <a:solidFill>
                  <a:srgbClr val="C7C7CC"/>
                </a:solidFill>
                <a:latin typeface="Calibri" pitchFamily="34" charset="0"/>
                <a:ea typeface="Calibri" pitchFamily="34" charset="-122"/>
                <a:cs typeface="Calibri" pitchFamily="34" charset="-120"/>
              </a:rPr>
              <a:t>A new attack on defenses that stop learning when drift looks suspicious, and evidence that never-freezing adaptation is immune to it.</a:t>
            </a:r>
            <a:endParaRPr lang="en-US" sz="1450" dirty="0"/>
          </a:p>
        </p:txBody>
      </p:sp>
      <p:sp>
        <p:nvSpPr>
          <p:cNvPr id="10" name="Text 8"/>
          <p:cNvSpPr txBox="1"/>
          <p:nvPr/>
        </p:nvSpPr>
        <p:spPr>
          <a:xfrm>
            <a:off x="822960" y="3840480"/>
            <a:ext cx="822960" cy="457200"/>
          </a:xfrm>
          <a:prstGeom prst="rect">
            <a:avLst/>
          </a:prstGeom>
          <a:noFill/>
          <a:ln/>
        </p:spPr>
        <p:txBody>
          <a:bodyPr wrap="square" lIns="0" tIns="0" rIns="0" bIns="0" rtlCol="0" anchor="ctr"/>
          <a:lstStyle/>
          <a:p>
            <a:pPr indent="0" marL="0">
              <a:buNone/>
            </a:pPr>
            <a:r>
              <a:rPr lang="en-US" sz="2200" b="1" dirty="0">
                <a:solidFill>
                  <a:srgbClr val="0071E3"/>
                </a:solidFill>
                <a:latin typeface="Calibri" pitchFamily="34" charset="0"/>
                <a:ea typeface="Calibri" pitchFamily="34" charset="-122"/>
                <a:cs typeface="Calibri" pitchFamily="34" charset="-120"/>
              </a:rPr>
              <a:t>03</a:t>
            </a:r>
            <a:endParaRPr lang="en-US" sz="2200" dirty="0"/>
          </a:p>
        </p:txBody>
      </p:sp>
      <p:sp>
        <p:nvSpPr>
          <p:cNvPr id="11" name="Text 9"/>
          <p:cNvSpPr txBox="1"/>
          <p:nvPr/>
        </p:nvSpPr>
        <p:spPr>
          <a:xfrm>
            <a:off x="1737360" y="3840480"/>
            <a:ext cx="950976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Real exposure, real cost</a:t>
            </a:r>
            <a:endParaRPr lang="en-US" sz="2000" dirty="0"/>
          </a:p>
        </p:txBody>
      </p:sp>
      <p:sp>
        <p:nvSpPr>
          <p:cNvPr id="12" name="Text 10"/>
          <p:cNvSpPr txBox="1"/>
          <p:nvPr/>
        </p:nvSpPr>
        <p:spPr>
          <a:xfrm>
            <a:off x="1737360" y="4251960"/>
            <a:ext cx="9509760" cy="640080"/>
          </a:xfrm>
          <a:prstGeom prst="rect">
            <a:avLst/>
          </a:prstGeom>
          <a:noFill/>
          <a:ln/>
        </p:spPr>
        <p:txBody>
          <a:bodyPr wrap="square" lIns="0" tIns="0" rIns="0" bIns="0" rtlCol="0" anchor="t"/>
          <a:lstStyle/>
          <a:p>
            <a:pPr indent="0" marL="0">
              <a:lnSpc>
                <a:spcPct val="108000"/>
              </a:lnSpc>
              <a:buNone/>
            </a:pPr>
            <a:r>
              <a:rPr lang="en-US" sz="1450" dirty="0">
                <a:solidFill>
                  <a:srgbClr val="C7C7CC"/>
                </a:solidFill>
                <a:latin typeface="Calibri" pitchFamily="34" charset="0"/>
                <a:ea typeface="Calibri" pitchFamily="34" charset="-122"/>
                <a:cs typeface="Calibri" pitchFamily="34" charset="-120"/>
              </a:rPr>
              <a:t>How poisonable real low-traffic IoT devices are on N-BaIoT [4], and what protection costs on an ESP32.</a:t>
            </a:r>
            <a:endParaRPr lang="en-US" sz="1450" dirty="0"/>
          </a:p>
        </p:txBody>
      </p:sp>
      <p:sp>
        <p:nvSpPr>
          <p:cNvPr id="13" name="Shape 11"/>
          <p:cNvSpPr/>
          <p:nvPr/>
        </p:nvSpPr>
        <p:spPr>
          <a:xfrm>
            <a:off x="822960" y="5303520"/>
            <a:ext cx="128016" cy="128016"/>
          </a:xfrm>
          <a:prstGeom prst="ellipse">
            <a:avLst/>
          </a:prstGeom>
          <a:solidFill>
            <a:srgbClr val="0071E3"/>
          </a:solidFill>
          <a:ln/>
        </p:spPr>
      </p:sp>
      <p:sp>
        <p:nvSpPr>
          <p:cNvPr id="14" name="Text 12"/>
          <p:cNvSpPr txBox="1"/>
          <p:nvPr/>
        </p:nvSpPr>
        <p:spPr>
          <a:xfrm>
            <a:off x="1051560" y="5193792"/>
            <a:ext cx="2267712"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Weeks 1 to 3</a:t>
            </a:r>
            <a:endParaRPr lang="en-US" sz="1400" dirty="0"/>
          </a:p>
        </p:txBody>
      </p:sp>
      <p:sp>
        <p:nvSpPr>
          <p:cNvPr id="15" name="Text 13"/>
          <p:cNvSpPr txBox="1"/>
          <p:nvPr/>
        </p:nvSpPr>
        <p:spPr>
          <a:xfrm>
            <a:off x="1051560" y="5513832"/>
            <a:ext cx="2267712" cy="457200"/>
          </a:xfrm>
          <a:prstGeom prst="rect">
            <a:avLst/>
          </a:prstGeom>
          <a:noFill/>
          <a:ln/>
        </p:spPr>
        <p:txBody>
          <a:bodyPr wrap="square" lIns="0" tIns="0" rIns="0" bIns="0" rtlCol="0" anchor="t"/>
          <a:lstStyle/>
          <a:p>
            <a:pPr indent="0" marL="0">
              <a:buNone/>
            </a:pPr>
            <a:r>
              <a:rPr lang="en-US" sz="1200" dirty="0">
                <a:solidFill>
                  <a:srgbClr val="C7C7CC"/>
                </a:solidFill>
                <a:latin typeface="Calibri" pitchFamily="34" charset="0"/>
                <a:ea typeface="Calibri" pitchFamily="34" charset="-122"/>
                <a:cs typeface="Calibri" pitchFamily="34" charset="-120"/>
              </a:rPr>
              <a:t>N-BaIoT pipeline, attack, baselines</a:t>
            </a:r>
            <a:endParaRPr lang="en-US" sz="1200" dirty="0"/>
          </a:p>
        </p:txBody>
      </p:sp>
      <p:sp>
        <p:nvSpPr>
          <p:cNvPr id="16" name="Shape 14"/>
          <p:cNvSpPr/>
          <p:nvPr/>
        </p:nvSpPr>
        <p:spPr>
          <a:xfrm>
            <a:off x="3456432" y="5303520"/>
            <a:ext cx="128016" cy="128016"/>
          </a:xfrm>
          <a:prstGeom prst="ellipse">
            <a:avLst/>
          </a:prstGeom>
          <a:solidFill>
            <a:srgbClr val="0071E3"/>
          </a:solidFill>
          <a:ln/>
        </p:spPr>
      </p:sp>
      <p:sp>
        <p:nvSpPr>
          <p:cNvPr id="17" name="Text 15"/>
          <p:cNvSpPr txBox="1"/>
          <p:nvPr/>
        </p:nvSpPr>
        <p:spPr>
          <a:xfrm>
            <a:off x="3685032" y="5193792"/>
            <a:ext cx="2267712"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 4, mid-review</a:t>
            </a:r>
            <a:endParaRPr lang="en-US" sz="1400" dirty="0"/>
          </a:p>
        </p:txBody>
      </p:sp>
      <p:sp>
        <p:nvSpPr>
          <p:cNvPr id="18" name="Text 16"/>
          <p:cNvSpPr txBox="1"/>
          <p:nvPr/>
        </p:nvSpPr>
        <p:spPr>
          <a:xfrm>
            <a:off x="3685032" y="5513832"/>
            <a:ext cx="2267712" cy="457200"/>
          </a:xfrm>
          <a:prstGeom prst="rect">
            <a:avLst/>
          </a:prstGeom>
          <a:noFill/>
          <a:ln/>
        </p:spPr>
        <p:txBody>
          <a:bodyPr wrap="square" lIns="0" tIns="0" rIns="0" bIns="0" rtlCol="0" anchor="t"/>
          <a:lstStyle/>
          <a:p>
            <a:pPr indent="0" marL="0">
              <a:buNone/>
            </a:pPr>
            <a:r>
              <a:rPr lang="en-US" sz="1200" dirty="0">
                <a:solidFill>
                  <a:srgbClr val="C7C7CC"/>
                </a:solidFill>
                <a:latin typeface="Calibri" pitchFamily="34" charset="0"/>
                <a:ea typeface="Calibri" pitchFamily="34" charset="-122"/>
                <a:cs typeface="Calibri" pitchFamily="34" charset="-120"/>
              </a:rPr>
              <a:t>Real-data version of slide 10</a:t>
            </a:r>
            <a:endParaRPr lang="en-US" sz="1200" dirty="0"/>
          </a:p>
        </p:txBody>
      </p:sp>
      <p:sp>
        <p:nvSpPr>
          <p:cNvPr id="19" name="Shape 17"/>
          <p:cNvSpPr/>
          <p:nvPr/>
        </p:nvSpPr>
        <p:spPr>
          <a:xfrm>
            <a:off x="6089904" y="5303520"/>
            <a:ext cx="128016" cy="128016"/>
          </a:xfrm>
          <a:prstGeom prst="ellipse">
            <a:avLst/>
          </a:prstGeom>
          <a:solidFill>
            <a:srgbClr val="0071E3"/>
          </a:solidFill>
          <a:ln/>
        </p:spPr>
      </p:sp>
      <p:sp>
        <p:nvSpPr>
          <p:cNvPr id="20" name="Text 18"/>
          <p:cNvSpPr txBox="1"/>
          <p:nvPr/>
        </p:nvSpPr>
        <p:spPr>
          <a:xfrm>
            <a:off x="6318504" y="5193792"/>
            <a:ext cx="2267712"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Weeks 5 to 7</a:t>
            </a:r>
            <a:endParaRPr lang="en-US" sz="1400" dirty="0"/>
          </a:p>
        </p:txBody>
      </p:sp>
      <p:sp>
        <p:nvSpPr>
          <p:cNvPr id="21" name="Text 19"/>
          <p:cNvSpPr txBox="1"/>
          <p:nvPr/>
        </p:nvSpPr>
        <p:spPr>
          <a:xfrm>
            <a:off x="6318504" y="5513832"/>
            <a:ext cx="2267712" cy="457200"/>
          </a:xfrm>
          <a:prstGeom prst="rect">
            <a:avLst/>
          </a:prstGeom>
          <a:noFill/>
          <a:ln/>
        </p:spPr>
        <p:txBody>
          <a:bodyPr wrap="square" lIns="0" tIns="0" rIns="0" bIns="0" rtlCol="0" anchor="t"/>
          <a:lstStyle/>
          <a:p>
            <a:pPr indent="0" marL="0">
              <a:buNone/>
            </a:pPr>
            <a:r>
              <a:rPr lang="en-US" sz="1200" dirty="0">
                <a:solidFill>
                  <a:srgbClr val="C7C7CC"/>
                </a:solidFill>
                <a:latin typeface="Calibri" pitchFamily="34" charset="0"/>
                <a:ea typeface="Calibri" pitchFamily="34" charset="-122"/>
                <a:cs typeface="Calibri" pitchFamily="34" charset="-120"/>
              </a:rPr>
              <a:t>ESP32 port, freeze attack study</a:t>
            </a:r>
            <a:endParaRPr lang="en-US" sz="1200" dirty="0"/>
          </a:p>
        </p:txBody>
      </p:sp>
      <p:sp>
        <p:nvSpPr>
          <p:cNvPr id="22" name="Shape 20"/>
          <p:cNvSpPr/>
          <p:nvPr/>
        </p:nvSpPr>
        <p:spPr>
          <a:xfrm>
            <a:off x="8723376" y="5303520"/>
            <a:ext cx="128016" cy="128016"/>
          </a:xfrm>
          <a:prstGeom prst="ellipse">
            <a:avLst/>
          </a:prstGeom>
          <a:solidFill>
            <a:srgbClr val="0071E3"/>
          </a:solidFill>
          <a:ln/>
        </p:spPr>
      </p:sp>
      <p:sp>
        <p:nvSpPr>
          <p:cNvPr id="23" name="Text 21"/>
          <p:cNvSpPr txBox="1"/>
          <p:nvPr/>
        </p:nvSpPr>
        <p:spPr>
          <a:xfrm>
            <a:off x="8951976" y="5193792"/>
            <a:ext cx="2267712"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Weeks 8 to 9</a:t>
            </a:r>
            <a:endParaRPr lang="en-US" sz="1400" dirty="0"/>
          </a:p>
        </p:txBody>
      </p:sp>
      <p:sp>
        <p:nvSpPr>
          <p:cNvPr id="24" name="Text 22"/>
          <p:cNvSpPr txBox="1"/>
          <p:nvPr/>
        </p:nvSpPr>
        <p:spPr>
          <a:xfrm>
            <a:off x="8951976" y="5513832"/>
            <a:ext cx="2267712" cy="457200"/>
          </a:xfrm>
          <a:prstGeom prst="rect">
            <a:avLst/>
          </a:prstGeom>
          <a:noFill/>
          <a:ln/>
        </p:spPr>
        <p:txBody>
          <a:bodyPr wrap="square" lIns="0" tIns="0" rIns="0" bIns="0" rtlCol="0" anchor="t"/>
          <a:lstStyle/>
          <a:p>
            <a:pPr indent="0" marL="0">
              <a:buNone/>
            </a:pPr>
            <a:r>
              <a:rPr lang="en-US" sz="1200" dirty="0">
                <a:solidFill>
                  <a:srgbClr val="C7C7CC"/>
                </a:solidFill>
                <a:latin typeface="Calibri" pitchFamily="34" charset="0"/>
                <a:ea typeface="Calibri" pitchFamily="34" charset="-122"/>
                <a:cs typeface="Calibri" pitchFamily="34" charset="-120"/>
              </a:rPr>
              <a:t>Sweeps, IEEE report, demo</a:t>
            </a:r>
            <a:endParaRPr lang="en-US" sz="1200" dirty="0"/>
          </a:p>
        </p:txBody>
      </p:sp>
      <p:sp>
        <p:nvSpPr>
          <p:cNvPr id="25" name="Text 23"/>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8686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72668"/>
            <a:ext cx="100584" cy="100584"/>
          </a:xfrm>
          <a:prstGeom prst="ellipse">
            <a:avLst/>
          </a:prstGeom>
          <a:solidFill>
            <a:srgbClr val="0071E3"/>
          </a:solidFill>
          <a:ln/>
        </p:spPr>
      </p:sp>
      <p:sp>
        <p:nvSpPr>
          <p:cNvPr id="3" name="Text 1"/>
          <p:cNvSpPr txBox="1"/>
          <p:nvPr/>
        </p:nvSpPr>
        <p:spPr>
          <a:xfrm>
            <a:off x="1024128" y="676656"/>
            <a:ext cx="9144000" cy="292608"/>
          </a:xfrm>
          <a:prstGeom prst="rect">
            <a:avLst/>
          </a:prstGeom>
          <a:noFill/>
          <a:ln/>
        </p:spPr>
        <p:txBody>
          <a:bodyPr wrap="square" lIns="0" tIns="0" rIns="0" bIns="0" rtlCol="0" anchor="ctr"/>
          <a:lstStyle/>
          <a:p>
            <a:pPr indent="0" marL="0">
              <a:buNone/>
            </a:pPr>
            <a:r>
              <a:rPr lang="en-US" sz="1250" b="1" spc="220" kern="0" dirty="0">
                <a:solidFill>
                  <a:srgbClr val="0071E3"/>
                </a:solidFill>
                <a:latin typeface="Calibri" pitchFamily="34" charset="0"/>
                <a:ea typeface="Calibri" pitchFamily="34" charset="-122"/>
                <a:cs typeface="Calibri" pitchFamily="34" charset="-120"/>
              </a:rPr>
              <a:t>REFERENCES</a:t>
            </a:r>
            <a:endParaRPr lang="en-US" sz="1250" dirty="0"/>
          </a:p>
        </p:txBody>
      </p:sp>
      <p:sp>
        <p:nvSpPr>
          <p:cNvPr id="4" name="Text 2"/>
          <p:cNvSpPr txBox="1"/>
          <p:nvPr/>
        </p:nvSpPr>
        <p:spPr>
          <a:xfrm>
            <a:off x="822960" y="1188720"/>
            <a:ext cx="10515600" cy="868680"/>
          </a:xfrm>
          <a:prstGeom prst="rect">
            <a:avLst/>
          </a:prstGeom>
          <a:noFill/>
          <a:ln/>
        </p:spPr>
        <p:txBody>
          <a:bodyPr wrap="square" lIns="0" tIns="0" rIns="0" bIns="0" rtlCol="0" anchor="t"/>
          <a:lstStyle/>
          <a:p>
            <a:pPr indent="0" marL="0">
              <a:lnSpc>
                <a:spcPct val="103000"/>
              </a:lnSpc>
              <a:buNone/>
            </a:pPr>
            <a:r>
              <a:rPr lang="en-US" sz="2800" b="1" dirty="0">
                <a:solidFill>
                  <a:srgbClr val="1D1D1F"/>
                </a:solidFill>
                <a:latin typeface="Calibri" pitchFamily="34" charset="0"/>
                <a:ea typeface="Calibri" pitchFamily="34" charset="-122"/>
                <a:cs typeface="Calibri" pitchFamily="34" charset="-120"/>
              </a:rPr>
              <a:t>The five papers this project stands on.</a:t>
            </a:r>
            <a:endParaRPr lang="en-US" sz="2800" dirty="0"/>
          </a:p>
        </p:txBody>
      </p:sp>
      <p:sp>
        <p:nvSpPr>
          <p:cNvPr id="5" name="Text 3"/>
          <p:cNvSpPr txBox="1"/>
          <p:nvPr/>
        </p:nvSpPr>
        <p:spPr>
          <a:xfrm>
            <a:off x="822960" y="2148840"/>
            <a:ext cx="548640" cy="365760"/>
          </a:xfrm>
          <a:prstGeom prst="rect">
            <a:avLst/>
          </a:prstGeom>
          <a:noFill/>
          <a:ln/>
        </p:spPr>
        <p:txBody>
          <a:bodyPr wrap="square" lIns="0" tIns="0" rIns="0" bIns="0" rtlCol="0" anchor="ctr"/>
          <a:lstStyle/>
          <a:p>
            <a:pPr indent="0" marL="0">
              <a:buNone/>
            </a:pPr>
            <a:r>
              <a:rPr lang="en-US" sz="1600" b="1" dirty="0">
                <a:solidFill>
                  <a:srgbClr val="0071E3"/>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63040" y="2148840"/>
            <a:ext cx="9921240" cy="731520"/>
          </a:xfrm>
          <a:prstGeom prst="rect">
            <a:avLst/>
          </a:prstGeom>
          <a:noFill/>
          <a:ln/>
        </p:spPr>
        <p:txBody>
          <a:bodyPr wrap="square" lIns="0" tIns="0" rIns="0" bIns="0" rtlCol="0" anchor="t"/>
          <a:lstStyle/>
          <a:p>
            <a:pPr indent="0" marL="0">
              <a:lnSpc>
                <a:spcPct val="105000"/>
              </a:lnSpc>
              <a:buNone/>
            </a:pPr>
            <a:r>
              <a:rPr lang="en-US" sz="1400" b="1" dirty="0">
                <a:solidFill>
                  <a:srgbClr val="1D1D1F"/>
                </a:solidFill>
                <a:latin typeface="Calibri" pitchFamily="34" charset="0"/>
                <a:ea typeface="Calibri" pitchFamily="34" charset="-122"/>
                <a:cs typeface="Calibri" pitchFamily="34" charset="-120"/>
              </a:rPr>
              <a:t>B. I. P. Rubinstein, B. Nelson, L. Huang, A. D. Joseph et al.</a:t>
            </a:r>
            <a:endParaRPr lang="en-US" sz="1400" dirty="0"/>
          </a:p>
          <a:p>
            <a:pPr indent="0" marL="0">
              <a:lnSpc>
                <a:spcPct val="105000"/>
              </a:lnSpc>
              <a:buNone/>
            </a:pPr>
            <a:r>
              <a:rPr lang="en-US" sz="1400" dirty="0">
                <a:solidFill>
                  <a:srgbClr val="424245"/>
                </a:solidFill>
                <a:latin typeface="Calibri" pitchFamily="34" charset="0"/>
                <a:ea typeface="Calibri" pitchFamily="34" charset="-122"/>
                <a:cs typeface="Calibri" pitchFamily="34" charset="-120"/>
              </a:rPr>
              <a:t>ANTIDOTE: Understanding and Defending against Poisoning of Anomaly Detectors. ACM Internet Measurement Conference (IMC), 2009.</a:t>
            </a:r>
            <a:endParaRPr lang="en-US" sz="1400" dirty="0"/>
          </a:p>
        </p:txBody>
      </p:sp>
      <p:sp>
        <p:nvSpPr>
          <p:cNvPr id="7" name="Text 5"/>
          <p:cNvSpPr txBox="1"/>
          <p:nvPr/>
        </p:nvSpPr>
        <p:spPr>
          <a:xfrm>
            <a:off x="822960" y="2953512"/>
            <a:ext cx="548640" cy="365760"/>
          </a:xfrm>
          <a:prstGeom prst="rect">
            <a:avLst/>
          </a:prstGeom>
          <a:noFill/>
          <a:ln/>
        </p:spPr>
        <p:txBody>
          <a:bodyPr wrap="square" lIns="0" tIns="0" rIns="0" bIns="0" rtlCol="0" anchor="ctr"/>
          <a:lstStyle/>
          <a:p>
            <a:pPr indent="0" marL="0">
              <a:buNone/>
            </a:pPr>
            <a:r>
              <a:rPr lang="en-US" sz="1600" b="1" dirty="0">
                <a:solidFill>
                  <a:srgbClr val="0071E3"/>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463040" y="2953512"/>
            <a:ext cx="9921240" cy="731520"/>
          </a:xfrm>
          <a:prstGeom prst="rect">
            <a:avLst/>
          </a:prstGeom>
          <a:noFill/>
          <a:ln/>
        </p:spPr>
        <p:txBody>
          <a:bodyPr wrap="square" lIns="0" tIns="0" rIns="0" bIns="0" rtlCol="0" anchor="t"/>
          <a:lstStyle/>
          <a:p>
            <a:pPr indent="0" marL="0">
              <a:lnSpc>
                <a:spcPct val="105000"/>
              </a:lnSpc>
              <a:buNone/>
            </a:pPr>
            <a:r>
              <a:rPr lang="en-US" sz="1400" b="1" dirty="0">
                <a:solidFill>
                  <a:srgbClr val="1D1D1F"/>
                </a:solidFill>
                <a:latin typeface="Calibri" pitchFamily="34" charset="0"/>
                <a:ea typeface="Calibri" pitchFamily="34" charset="-122"/>
                <a:cs typeface="Calibri" pitchFamily="34" charset="-120"/>
              </a:rPr>
              <a:t>M. Kloft and P. Laskov.</a:t>
            </a:r>
            <a:endParaRPr lang="en-US" sz="1400" dirty="0"/>
          </a:p>
          <a:p>
            <a:pPr indent="0" marL="0">
              <a:lnSpc>
                <a:spcPct val="105000"/>
              </a:lnSpc>
              <a:buNone/>
            </a:pPr>
            <a:r>
              <a:rPr lang="en-US" sz="1400" dirty="0">
                <a:solidFill>
                  <a:srgbClr val="424245"/>
                </a:solidFill>
                <a:latin typeface="Calibri" pitchFamily="34" charset="0"/>
                <a:ea typeface="Calibri" pitchFamily="34" charset="-122"/>
                <a:cs typeface="Calibri" pitchFamily="34" charset="-120"/>
              </a:rPr>
              <a:t>Security Analysis of Online Centroid Anomaly Detection. Journal of Machine Learning Research (JMLR), 2012.</a:t>
            </a:r>
            <a:endParaRPr lang="en-US" sz="1400" dirty="0"/>
          </a:p>
        </p:txBody>
      </p:sp>
      <p:sp>
        <p:nvSpPr>
          <p:cNvPr id="9" name="Text 7"/>
          <p:cNvSpPr txBox="1"/>
          <p:nvPr/>
        </p:nvSpPr>
        <p:spPr>
          <a:xfrm>
            <a:off x="822960" y="3758184"/>
            <a:ext cx="548640" cy="365760"/>
          </a:xfrm>
          <a:prstGeom prst="rect">
            <a:avLst/>
          </a:prstGeom>
          <a:noFill/>
          <a:ln/>
        </p:spPr>
        <p:txBody>
          <a:bodyPr wrap="square" lIns="0" tIns="0" rIns="0" bIns="0" rtlCol="0" anchor="ctr"/>
          <a:lstStyle/>
          <a:p>
            <a:pPr indent="0" marL="0">
              <a:buNone/>
            </a:pPr>
            <a:r>
              <a:rPr lang="en-US" sz="1600" b="1" dirty="0">
                <a:solidFill>
                  <a:srgbClr val="0071E3"/>
                </a:solidFill>
                <a:latin typeface="Calibri" pitchFamily="34" charset="0"/>
                <a:ea typeface="Calibri" pitchFamily="34" charset="-122"/>
                <a:cs typeface="Calibri" pitchFamily="34" charset="-120"/>
              </a:rPr>
              <a:t>[3]</a:t>
            </a:r>
            <a:endParaRPr lang="en-US" sz="1600" dirty="0"/>
          </a:p>
        </p:txBody>
      </p:sp>
      <p:sp>
        <p:nvSpPr>
          <p:cNvPr id="10" name="Text 8"/>
          <p:cNvSpPr txBox="1"/>
          <p:nvPr/>
        </p:nvSpPr>
        <p:spPr>
          <a:xfrm>
            <a:off x="1463040" y="3758184"/>
            <a:ext cx="9921240" cy="731520"/>
          </a:xfrm>
          <a:prstGeom prst="rect">
            <a:avLst/>
          </a:prstGeom>
          <a:noFill/>
          <a:ln/>
        </p:spPr>
        <p:txBody>
          <a:bodyPr wrap="square" lIns="0" tIns="0" rIns="0" bIns="0" rtlCol="0" anchor="t"/>
          <a:lstStyle/>
          <a:p>
            <a:pPr indent="0" marL="0">
              <a:lnSpc>
                <a:spcPct val="105000"/>
              </a:lnSpc>
              <a:buNone/>
            </a:pPr>
            <a:r>
              <a:rPr lang="en-US" sz="1400" b="1" dirty="0">
                <a:solidFill>
                  <a:srgbClr val="1D1D1F"/>
                </a:solidFill>
                <a:latin typeface="Calibri" pitchFamily="34" charset="0"/>
                <a:ea typeface="Calibri" pitchFamily="34" charset="-122"/>
                <a:cs typeface="Calibri" pitchFamily="34" charset="-120"/>
              </a:rPr>
              <a:t>Y. Mirsky, T. Doitshman, Y. Elovici and A. Shabtai.</a:t>
            </a:r>
            <a:endParaRPr lang="en-US" sz="1400" dirty="0"/>
          </a:p>
          <a:p>
            <a:pPr indent="0" marL="0">
              <a:lnSpc>
                <a:spcPct val="105000"/>
              </a:lnSpc>
              <a:buNone/>
            </a:pPr>
            <a:r>
              <a:rPr lang="en-US" sz="1400" dirty="0">
                <a:solidFill>
                  <a:srgbClr val="424245"/>
                </a:solidFill>
                <a:latin typeface="Calibri" pitchFamily="34" charset="0"/>
                <a:ea typeface="Calibri" pitchFamily="34" charset="-122"/>
                <a:cs typeface="Calibri" pitchFamily="34" charset="-120"/>
              </a:rPr>
              <a:t>Kitsune: An Ensemble of Autoencoders for Online Network Intrusion Detection. NDSS, 2018.</a:t>
            </a:r>
            <a:endParaRPr lang="en-US" sz="1400" dirty="0"/>
          </a:p>
        </p:txBody>
      </p:sp>
      <p:sp>
        <p:nvSpPr>
          <p:cNvPr id="11" name="Text 9"/>
          <p:cNvSpPr txBox="1"/>
          <p:nvPr/>
        </p:nvSpPr>
        <p:spPr>
          <a:xfrm>
            <a:off x="822960" y="4562856"/>
            <a:ext cx="548640" cy="365760"/>
          </a:xfrm>
          <a:prstGeom prst="rect">
            <a:avLst/>
          </a:prstGeom>
          <a:noFill/>
          <a:ln/>
        </p:spPr>
        <p:txBody>
          <a:bodyPr wrap="square" lIns="0" tIns="0" rIns="0" bIns="0" rtlCol="0" anchor="ctr"/>
          <a:lstStyle/>
          <a:p>
            <a:pPr indent="0" marL="0">
              <a:buNone/>
            </a:pPr>
            <a:r>
              <a:rPr lang="en-US" sz="1600" b="1" dirty="0">
                <a:solidFill>
                  <a:srgbClr val="0071E3"/>
                </a:solidFill>
                <a:latin typeface="Calibri" pitchFamily="34" charset="0"/>
                <a:ea typeface="Calibri" pitchFamily="34" charset="-122"/>
                <a:cs typeface="Calibri" pitchFamily="34" charset="-120"/>
              </a:rPr>
              <a:t>[4]</a:t>
            </a:r>
            <a:endParaRPr lang="en-US" sz="1600" dirty="0"/>
          </a:p>
        </p:txBody>
      </p:sp>
      <p:sp>
        <p:nvSpPr>
          <p:cNvPr id="12" name="Text 10"/>
          <p:cNvSpPr txBox="1"/>
          <p:nvPr/>
        </p:nvSpPr>
        <p:spPr>
          <a:xfrm>
            <a:off x="1463040" y="4562856"/>
            <a:ext cx="9921240" cy="731520"/>
          </a:xfrm>
          <a:prstGeom prst="rect">
            <a:avLst/>
          </a:prstGeom>
          <a:noFill/>
          <a:ln/>
        </p:spPr>
        <p:txBody>
          <a:bodyPr wrap="square" lIns="0" tIns="0" rIns="0" bIns="0" rtlCol="0" anchor="t"/>
          <a:lstStyle/>
          <a:p>
            <a:pPr indent="0" marL="0">
              <a:lnSpc>
                <a:spcPct val="105000"/>
              </a:lnSpc>
              <a:buNone/>
            </a:pPr>
            <a:r>
              <a:rPr lang="en-US" sz="1400" b="1" dirty="0">
                <a:solidFill>
                  <a:srgbClr val="1D1D1F"/>
                </a:solidFill>
                <a:latin typeface="Calibri" pitchFamily="34" charset="0"/>
                <a:ea typeface="Calibri" pitchFamily="34" charset="-122"/>
                <a:cs typeface="Calibri" pitchFamily="34" charset="-120"/>
              </a:rPr>
              <a:t>Y. Meidan, M. Bohadana, Y. Mathov et al.</a:t>
            </a:r>
            <a:endParaRPr lang="en-US" sz="1400" dirty="0"/>
          </a:p>
          <a:p>
            <a:pPr indent="0" marL="0">
              <a:lnSpc>
                <a:spcPct val="105000"/>
              </a:lnSpc>
              <a:buNone/>
            </a:pPr>
            <a:r>
              <a:rPr lang="en-US" sz="1400" dirty="0">
                <a:solidFill>
                  <a:srgbClr val="424245"/>
                </a:solidFill>
                <a:latin typeface="Calibri" pitchFamily="34" charset="0"/>
                <a:ea typeface="Calibri" pitchFamily="34" charset="-122"/>
                <a:cs typeface="Calibri" pitchFamily="34" charset="-120"/>
              </a:rPr>
              <a:t>N-BaIoT: Network-Based Detection of IoT Botnet Attacks Using Deep Autoencoders. IEEE Pervasive Computing, 2018.</a:t>
            </a:r>
            <a:endParaRPr lang="en-US" sz="1400" dirty="0"/>
          </a:p>
        </p:txBody>
      </p:sp>
      <p:sp>
        <p:nvSpPr>
          <p:cNvPr id="13" name="Text 11"/>
          <p:cNvSpPr txBox="1"/>
          <p:nvPr/>
        </p:nvSpPr>
        <p:spPr>
          <a:xfrm>
            <a:off x="822960" y="5367528"/>
            <a:ext cx="548640" cy="365760"/>
          </a:xfrm>
          <a:prstGeom prst="rect">
            <a:avLst/>
          </a:prstGeom>
          <a:noFill/>
          <a:ln/>
        </p:spPr>
        <p:txBody>
          <a:bodyPr wrap="square" lIns="0" tIns="0" rIns="0" bIns="0" rtlCol="0" anchor="ctr"/>
          <a:lstStyle/>
          <a:p>
            <a:pPr indent="0" marL="0">
              <a:buNone/>
            </a:pPr>
            <a:r>
              <a:rPr lang="en-US" sz="1600" b="1" dirty="0">
                <a:solidFill>
                  <a:srgbClr val="0071E3"/>
                </a:solidFill>
                <a:latin typeface="Calibri" pitchFamily="34" charset="0"/>
                <a:ea typeface="Calibri" pitchFamily="34" charset="-122"/>
                <a:cs typeface="Calibri" pitchFamily="34" charset="-120"/>
              </a:rPr>
              <a:t>[5]</a:t>
            </a:r>
            <a:endParaRPr lang="en-US" sz="1600" dirty="0"/>
          </a:p>
        </p:txBody>
      </p:sp>
      <p:sp>
        <p:nvSpPr>
          <p:cNvPr id="14" name="Text 12"/>
          <p:cNvSpPr txBox="1"/>
          <p:nvPr/>
        </p:nvSpPr>
        <p:spPr>
          <a:xfrm>
            <a:off x="1463040" y="5367528"/>
            <a:ext cx="9921240" cy="731520"/>
          </a:xfrm>
          <a:prstGeom prst="rect">
            <a:avLst/>
          </a:prstGeom>
          <a:noFill/>
          <a:ln/>
        </p:spPr>
        <p:txBody>
          <a:bodyPr wrap="square" lIns="0" tIns="0" rIns="0" bIns="0" rtlCol="0" anchor="t"/>
          <a:lstStyle/>
          <a:p>
            <a:pPr indent="0" marL="0">
              <a:lnSpc>
                <a:spcPct val="105000"/>
              </a:lnSpc>
              <a:buNone/>
            </a:pPr>
            <a:r>
              <a:rPr lang="en-US" sz="1400" b="1" dirty="0">
                <a:solidFill>
                  <a:srgbClr val="1D1D1F"/>
                </a:solidFill>
                <a:latin typeface="Calibri" pitchFamily="34" charset="0"/>
                <a:ea typeface="Calibri" pitchFamily="34" charset="-122"/>
                <a:cs typeface="Calibri" pitchFamily="34" charset="-120"/>
              </a:rPr>
              <a:t>J. Koumar, K. Hynek, T. Čejka and P. Šiška.</a:t>
            </a:r>
            <a:endParaRPr lang="en-US" sz="1400" dirty="0"/>
          </a:p>
          <a:p>
            <a:pPr indent="0" marL="0">
              <a:lnSpc>
                <a:spcPct val="105000"/>
              </a:lnSpc>
              <a:buNone/>
            </a:pPr>
            <a:r>
              <a:rPr lang="en-US" sz="1400" dirty="0">
                <a:solidFill>
                  <a:srgbClr val="424245"/>
                </a:solidFill>
                <a:latin typeface="Calibri" pitchFamily="34" charset="0"/>
                <a:ea typeface="Calibri" pitchFamily="34" charset="-122"/>
                <a:cs typeface="Calibri" pitchFamily="34" charset="-120"/>
              </a:rPr>
              <a:t>CESNET-TimeSeries24: Time Series Dataset for Network Traffic Anomaly Detection and Forecasting. Scientific Data, 2025.</a:t>
            </a:r>
            <a:endParaRPr lang="en-US" sz="1400" dirty="0"/>
          </a:p>
        </p:txBody>
      </p:sp>
      <p:sp>
        <p:nvSpPr>
          <p:cNvPr id="15" name="Text 13"/>
          <p:cNvSpPr txBox="1"/>
          <p:nvPr/>
        </p:nvSpPr>
        <p:spPr>
          <a:xfrm>
            <a:off x="822960" y="6327648"/>
            <a:ext cx="10058400" cy="274320"/>
          </a:xfrm>
          <a:prstGeom prst="rect">
            <a:avLst/>
          </a:prstGeom>
          <a:noFill/>
          <a:ln/>
        </p:spPr>
        <p:txBody>
          <a:bodyPr wrap="square" lIns="0" tIns="0" rIns="0" bIns="0" rtlCol="0" anchor="ctr"/>
          <a:lstStyle/>
          <a:p>
            <a:pPr indent="0" marL="0">
              <a:buNone/>
            </a:pPr>
            <a:r>
              <a:rPr lang="en-US" sz="1000" i="1" dirty="0">
                <a:solidFill>
                  <a:srgbClr val="86868B"/>
                </a:solidFill>
                <a:latin typeface="Calibri" pitchFamily="34" charset="0"/>
                <a:ea typeface="Calibri" pitchFamily="34" charset="-122"/>
                <a:cs typeface="Calibri" pitchFamily="34" charset="-120"/>
              </a:rPr>
              <a:t>Simulation code and our full literature review: github.com/IOT-snu/brainstorming</a:t>
            </a:r>
            <a:endParaRPr lang="en-US" sz="1000" dirty="0"/>
          </a:p>
        </p:txBody>
      </p:sp>
      <p:sp>
        <p:nvSpPr>
          <p:cNvPr id="16" name="Text 14"/>
          <p:cNvSpPr txBox="1"/>
          <p:nvPr/>
        </p:nvSpPr>
        <p:spPr>
          <a:xfrm>
            <a:off x="11064240" y="6327648"/>
            <a:ext cx="365760" cy="274320"/>
          </a:xfrm>
          <a:prstGeom prst="rect">
            <a:avLst/>
          </a:prstGeom>
          <a:noFill/>
          <a:ln/>
        </p:spPr>
        <p:txBody>
          <a:bodyPr wrap="square" lIns="0" tIns="0" rIns="0" bIns="0" rtlCol="0" anchor="ctr"/>
          <a:lstStyle/>
          <a:p>
            <a:pPr algn="r" indent="0" marL="0">
              <a:buNone/>
            </a:pPr>
            <a:r>
              <a:rPr lang="en-US" sz="1000" dirty="0">
                <a:solidFill>
                  <a:srgbClr val="C7C7C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2026-09-24T12:31:40Z</dcterms:created>
  <dcterms:modified xsi:type="dcterms:W3CDTF">2026-09-24T12:31:40Z</dcterms:modified>
</cp:coreProperties>
</file>