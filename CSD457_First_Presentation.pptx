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One sentence: our detector updates itself to stay accurate, and we make sure an attacker cannot abuse those updates. Whole talk is about 7 minutes, leaving 3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Say the title sentence, then the three steps. Everything after this slide supports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Three beats: on-device is right, it must keep learning, learning can be abused.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One line per paper, and read the red column: server only, theory only, no defense, no drift, never used for this. That column is our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Say the credit line out loud. It shows we read deeply and narrows our claim to something we can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RQ1 is the method, RQ2 is the new attack, RQ3 is real exposure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One line: honest drift can go anywhere, poisoning has to go toward the attack. So we ration only that direction. On an ESP32 it is a few dot products per update. If asked whether it needs attack signatures: this slide shows the version that uses them for known attacks like Mirai. We also built a signature-free version: it learns only from the dense core of traffic and accepts a change only if the whole traffic cloud moves with it, because honest drift moves everything while poison moves one part. On real N-BaIoT doorbell traffic it kept 100 percent detection of Mirai scan, ack and syn against both a normal attacker and a smart attacker who knows the defense, with 0.2 to 1.5 percent false alarms. Its open weakness is an attack hidden inside strong genuine drift, so our plan combines both: signature-free by default, signatures as a guaranteed floor for the most important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Finding 1 killed our first idea. Finding 2 is new and broke our own earlier design. Finding 3 is why this matters for IoT.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We compare against doing nothing, against naive learning, and against every kind of defense, including the 2009 classic.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Say the chart is synthetic, then give the real N-BaIoT numbers in the caption: poisoned at only 10 percent share, ours 100 percent detection. Left: red is naive learning, poisoned in 24 cycles. Middle: freezing defenses keep the attack visible but false alarms explode once drift starts. Right: the attacker leaves at cycle 45 and the frozen defense never recovers. Blue is ours everywhere. Next: the same experiment on N-BaIoT and the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then questions. Is this just ANTIDOTE? No: ANTIDOTE retrains a PCA model on a server in batches; ours learns continuously on a microcontroller and never freezes. Does it need attack signatures? No: a signature-free version already beats both a normal and a smart attacker on real N-BaIoT traffic; signatures are an optional extra floor for key attacks. Its open weakness is an attack hidden inside strong genuine drift. Honest drift toward an attack? In simulation false alarms peaked near 7 percent, then recovered. Is the simulation real data? No, real data by mid-review.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Leave it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86868B"/>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86868B"/>
                </a:solidFill>
                <a:latin typeface="Calibri" pitchFamily="34" charset="0"/>
                <a:ea typeface="Calibri" pitchFamily="34" charset="-122"/>
                <a:cs typeface="Calibri" pitchFamily="34" charset="-120"/>
              </a:rPr>
              <a:t>CSD457  ·  INTERNET OF THINGS  ·  GROUP G-04</a:t>
            </a:r>
            <a:endParaRPr lang="en-US" sz="1250" dirty="0"/>
          </a:p>
        </p:txBody>
      </p:sp>
      <p:sp>
        <p:nvSpPr>
          <p:cNvPr id="4" name="Text 2"/>
          <p:cNvSpPr txBox="1"/>
          <p:nvPr/>
        </p:nvSpPr>
        <p:spPr>
          <a:xfrm>
            <a:off x="822960" y="1920240"/>
            <a:ext cx="10515600" cy="2011680"/>
          </a:xfrm>
          <a:prstGeom prst="rect">
            <a:avLst/>
          </a:prstGeom>
          <a:noFill/>
          <a:ln/>
        </p:spPr>
        <p:txBody>
          <a:bodyPr wrap="square" lIns="0" tIns="0" rIns="0" bIns="0" rtlCol="0" anchor="ctr"/>
          <a:lstStyle/>
          <a:p>
            <a:pPr indent="0" marL="0">
              <a:lnSpc>
                <a:spcPct val="103000"/>
              </a:lnSpc>
              <a:buNone/>
            </a:pPr>
            <a:r>
              <a:rPr lang="en-US" sz="4400" b="1" dirty="0">
                <a:solidFill>
                  <a:srgbClr val="0071E3"/>
                </a:solidFill>
                <a:latin typeface="Calibri" pitchFamily="34" charset="0"/>
                <a:ea typeface="Calibri" pitchFamily="34" charset="-122"/>
                <a:cs typeface="Calibri" pitchFamily="34" charset="-120"/>
              </a:rPr>
              <a:t>Poison-Resilient </a:t>
            </a:r>
            <a:pPr indent="0" marL="0">
              <a:lnSpc>
                <a:spcPct val="103000"/>
              </a:lnSpc>
              <a:buNone/>
            </a:pPr>
            <a:r>
              <a:rPr lang="en-US" sz="4400" b="1" dirty="0">
                <a:solidFill>
                  <a:srgbClr val="FFFFFF"/>
                </a:solidFill>
                <a:latin typeface="Calibri" pitchFamily="34" charset="0"/>
                <a:ea typeface="Calibri" pitchFamily="34" charset="-122"/>
                <a:cs typeface="Calibri" pitchFamily="34" charset="-120"/>
              </a:rPr>
              <a:t>On-Device Intrusion Detection for Drifting IoT</a:t>
            </a:r>
            <a:endParaRPr lang="en-US" sz="4400" dirty="0"/>
          </a:p>
        </p:txBody>
      </p:sp>
      <p:sp>
        <p:nvSpPr>
          <p:cNvPr id="5" name="Text 3"/>
          <p:cNvSpPr txBox="1"/>
          <p:nvPr/>
        </p:nvSpPr>
        <p:spPr>
          <a:xfrm>
            <a:off x="822960" y="4114800"/>
            <a:ext cx="9966960" cy="822960"/>
          </a:xfrm>
          <a:prstGeom prst="rect">
            <a:avLst/>
          </a:prstGeom>
          <a:noFill/>
          <a:ln/>
        </p:spPr>
        <p:txBody>
          <a:bodyPr wrap="square" lIns="0" tIns="0" rIns="0" bIns="0" rtlCol="0" anchor="ctr"/>
          <a:lstStyle/>
          <a:p>
            <a:pPr indent="0" marL="0">
              <a:lnSpc>
                <a:spcPct val="110000"/>
              </a:lnSpc>
              <a:buNone/>
            </a:pPr>
            <a:r>
              <a:rPr lang="en-US" sz="1800" dirty="0">
                <a:solidFill>
                  <a:srgbClr val="C7C7CC"/>
                </a:solidFill>
                <a:latin typeface="Calibri" pitchFamily="34" charset="0"/>
                <a:ea typeface="Calibri" pitchFamily="34" charset="-122"/>
                <a:cs typeface="Calibri" pitchFamily="34" charset="-120"/>
              </a:rPr>
              <a:t>A self-updating detector on an ESP32 that checks its own updates, so an attacker cannot slowly teach it that attacks are normal.</a:t>
            </a:r>
            <a:endParaRPr lang="en-US" sz="1800" dirty="0"/>
          </a:p>
        </p:txBody>
      </p:sp>
      <p:sp>
        <p:nvSpPr>
          <p:cNvPr id="6" name="Text 4"/>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First Presentation, Proposal</a:t>
            </a:r>
            <a:pPr indent="0" marL="0">
              <a:buNone/>
            </a:pPr>
            <a:r>
              <a:rPr lang="en-US" sz="1300" dirty="0">
                <a:solidFill>
                  <a:srgbClr val="86868B"/>
                </a:solidFill>
                <a:latin typeface="Calibri" pitchFamily="34" charset="0"/>
                <a:ea typeface="Calibri" pitchFamily="34" charset="-122"/>
                <a:cs typeface="Calibri" pitchFamily="34" charset="-120"/>
              </a:rPr>
              <a:t>        Rishit Kamboj and Farhan Naik        24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WHAT WE WILL RESEARCH</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700" b="1" dirty="0">
                <a:solidFill>
                  <a:srgbClr val="1D1D1F"/>
                </a:solidFill>
                <a:latin typeface="Calibri" pitchFamily="34" charset="0"/>
                <a:ea typeface="Calibri" pitchFamily="34" charset="-122"/>
                <a:cs typeface="Calibri" pitchFamily="34" charset="-120"/>
              </a:rPr>
              <a:t>An IoT intrusion detector that keeps learning on an ESP32, and cannot be taught to ignore attacks.</a:t>
            </a:r>
            <a:endParaRPr lang="en-US" sz="2700" dirty="0"/>
          </a:p>
        </p:txBody>
      </p:sp>
      <p:sp>
        <p:nvSpPr>
          <p:cNvPr id="5" name="Shape 3"/>
          <p:cNvSpPr/>
          <p:nvPr/>
        </p:nvSpPr>
        <p:spPr>
          <a:xfrm>
            <a:off x="822960" y="2331720"/>
            <a:ext cx="3337560" cy="2651760"/>
          </a:xfrm>
          <a:prstGeom prst="roundRect">
            <a:avLst>
              <a:gd name="adj" fmla="val 4138"/>
            </a:avLst>
          </a:prstGeom>
          <a:solidFill>
            <a:srgbClr val="F5F5F7"/>
          </a:solidFill>
          <a:ln/>
        </p:spPr>
      </p:sp>
      <p:sp>
        <p:nvSpPr>
          <p:cNvPr id="6" name="Text 4"/>
          <p:cNvSpPr txBox="1"/>
          <p:nvPr/>
        </p:nvSpPr>
        <p:spPr>
          <a:xfrm>
            <a:off x="1097280" y="256032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097280" y="3154680"/>
            <a:ext cx="278892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Measure the risk</a:t>
            </a:r>
            <a:endParaRPr lang="en-US" sz="1800" dirty="0"/>
          </a:p>
        </p:txBody>
      </p:sp>
      <p:sp>
        <p:nvSpPr>
          <p:cNvPr id="8" name="Text 6"/>
          <p:cNvSpPr txBox="1"/>
          <p:nvPr/>
        </p:nvSpPr>
        <p:spPr>
          <a:xfrm>
            <a:off x="1097280" y="3584448"/>
            <a:ext cx="2788920" cy="100584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Show how easily real, low-traffic IoT devices can be poisoned when their detector learns on the fly.</a:t>
            </a:r>
            <a:endParaRPr lang="en-US" sz="1400" dirty="0"/>
          </a:p>
        </p:txBody>
      </p:sp>
      <p:sp>
        <p:nvSpPr>
          <p:cNvPr id="9" name="Text 7"/>
          <p:cNvSpPr txBox="1"/>
          <p:nvPr/>
        </p:nvSpPr>
        <p:spPr>
          <a:xfrm>
            <a:off x="1097280" y="4617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[2, 4]</a:t>
            </a:r>
            <a:endParaRPr lang="en-US" sz="1100" dirty="0"/>
          </a:p>
        </p:txBody>
      </p:sp>
      <p:sp>
        <p:nvSpPr>
          <p:cNvPr id="10" name="Shape 8"/>
          <p:cNvSpPr/>
          <p:nvPr/>
        </p:nvSpPr>
        <p:spPr>
          <a:xfrm>
            <a:off x="4434840" y="2331720"/>
            <a:ext cx="3337560" cy="2651760"/>
          </a:xfrm>
          <a:prstGeom prst="roundRect">
            <a:avLst>
              <a:gd name="adj" fmla="val 4138"/>
            </a:avLst>
          </a:prstGeom>
          <a:solidFill>
            <a:srgbClr val="F5F5F7"/>
          </a:solidFill>
          <a:ln/>
        </p:spPr>
      </p:sp>
      <p:sp>
        <p:nvSpPr>
          <p:cNvPr id="11" name="Text 9"/>
          <p:cNvSpPr txBox="1"/>
          <p:nvPr/>
        </p:nvSpPr>
        <p:spPr>
          <a:xfrm>
            <a:off x="4709160" y="256032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4709160" y="3154680"/>
            <a:ext cx="278892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Build the defense</a:t>
            </a:r>
            <a:endParaRPr lang="en-US" sz="1800" dirty="0"/>
          </a:p>
        </p:txBody>
      </p:sp>
      <p:sp>
        <p:nvSpPr>
          <p:cNvPr id="13" name="Text 11"/>
          <p:cNvSpPr txBox="1"/>
          <p:nvPr/>
        </p:nvSpPr>
        <p:spPr>
          <a:xfrm>
            <a:off x="4709160" y="3584448"/>
            <a:ext cx="2788920" cy="100584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Threat-Orthogonal Adaptation: learn honest change freely, and ration only the change that moves toward a known attack.</a:t>
            </a:r>
            <a:endParaRPr lang="en-US" sz="1400" dirty="0"/>
          </a:p>
        </p:txBody>
      </p:sp>
      <p:sp>
        <p:nvSpPr>
          <p:cNvPr id="14" name="Text 12"/>
          <p:cNvSpPr txBox="1"/>
          <p:nvPr/>
        </p:nvSpPr>
        <p:spPr>
          <a:xfrm>
            <a:off x="4709160" y="4617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[1, 5]</a:t>
            </a:r>
            <a:endParaRPr lang="en-US" sz="1100" dirty="0"/>
          </a:p>
        </p:txBody>
      </p:sp>
      <p:sp>
        <p:nvSpPr>
          <p:cNvPr id="15" name="Shape 13"/>
          <p:cNvSpPr/>
          <p:nvPr/>
        </p:nvSpPr>
        <p:spPr>
          <a:xfrm>
            <a:off x="8046720" y="2331720"/>
            <a:ext cx="3337560" cy="2651760"/>
          </a:xfrm>
          <a:prstGeom prst="roundRect">
            <a:avLst>
              <a:gd name="adj" fmla="val 4138"/>
            </a:avLst>
          </a:prstGeom>
          <a:solidFill>
            <a:srgbClr val="F5F5F7"/>
          </a:solidFill>
          <a:ln/>
        </p:spPr>
      </p:sp>
      <p:sp>
        <p:nvSpPr>
          <p:cNvPr id="16" name="Text 14"/>
          <p:cNvSpPr txBox="1"/>
          <p:nvPr/>
        </p:nvSpPr>
        <p:spPr>
          <a:xfrm>
            <a:off x="8321040" y="256032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8321040" y="3154680"/>
            <a:ext cx="278892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Prove it for real</a:t>
            </a:r>
            <a:endParaRPr lang="en-US" sz="1800" dirty="0"/>
          </a:p>
        </p:txBody>
      </p:sp>
      <p:sp>
        <p:nvSpPr>
          <p:cNvPr id="18" name="Text 16"/>
          <p:cNvSpPr txBox="1"/>
          <p:nvPr/>
        </p:nvSpPr>
        <p:spPr>
          <a:xfrm>
            <a:off x="8321040" y="3584448"/>
            <a:ext cx="2788920" cy="100584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Test on real IoT traffic and real long-term drift, then run it on an ESP32 and measure memory, speed and energy.</a:t>
            </a:r>
            <a:endParaRPr lang="en-US" sz="1400" dirty="0"/>
          </a:p>
        </p:txBody>
      </p:sp>
      <p:sp>
        <p:nvSpPr>
          <p:cNvPr id="19" name="Text 17"/>
          <p:cNvSpPr txBox="1"/>
          <p:nvPr/>
        </p:nvSpPr>
        <p:spPr>
          <a:xfrm>
            <a:off x="8321040" y="4617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[3, 4, 5]</a:t>
            </a:r>
            <a:endParaRPr lang="en-US" sz="1100" dirty="0"/>
          </a:p>
        </p:txBody>
      </p:sp>
      <p:sp>
        <p:nvSpPr>
          <p:cNvPr id="20" name="Text 18"/>
          <p:cNvSpPr txBox="1"/>
          <p:nvPr/>
        </p:nvSpPr>
        <p:spPr>
          <a:xfrm>
            <a:off x="822960" y="5303520"/>
            <a:ext cx="10561320" cy="411480"/>
          </a:xfrm>
          <a:prstGeom prst="rect">
            <a:avLst/>
          </a:prstGeom>
          <a:noFill/>
          <a:ln/>
        </p:spPr>
        <p:txBody>
          <a:bodyPr wrap="square" lIns="0" tIns="0" rIns="0" bIns="0" rtlCol="0" anchor="ctr"/>
          <a:lstStyle/>
          <a:p>
            <a:pPr indent="0" marL="0">
              <a:buNone/>
            </a:pPr>
            <a:r>
              <a:rPr lang="en-US" sz="1600" b="1" dirty="0">
                <a:solidFill>
                  <a:srgbClr val="1D1D1F"/>
                </a:solidFill>
                <a:latin typeface="Calibri" pitchFamily="34" charset="0"/>
                <a:ea typeface="Calibri" pitchFamily="34" charset="-122"/>
                <a:cs typeface="Calibri" pitchFamily="34" charset="-120"/>
              </a:rPr>
              <a:t>What we deliver:  </a:t>
            </a:r>
            <a:pPr indent="0" marL="0">
              <a:buNone/>
            </a:pPr>
            <a:r>
              <a:rPr lang="en-US" sz="1600" dirty="0">
                <a:solidFill>
                  <a:srgbClr val="424245"/>
                </a:solidFill>
                <a:latin typeface="Calibri" pitchFamily="34" charset="0"/>
                <a:ea typeface="Calibri" pitchFamily="34" charset="-122"/>
                <a:cs typeface="Calibri" pitchFamily="34" charset="-120"/>
              </a:rPr>
              <a:t>a working ESP32 detector, a new attack on existing defenses, and results on real data.</a:t>
            </a:r>
            <a:endParaRPr lang="en-US" sz="1600" dirty="0"/>
          </a:p>
        </p:txBody>
      </p:sp>
      <p:sp>
        <p:nvSpPr>
          <p:cNvPr id="21" name="Text 19"/>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ANTIDOTE, IMC 2009  ·  [2] Kloft and Laskov, JMLR 2012  ·  [3] Kitsune, NDSS 2018  ·  [4] N-BaIoT, 2018  ·  [5] CESNET-TS24, 2025</a:t>
            </a:r>
            <a:endParaRPr lang="en-US" sz="1000" dirty="0"/>
          </a:p>
        </p:txBody>
      </p:sp>
      <p:sp>
        <p:nvSpPr>
          <p:cNvPr id="22" name="Text 20"/>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PROBLEM STATEMENT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3000" b="1" dirty="0">
                <a:solidFill>
                  <a:srgbClr val="1D1D1F"/>
                </a:solidFill>
                <a:latin typeface="Calibri" pitchFamily="34" charset="0"/>
                <a:ea typeface="Calibri" pitchFamily="34" charset="-122"/>
                <a:cs typeface="Calibri" pitchFamily="34" charset="-120"/>
              </a:rPr>
              <a:t>A detector that learns on the device can be taught to be blind.</a:t>
            </a:r>
            <a:endParaRPr lang="en-US" sz="3000" dirty="0"/>
          </a:p>
        </p:txBody>
      </p:sp>
      <p:sp>
        <p:nvSpPr>
          <p:cNvPr id="5" name="Text 3"/>
          <p:cNvSpPr txBox="1"/>
          <p:nvPr/>
        </p:nvSpPr>
        <p:spPr>
          <a:xfrm>
            <a:off x="822960" y="242316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554480" y="240487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Detection belongs on the device.</a:t>
            </a:r>
            <a:endParaRPr lang="en-US" sz="1800" dirty="0"/>
          </a:p>
        </p:txBody>
      </p:sp>
      <p:sp>
        <p:nvSpPr>
          <p:cNvPr id="7" name="Text 5"/>
          <p:cNvSpPr txBox="1"/>
          <p:nvPr/>
        </p:nvSpPr>
        <p:spPr>
          <a:xfrm>
            <a:off x="1554480" y="277063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An online anomaly detector can run on small, cheap hardware close to the traffic it protects [3].</a:t>
            </a:r>
            <a:endParaRPr lang="en-US" sz="1500" dirty="0"/>
          </a:p>
        </p:txBody>
      </p:sp>
      <p:sp>
        <p:nvSpPr>
          <p:cNvPr id="8" name="Text 6"/>
          <p:cNvSpPr txBox="1"/>
          <p:nvPr/>
        </p:nvSpPr>
        <p:spPr>
          <a:xfrm>
            <a:off x="822960" y="361188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554480" y="359359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But normal traffic keeps changing.</a:t>
            </a:r>
            <a:endParaRPr lang="en-US" sz="1800" dirty="0"/>
          </a:p>
        </p:txBody>
      </p:sp>
      <p:sp>
        <p:nvSpPr>
          <p:cNvPr id="10" name="Text 8"/>
          <p:cNvSpPr txBox="1"/>
          <p:nvPr/>
        </p:nvSpPr>
        <p:spPr>
          <a:xfrm>
            <a:off x="1554480" y="395935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Real networks drift for weeks, with volume down 52% at semester end [5]. A frozen detector goes stale, so it has to keep learning.</a:t>
            </a:r>
            <a:endParaRPr lang="en-US" sz="1500" dirty="0"/>
          </a:p>
        </p:txBody>
      </p:sp>
      <p:sp>
        <p:nvSpPr>
          <p:cNvPr id="11" name="Text 9"/>
          <p:cNvSpPr txBox="1"/>
          <p:nvPr/>
        </p:nvSpPr>
        <p:spPr>
          <a:xfrm>
            <a:off x="822960" y="480060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554480" y="478231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And learning is the weak point.</a:t>
            </a:r>
            <a:endParaRPr lang="en-US" sz="1800" dirty="0"/>
          </a:p>
        </p:txBody>
      </p:sp>
      <p:sp>
        <p:nvSpPr>
          <p:cNvPr id="13" name="Text 11"/>
          <p:cNvSpPr txBox="1"/>
          <p:nvPr/>
        </p:nvSpPr>
        <p:spPr>
          <a:xfrm>
            <a:off x="1554480" y="514807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An attacker can feed it slow, harmless-looking changes until an attack looks normal [1]. The larger the attacker's share of traffic, the easier this gets [2].</a:t>
            </a:r>
            <a:endParaRPr lang="en-US" sz="15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[2] JMLR 2012  ·  [3] NDSS 2018  ·  [5] Scientific Data 2025</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EXISTING WORK  ·  THE 5 PAPERS WE BUILD ON</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Each paper gives us one piece. None puts them together.</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194560"/>
          <a:ext cx="10561320" cy="914400"/>
        </p:xfrm>
        <a:graphic>
          <a:graphicData uri="http://schemas.openxmlformats.org/drawingml/2006/table">
            <a:tbl>
              <a:tblPr/>
              <a:tblGrid>
                <a:gridCol w="2011680"/>
                <a:gridCol w="1737360"/>
                <a:gridCol w="3429000"/>
                <a:gridCol w="3383280"/>
              </a:tblGrid>
              <a:tr h="384048">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PAPER</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VENUE</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SHOWS</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LEAVES OPEN</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ANTIDOTE [1]</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ACM IMC 2009</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Boiling-frog poisoning works; robust PCA resists it</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Server-side batch retraining, not on a device</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Kloft and Laskov [2]</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JMLR 2012</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Poisoning power grows with the attacker's traffic share</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Theory only, never tested on low-traffic IoT</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Kitsune [3]</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NDSS 2018</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Online anomaly IDS light enough for small devices</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Stops learning after training; no poisoning defense</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N-BaIoT [4]</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IEEE Perv. Comp. 2018</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Real traffic from 9 IoT devices, including Mirai</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Offline detection; no drift, no poisoning</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CESNET-TS24 [5]</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Sci. Data 2025</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40 weeks of real traffic drift from 50 institutions</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A dataset; nobody has used it to test poisoning defenses</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bl>
          </a:graphicData>
        </a:graphic>
      </p:graphicFrame>
      <p:sp>
        <p:nvSpPr>
          <p:cNvPr id="6" name="Text 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Chosen from 78 papers found and 28 read in full. Full citations on the last slide.</a:t>
            </a:r>
            <a:endParaRPr lang="en-US" sz="1000" dirty="0"/>
          </a:p>
        </p:txBody>
      </p:sp>
      <p:sp>
        <p:nvSpPr>
          <p:cNvPr id="7" name="Text 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GAP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Nothing keeps learning safely on a device.</a:t>
            </a:r>
            <a:endParaRPr lang="en-US" sz="2800" dirty="0"/>
          </a:p>
        </p:txBody>
      </p:sp>
      <p:sp>
        <p:nvSpPr>
          <p:cNvPr id="5" name="Shape 3"/>
          <p:cNvSpPr/>
          <p:nvPr/>
        </p:nvSpPr>
        <p:spPr>
          <a:xfrm>
            <a:off x="822960" y="2240280"/>
            <a:ext cx="3337560" cy="1600200"/>
          </a:xfrm>
          <a:prstGeom prst="roundRect">
            <a:avLst>
              <a:gd name="adj" fmla="val 6857"/>
            </a:avLst>
          </a:prstGeom>
          <a:solidFill>
            <a:srgbClr val="F5F5F7"/>
          </a:solidFill>
          <a:ln/>
        </p:spPr>
      </p:sp>
      <p:sp>
        <p:nvSpPr>
          <p:cNvPr id="6" name="Text 4"/>
          <p:cNvSpPr txBox="1"/>
          <p:nvPr/>
        </p:nvSpPr>
        <p:spPr>
          <a:xfrm>
            <a:off x="109728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On-device detectors</a:t>
            </a:r>
            <a:endParaRPr lang="en-US" sz="1700" dirty="0"/>
          </a:p>
        </p:txBody>
      </p:sp>
      <p:sp>
        <p:nvSpPr>
          <p:cNvPr id="7" name="Text 5"/>
          <p:cNvSpPr txBox="1"/>
          <p:nvPr/>
        </p:nvSpPr>
        <p:spPr>
          <a:xfrm>
            <a:off x="109728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Run on small hardware, but stop learning, so they go stale</a:t>
            </a:r>
            <a:endParaRPr lang="en-US" sz="1400" dirty="0"/>
          </a:p>
        </p:txBody>
      </p:sp>
      <p:sp>
        <p:nvSpPr>
          <p:cNvPr id="8" name="Text 6"/>
          <p:cNvSpPr txBox="1"/>
          <p:nvPr/>
        </p:nvSpPr>
        <p:spPr>
          <a:xfrm>
            <a:off x="109728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[3]</a:t>
            </a:r>
            <a:endParaRPr lang="en-US" sz="1100" dirty="0"/>
          </a:p>
        </p:txBody>
      </p:sp>
      <p:sp>
        <p:nvSpPr>
          <p:cNvPr id="9" name="Shape 7"/>
          <p:cNvSpPr/>
          <p:nvPr/>
        </p:nvSpPr>
        <p:spPr>
          <a:xfrm>
            <a:off x="4434840" y="2240280"/>
            <a:ext cx="3337560" cy="1600200"/>
          </a:xfrm>
          <a:prstGeom prst="roundRect">
            <a:avLst>
              <a:gd name="adj" fmla="val 6857"/>
            </a:avLst>
          </a:prstGeom>
          <a:solidFill>
            <a:srgbClr val="F5F5F7"/>
          </a:solidFill>
          <a:ln/>
        </p:spPr>
      </p:sp>
      <p:sp>
        <p:nvSpPr>
          <p:cNvPr id="10" name="Text 8"/>
          <p:cNvSpPr txBox="1"/>
          <p:nvPr/>
        </p:nvSpPr>
        <p:spPr>
          <a:xfrm>
            <a:off x="470916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Real drift</a:t>
            </a:r>
            <a:endParaRPr lang="en-US" sz="1700" dirty="0"/>
          </a:p>
        </p:txBody>
      </p:sp>
      <p:sp>
        <p:nvSpPr>
          <p:cNvPr id="11" name="Text 9"/>
          <p:cNvSpPr txBox="1"/>
          <p:nvPr/>
        </p:nvSpPr>
        <p:spPr>
          <a:xfrm>
            <a:off x="470916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Normal traffic changes for weeks, so learning cannot stop</a:t>
            </a:r>
            <a:endParaRPr lang="en-US" sz="1400" dirty="0"/>
          </a:p>
        </p:txBody>
      </p:sp>
      <p:sp>
        <p:nvSpPr>
          <p:cNvPr id="12" name="Text 10"/>
          <p:cNvSpPr txBox="1"/>
          <p:nvPr/>
        </p:nvSpPr>
        <p:spPr>
          <a:xfrm>
            <a:off x="470916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[5]</a:t>
            </a:r>
            <a:endParaRPr lang="en-US" sz="1100" dirty="0"/>
          </a:p>
        </p:txBody>
      </p:sp>
      <p:sp>
        <p:nvSpPr>
          <p:cNvPr id="13" name="Shape 11"/>
          <p:cNvSpPr/>
          <p:nvPr/>
        </p:nvSpPr>
        <p:spPr>
          <a:xfrm>
            <a:off x="8046720" y="2240280"/>
            <a:ext cx="3337560" cy="1600200"/>
          </a:xfrm>
          <a:prstGeom prst="roundRect">
            <a:avLst>
              <a:gd name="adj" fmla="val 6857"/>
            </a:avLst>
          </a:prstGeom>
          <a:solidFill>
            <a:srgbClr val="F5F5F7"/>
          </a:solidFill>
          <a:ln/>
        </p:spPr>
      </p:sp>
      <p:sp>
        <p:nvSpPr>
          <p:cNvPr id="14" name="Text 12"/>
          <p:cNvSpPr txBox="1"/>
          <p:nvPr/>
        </p:nvSpPr>
        <p:spPr>
          <a:xfrm>
            <a:off x="832104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Existing defense</a:t>
            </a:r>
            <a:endParaRPr lang="en-US" sz="1700" dirty="0"/>
          </a:p>
        </p:txBody>
      </p:sp>
      <p:sp>
        <p:nvSpPr>
          <p:cNvPr id="15" name="Text 13"/>
          <p:cNvSpPr txBox="1"/>
          <p:nvPr/>
        </p:nvSpPr>
        <p:spPr>
          <a:xfrm>
            <a:off x="832104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Resists poisoning, but on a server with batch retraining</a:t>
            </a:r>
            <a:endParaRPr lang="en-US" sz="1400" dirty="0"/>
          </a:p>
        </p:txBody>
      </p:sp>
      <p:sp>
        <p:nvSpPr>
          <p:cNvPr id="16" name="Text 14"/>
          <p:cNvSpPr txBox="1"/>
          <p:nvPr/>
        </p:nvSpPr>
        <p:spPr>
          <a:xfrm>
            <a:off x="832104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822960" y="4069080"/>
            <a:ext cx="10561320" cy="2011680"/>
          </a:xfrm>
          <a:prstGeom prst="roundRect">
            <a:avLst>
              <a:gd name="adj" fmla="val 5455"/>
            </a:avLst>
          </a:prstGeom>
          <a:solidFill>
            <a:srgbClr val="1D1D1F"/>
          </a:solidFill>
          <a:ln/>
        </p:spPr>
      </p:sp>
      <p:sp>
        <p:nvSpPr>
          <p:cNvPr id="18" name="Text 16"/>
          <p:cNvSpPr txBox="1"/>
          <p:nvPr/>
        </p:nvSpPr>
        <p:spPr>
          <a:xfrm>
            <a:off x="1188720" y="4297680"/>
            <a:ext cx="4572000" cy="274320"/>
          </a:xfrm>
          <a:prstGeom prst="rect">
            <a:avLst/>
          </a:prstGeom>
          <a:noFill/>
          <a:ln/>
        </p:spPr>
        <p:txBody>
          <a:bodyPr wrap="square" lIns="0" tIns="0" rIns="0" bIns="0" rtlCol="0" anchor="ctr"/>
          <a:lstStyle/>
          <a:p>
            <a:pPr indent="0" marL="0">
              <a:buNone/>
            </a:pPr>
            <a:r>
              <a:rPr lang="en-US" sz="1200" b="1" spc="200" kern="0" dirty="0">
                <a:solidFill>
                  <a:srgbClr val="0071E3"/>
                </a:solidFill>
                <a:latin typeface="Calibri" pitchFamily="34" charset="0"/>
                <a:ea typeface="Calibri" pitchFamily="34" charset="-122"/>
                <a:cs typeface="Calibri" pitchFamily="34" charset="-120"/>
              </a:rPr>
              <a:t>THE GAP WE FILL</a:t>
            </a:r>
            <a:endParaRPr lang="en-US" sz="1200" dirty="0"/>
          </a:p>
        </p:txBody>
      </p:sp>
      <p:sp>
        <p:nvSpPr>
          <p:cNvPr id="19" name="Text 17"/>
          <p:cNvSpPr txBox="1"/>
          <p:nvPr/>
        </p:nvSpPr>
        <p:spPr>
          <a:xfrm>
            <a:off x="1188720" y="4590288"/>
            <a:ext cx="9875520" cy="731520"/>
          </a:xfrm>
          <a:prstGeom prst="rect">
            <a:avLst/>
          </a:prstGeom>
          <a:noFill/>
          <a:ln/>
        </p:spPr>
        <p:txBody>
          <a:bodyPr wrap="square" lIns="0" tIns="0" rIns="0" bIns="0" rtlCol="0" anchor="t"/>
          <a:lstStyle/>
          <a:p>
            <a:pPr indent="0" marL="0">
              <a:lnSpc>
                <a:spcPct val="108000"/>
              </a:lnSpc>
              <a:buNone/>
            </a:pPr>
            <a:r>
              <a:rPr lang="en-US" sz="1900" b="1" dirty="0">
                <a:solidFill>
                  <a:srgbClr val="FFFFFF"/>
                </a:solidFill>
                <a:latin typeface="Calibri" pitchFamily="34" charset="0"/>
                <a:ea typeface="Calibri" pitchFamily="34" charset="-122"/>
                <a:cs typeface="Calibri" pitchFamily="34" charset="-120"/>
              </a:rPr>
              <a:t>A detector that keeps adapting on the device, never freezes, and still cannot be walked toward an attack.</a:t>
            </a:r>
            <a:endParaRPr lang="en-US" sz="1900" dirty="0"/>
          </a:p>
        </p:txBody>
      </p:sp>
      <p:sp>
        <p:nvSpPr>
          <p:cNvPr id="20" name="Text 18"/>
          <p:cNvSpPr txBox="1"/>
          <p:nvPr/>
        </p:nvSpPr>
        <p:spPr>
          <a:xfrm>
            <a:off x="1188720" y="5376672"/>
            <a:ext cx="9875520" cy="548640"/>
          </a:xfrm>
          <a:prstGeom prst="rect">
            <a:avLst/>
          </a:prstGeom>
          <a:noFill/>
          <a:ln/>
        </p:spPr>
        <p:txBody>
          <a:bodyPr wrap="square" lIns="0" tIns="0" rIns="0" bIns="0" rtlCol="0" anchor="t"/>
          <a:lstStyle/>
          <a:p>
            <a:pPr indent="0" marL="0">
              <a:buNone/>
            </a:pPr>
            <a:r>
              <a:rPr lang="en-US" sz="1300" dirty="0">
                <a:solidFill>
                  <a:srgbClr val="C7C7CC"/>
                </a:solidFill>
                <a:latin typeface="Calibri" pitchFamily="34" charset="0"/>
                <a:ea typeface="Calibri" pitchFamily="34" charset="-122"/>
                <a:cs typeface="Calibri" pitchFamily="34" charset="-120"/>
              </a:rPr>
              <a:t>Credit where due: the attack and a server-side defense both come from ANTIDOTE [1]. Our target is continuous learning on the device.</a:t>
            </a:r>
            <a:endParaRPr lang="en-US" sz="1300" dirty="0"/>
          </a:p>
        </p:txBody>
      </p:sp>
      <p:sp>
        <p:nvSpPr>
          <p:cNvPr id="21" name="Text 19"/>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[3] NDSS 2018  ·  [5] Scientific Data 2025</a:t>
            </a:r>
            <a:endParaRPr lang="en-US" sz="1000" dirty="0"/>
          </a:p>
        </p:txBody>
      </p:sp>
      <p:sp>
        <p:nvSpPr>
          <p:cNvPr id="22" name="Text 20"/>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QUESTIONS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questions, one per claim.</a:t>
            </a:r>
            <a:endParaRPr lang="en-US" sz="2800" dirty="0"/>
          </a:p>
        </p:txBody>
      </p:sp>
      <p:sp>
        <p:nvSpPr>
          <p:cNvPr id="5" name="Shape 3"/>
          <p:cNvSpPr/>
          <p:nvPr/>
        </p:nvSpPr>
        <p:spPr>
          <a:xfrm>
            <a:off x="822960" y="2240280"/>
            <a:ext cx="10561320" cy="1005840"/>
          </a:xfrm>
          <a:prstGeom prst="roundRect">
            <a:avLst>
              <a:gd name="adj" fmla="val 10909"/>
            </a:avLst>
          </a:prstGeom>
          <a:solidFill>
            <a:srgbClr val="F5F5F7"/>
          </a:solidFill>
          <a:ln/>
        </p:spPr>
      </p:sp>
      <p:sp>
        <p:nvSpPr>
          <p:cNvPr id="6" name="Text 4"/>
          <p:cNvSpPr txBox="1"/>
          <p:nvPr/>
        </p:nvSpPr>
        <p:spPr>
          <a:xfrm>
            <a:off x="1143000" y="224028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RQ1</a:t>
            </a:r>
            <a:endParaRPr lang="en-US" sz="2200" dirty="0"/>
          </a:p>
        </p:txBody>
      </p:sp>
      <p:sp>
        <p:nvSpPr>
          <p:cNvPr id="7" name="Text 5"/>
          <p:cNvSpPr txBox="1"/>
          <p:nvPr/>
        </p:nvSpPr>
        <p:spPr>
          <a:xfrm>
            <a:off x="2286000" y="224028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 detector keep learning honest drift while refusing only the part of each update that moves it toward a known attack?</a:t>
            </a:r>
            <a:endParaRPr lang="en-US" sz="1700" dirty="0"/>
          </a:p>
        </p:txBody>
      </p:sp>
      <p:sp>
        <p:nvSpPr>
          <p:cNvPr id="8" name="Shape 6"/>
          <p:cNvSpPr/>
          <p:nvPr/>
        </p:nvSpPr>
        <p:spPr>
          <a:xfrm>
            <a:off x="822960" y="3429000"/>
            <a:ext cx="10561320" cy="1005840"/>
          </a:xfrm>
          <a:prstGeom prst="roundRect">
            <a:avLst>
              <a:gd name="adj" fmla="val 10909"/>
            </a:avLst>
          </a:prstGeom>
          <a:solidFill>
            <a:srgbClr val="F5F5F7"/>
          </a:solidFill>
          <a:ln/>
        </p:spPr>
      </p:sp>
      <p:sp>
        <p:nvSpPr>
          <p:cNvPr id="9" name="Text 7"/>
          <p:cNvSpPr txBox="1"/>
          <p:nvPr/>
        </p:nvSpPr>
        <p:spPr>
          <a:xfrm>
            <a:off x="1143000" y="342900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RQ2</a:t>
            </a:r>
            <a:endParaRPr lang="en-US" sz="2200" dirty="0"/>
          </a:p>
        </p:txBody>
      </p:sp>
      <p:sp>
        <p:nvSpPr>
          <p:cNvPr id="10" name="Text 8"/>
          <p:cNvSpPr txBox="1"/>
          <p:nvPr/>
        </p:nvSpPr>
        <p:spPr>
          <a:xfrm>
            <a:off x="2286000" y="342900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an attacker turn a defense that freezes into a denial of service, and does never-freezing adaptation prevent that?</a:t>
            </a:r>
            <a:endParaRPr lang="en-US" sz="1700" dirty="0"/>
          </a:p>
        </p:txBody>
      </p:sp>
      <p:sp>
        <p:nvSpPr>
          <p:cNvPr id="11" name="Shape 9"/>
          <p:cNvSpPr/>
          <p:nvPr/>
        </p:nvSpPr>
        <p:spPr>
          <a:xfrm>
            <a:off x="822960" y="4617720"/>
            <a:ext cx="10561320" cy="1005840"/>
          </a:xfrm>
          <a:prstGeom prst="roundRect">
            <a:avLst>
              <a:gd name="adj" fmla="val 10909"/>
            </a:avLst>
          </a:prstGeom>
          <a:solidFill>
            <a:srgbClr val="F5F5F7"/>
          </a:solidFill>
          <a:ln/>
        </p:spPr>
      </p:sp>
      <p:sp>
        <p:nvSpPr>
          <p:cNvPr id="12" name="Text 10"/>
          <p:cNvSpPr txBox="1"/>
          <p:nvPr/>
        </p:nvSpPr>
        <p:spPr>
          <a:xfrm>
            <a:off x="1143000" y="461772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RQ3</a:t>
            </a:r>
            <a:endParaRPr lang="en-US" sz="2200" dirty="0"/>
          </a:p>
        </p:txBody>
      </p:sp>
      <p:sp>
        <p:nvSpPr>
          <p:cNvPr id="13" name="Text 11"/>
          <p:cNvSpPr txBox="1"/>
          <p:nvPr/>
        </p:nvSpPr>
        <p:spPr>
          <a:xfrm>
            <a:off x="2286000" y="461772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How exposed are real low-traffic IoT devices [2, 4], and what does protection cost on an ESP32?</a:t>
            </a:r>
            <a:endParaRPr lang="en-US" sz="1700" dirty="0"/>
          </a:p>
        </p:txBody>
      </p:sp>
      <p:sp>
        <p:nvSpPr>
          <p:cNvPr id="14" name="Text 12"/>
          <p:cNvSpPr txBox="1"/>
          <p:nvPr/>
        </p:nvSpPr>
        <p:spPr>
          <a:xfrm>
            <a:off x="822960" y="5760720"/>
            <a:ext cx="10515600" cy="530352"/>
          </a:xfrm>
          <a:prstGeom prst="rect">
            <a:avLst/>
          </a:prstGeom>
          <a:noFill/>
          <a:ln/>
        </p:spPr>
        <p:txBody>
          <a:bodyPr wrap="square" lIns="0" tIns="0" rIns="0" bIns="0" rtlCol="0" anchor="t"/>
          <a:lstStyle/>
          <a:p>
            <a:pPr indent="0" marL="0">
              <a:buNone/>
            </a:pPr>
            <a:r>
              <a:rPr lang="en-US" sz="1400" i="1" dirty="0">
                <a:solidFill>
                  <a:srgbClr val="86868B"/>
                </a:solidFill>
                <a:latin typeface="Calibri" pitchFamily="34" charset="0"/>
                <a:ea typeface="Calibri" pitchFamily="34" charset="-122"/>
                <a:cs typeface="Calibri" pitchFamily="34" charset="-120"/>
              </a:rPr>
              <a:t>Hypothesis: rationing only the threat-aligned part of each update keeps attacks visible without the false-alarm cost of freezing.</a:t>
            </a:r>
            <a:endParaRPr lang="en-US" sz="14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PROPOSED APPROACH  ·  THREAT-ORTHOGONAL ADAPTATION</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Split every update. Only the dangerous part is rationed.</a:t>
            </a:r>
            <a:endParaRPr lang="en-US" sz="2800" dirty="0"/>
          </a:p>
        </p:txBody>
      </p:sp>
      <p:sp>
        <p:nvSpPr>
          <p:cNvPr id="5" name="Shape 3"/>
          <p:cNvSpPr/>
          <p:nvPr/>
        </p:nvSpPr>
        <p:spPr>
          <a:xfrm>
            <a:off x="822960" y="2240280"/>
            <a:ext cx="1874520" cy="914400"/>
          </a:xfrm>
          <a:prstGeom prst="roundRect">
            <a:avLst>
              <a:gd name="adj" fmla="val 12000"/>
            </a:avLst>
          </a:prstGeom>
          <a:solidFill>
            <a:srgbClr val="F5F5F7"/>
          </a:solidFill>
          <a:ln/>
        </p:spPr>
      </p:sp>
      <p:sp>
        <p:nvSpPr>
          <p:cNvPr id="6" name="Text 4"/>
          <p:cNvSpPr txBox="1"/>
          <p:nvPr/>
        </p:nvSpPr>
        <p:spPr>
          <a:xfrm>
            <a:off x="100584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Traffic</a:t>
            </a:r>
            <a:endParaRPr lang="en-US" sz="1500" dirty="0"/>
          </a:p>
        </p:txBody>
      </p:sp>
      <p:sp>
        <p:nvSpPr>
          <p:cNvPr id="7" name="Text 5"/>
          <p:cNvSpPr txBox="1"/>
          <p:nvPr/>
        </p:nvSpPr>
        <p:spPr>
          <a:xfrm>
            <a:off x="100584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Kitsune features [3]</a:t>
            </a:r>
            <a:endParaRPr lang="en-US" sz="1200" dirty="0"/>
          </a:p>
        </p:txBody>
      </p:sp>
      <p:sp>
        <p:nvSpPr>
          <p:cNvPr id="8" name="Shape 6"/>
          <p:cNvSpPr/>
          <p:nvPr/>
        </p:nvSpPr>
        <p:spPr>
          <a:xfrm>
            <a:off x="2761488" y="2697480"/>
            <a:ext cx="237744" cy="0"/>
          </a:xfrm>
          <a:prstGeom prst="line">
            <a:avLst/>
          </a:prstGeom>
          <a:noFill/>
          <a:ln w="19050">
            <a:solidFill>
              <a:srgbClr val="86868B"/>
            </a:solidFill>
            <a:prstDash val="solid"/>
            <a:tailEnd type="triangle"/>
          </a:ln>
        </p:spPr>
      </p:sp>
      <p:sp>
        <p:nvSpPr>
          <p:cNvPr id="9" name="Shape 7"/>
          <p:cNvSpPr/>
          <p:nvPr/>
        </p:nvSpPr>
        <p:spPr>
          <a:xfrm>
            <a:off x="3063240" y="2240280"/>
            <a:ext cx="1874520" cy="914400"/>
          </a:xfrm>
          <a:prstGeom prst="roundRect">
            <a:avLst>
              <a:gd name="adj" fmla="val 12000"/>
            </a:avLst>
          </a:prstGeom>
          <a:solidFill>
            <a:srgbClr val="F5F5F7"/>
          </a:solidFill>
          <a:ln/>
        </p:spPr>
      </p:sp>
      <p:sp>
        <p:nvSpPr>
          <p:cNvPr id="10" name="Text 8"/>
          <p:cNvSpPr txBox="1"/>
          <p:nvPr/>
        </p:nvSpPr>
        <p:spPr>
          <a:xfrm>
            <a:off x="324612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Detector</a:t>
            </a:r>
            <a:endParaRPr lang="en-US" sz="1500" dirty="0"/>
          </a:p>
        </p:txBody>
      </p:sp>
      <p:sp>
        <p:nvSpPr>
          <p:cNvPr id="11" name="Text 9"/>
          <p:cNvSpPr txBox="1"/>
          <p:nvPr/>
        </p:nvSpPr>
        <p:spPr>
          <a:xfrm>
            <a:off x="324612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centre + spread</a:t>
            </a:r>
            <a:endParaRPr lang="en-US" sz="1200" dirty="0"/>
          </a:p>
        </p:txBody>
      </p:sp>
      <p:sp>
        <p:nvSpPr>
          <p:cNvPr id="12" name="Shape 10"/>
          <p:cNvSpPr/>
          <p:nvPr/>
        </p:nvSpPr>
        <p:spPr>
          <a:xfrm>
            <a:off x="5001768" y="2697480"/>
            <a:ext cx="237744" cy="0"/>
          </a:xfrm>
          <a:prstGeom prst="line">
            <a:avLst/>
          </a:prstGeom>
          <a:noFill/>
          <a:ln w="19050">
            <a:solidFill>
              <a:srgbClr val="86868B"/>
            </a:solidFill>
            <a:prstDash val="solid"/>
            <a:tailEnd type="triangle"/>
          </a:ln>
        </p:spPr>
      </p:sp>
      <p:sp>
        <p:nvSpPr>
          <p:cNvPr id="13" name="Shape 11"/>
          <p:cNvSpPr/>
          <p:nvPr/>
        </p:nvSpPr>
        <p:spPr>
          <a:xfrm>
            <a:off x="5303520" y="2240280"/>
            <a:ext cx="1874520" cy="914400"/>
          </a:xfrm>
          <a:prstGeom prst="roundRect">
            <a:avLst>
              <a:gd name="adj" fmla="val 12000"/>
            </a:avLst>
          </a:prstGeom>
          <a:solidFill>
            <a:srgbClr val="F5F5F7"/>
          </a:solidFill>
          <a:ln/>
        </p:spPr>
      </p:sp>
      <p:sp>
        <p:nvSpPr>
          <p:cNvPr id="14" name="Text 12"/>
          <p:cNvSpPr txBox="1"/>
          <p:nvPr/>
        </p:nvSpPr>
        <p:spPr>
          <a:xfrm>
            <a:off x="548640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Drift check</a:t>
            </a:r>
            <a:endParaRPr lang="en-US" sz="1500" dirty="0"/>
          </a:p>
        </p:txBody>
      </p:sp>
      <p:sp>
        <p:nvSpPr>
          <p:cNvPr id="15" name="Text 13"/>
          <p:cNvSpPr txBox="1"/>
          <p:nvPr/>
        </p:nvSpPr>
        <p:spPr>
          <a:xfrm>
            <a:off x="548640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is normal moving?</a:t>
            </a:r>
            <a:endParaRPr lang="en-US" sz="1200" dirty="0"/>
          </a:p>
        </p:txBody>
      </p:sp>
      <p:sp>
        <p:nvSpPr>
          <p:cNvPr id="16" name="Shape 14"/>
          <p:cNvSpPr/>
          <p:nvPr/>
        </p:nvSpPr>
        <p:spPr>
          <a:xfrm>
            <a:off x="7242048" y="2697480"/>
            <a:ext cx="237744" cy="0"/>
          </a:xfrm>
          <a:prstGeom prst="line">
            <a:avLst/>
          </a:prstGeom>
          <a:noFill/>
          <a:ln w="19050">
            <a:solidFill>
              <a:srgbClr val="86868B"/>
            </a:solidFill>
            <a:prstDash val="solid"/>
            <a:tailEnd type="triangle"/>
          </a:ln>
        </p:spPr>
      </p:sp>
      <p:sp>
        <p:nvSpPr>
          <p:cNvPr id="17" name="Shape 15"/>
          <p:cNvSpPr/>
          <p:nvPr/>
        </p:nvSpPr>
        <p:spPr>
          <a:xfrm>
            <a:off x="7543800" y="2240280"/>
            <a:ext cx="1874520" cy="914400"/>
          </a:xfrm>
          <a:prstGeom prst="roundRect">
            <a:avLst>
              <a:gd name="adj" fmla="val 12000"/>
            </a:avLst>
          </a:prstGeom>
          <a:solidFill>
            <a:srgbClr val="F5F5F7"/>
          </a:solidFill>
          <a:ln/>
        </p:spPr>
      </p:sp>
      <p:sp>
        <p:nvSpPr>
          <p:cNvPr id="18" name="Text 16"/>
          <p:cNvSpPr txBox="1"/>
          <p:nvPr/>
        </p:nvSpPr>
        <p:spPr>
          <a:xfrm>
            <a:off x="7726680" y="2331720"/>
            <a:ext cx="1508760" cy="365760"/>
          </a:xfrm>
          <a:prstGeom prst="rect">
            <a:avLst/>
          </a:prstGeom>
          <a:noFill/>
          <a:ln/>
        </p:spPr>
        <p:txBody>
          <a:bodyPr wrap="square" lIns="0" tIns="0" rIns="0" bIns="0" rtlCol="0" anchor="ctr"/>
          <a:lstStyle/>
          <a:p>
            <a:pPr indent="0" marL="0">
              <a:buNone/>
            </a:pPr>
            <a:r>
              <a:rPr lang="en-US" sz="1500" b="1" dirty="0">
                <a:solidFill>
                  <a:srgbClr val="D70015"/>
                </a:solidFill>
                <a:latin typeface="Calibri" pitchFamily="34" charset="0"/>
                <a:ea typeface="Calibri" pitchFamily="34" charset="-122"/>
                <a:cs typeface="Calibri" pitchFamily="34" charset="-120"/>
              </a:rPr>
              <a:t>New update</a:t>
            </a:r>
            <a:endParaRPr lang="en-US" sz="1500" dirty="0"/>
          </a:p>
        </p:txBody>
      </p:sp>
      <p:sp>
        <p:nvSpPr>
          <p:cNvPr id="19" name="Text 17"/>
          <p:cNvSpPr txBox="1"/>
          <p:nvPr/>
        </p:nvSpPr>
        <p:spPr>
          <a:xfrm>
            <a:off x="772668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poison enters here</a:t>
            </a:r>
            <a:endParaRPr lang="en-US" sz="1200" dirty="0"/>
          </a:p>
        </p:txBody>
      </p:sp>
      <p:sp>
        <p:nvSpPr>
          <p:cNvPr id="20" name="Shape 18"/>
          <p:cNvSpPr/>
          <p:nvPr/>
        </p:nvSpPr>
        <p:spPr>
          <a:xfrm>
            <a:off x="9482328" y="2697480"/>
            <a:ext cx="329184" cy="0"/>
          </a:xfrm>
          <a:prstGeom prst="line">
            <a:avLst/>
          </a:prstGeom>
          <a:noFill/>
          <a:ln w="19050">
            <a:solidFill>
              <a:srgbClr val="86868B"/>
            </a:solidFill>
            <a:prstDash val="solid"/>
            <a:tailEnd type="triangle"/>
          </a:ln>
        </p:spPr>
      </p:sp>
      <p:sp>
        <p:nvSpPr>
          <p:cNvPr id="21" name="Shape 19"/>
          <p:cNvSpPr/>
          <p:nvPr/>
        </p:nvSpPr>
        <p:spPr>
          <a:xfrm>
            <a:off x="9720072" y="2240280"/>
            <a:ext cx="1645920" cy="914400"/>
          </a:xfrm>
          <a:prstGeom prst="roundRect">
            <a:avLst>
              <a:gd name="adj" fmla="val 12000"/>
            </a:avLst>
          </a:prstGeom>
          <a:solidFill>
            <a:srgbClr val="1D1D1F"/>
          </a:solidFill>
          <a:ln/>
        </p:spPr>
      </p:sp>
      <p:sp>
        <p:nvSpPr>
          <p:cNvPr id="22" name="Text 20"/>
          <p:cNvSpPr txBox="1"/>
          <p:nvPr/>
        </p:nvSpPr>
        <p:spPr>
          <a:xfrm>
            <a:off x="9902952" y="2240280"/>
            <a:ext cx="137160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Split and apply</a:t>
            </a:r>
            <a:endParaRPr lang="en-US" sz="1300" dirty="0"/>
          </a:p>
        </p:txBody>
      </p:sp>
      <p:sp>
        <p:nvSpPr>
          <p:cNvPr id="23" name="Shape 21"/>
          <p:cNvSpPr/>
          <p:nvPr/>
        </p:nvSpPr>
        <p:spPr>
          <a:xfrm>
            <a:off x="822960" y="3474720"/>
            <a:ext cx="5166360" cy="2606040"/>
          </a:xfrm>
          <a:prstGeom prst="roundRect">
            <a:avLst>
              <a:gd name="adj" fmla="val 4211"/>
            </a:avLst>
          </a:prstGeom>
          <a:solidFill>
            <a:srgbClr val="F5F5F7"/>
          </a:solidFill>
          <a:ln/>
        </p:spPr>
      </p:sp>
      <p:sp>
        <p:nvSpPr>
          <p:cNvPr id="24" name="Text 22"/>
          <p:cNvSpPr txBox="1"/>
          <p:nvPr/>
        </p:nvSpPr>
        <p:spPr>
          <a:xfrm>
            <a:off x="114300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Safe part  ·  applied at once</a:t>
            </a:r>
            <a:endParaRPr lang="en-US" sz="1700" dirty="0"/>
          </a:p>
        </p:txBody>
      </p:sp>
      <p:sp>
        <p:nvSpPr>
          <p:cNvPr id="25" name="Text 23"/>
          <p:cNvSpPr txBox="1"/>
          <p:nvPr/>
        </p:nvSpPr>
        <p:spPr>
          <a:xfrm>
            <a:off x="114300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Sideways or away from known attacks</a:t>
            </a:r>
            <a:endParaRPr lang="en-US" sz="1500" dirty="0"/>
          </a:p>
        </p:txBody>
      </p:sp>
      <p:sp>
        <p:nvSpPr>
          <p:cNvPr id="26" name="Text 24"/>
          <p:cNvSpPr txBox="1"/>
          <p:nvPr/>
        </p:nvSpPr>
        <p:spPr>
          <a:xfrm>
            <a:off x="1143000" y="4526280"/>
            <a:ext cx="4526280" cy="105156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Honest drift, like the semester-end traffic drop [5], mostly moves away from attacks. It is always applied, so the detector keeps up and never freezes.</a:t>
            </a:r>
            <a:endParaRPr lang="en-US" sz="1350" dirty="0"/>
          </a:p>
        </p:txBody>
      </p:sp>
      <p:sp>
        <p:nvSpPr>
          <p:cNvPr id="27" name="Text 25"/>
          <p:cNvSpPr txBox="1"/>
          <p:nvPr/>
        </p:nvSpPr>
        <p:spPr>
          <a:xfrm>
            <a:off x="1143000" y="5650992"/>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No freeze, no false-alarm flood</a:t>
            </a:r>
            <a:endParaRPr lang="en-US" sz="1300" dirty="0"/>
          </a:p>
        </p:txBody>
      </p:sp>
      <p:sp>
        <p:nvSpPr>
          <p:cNvPr id="28" name="Shape 26"/>
          <p:cNvSpPr/>
          <p:nvPr/>
        </p:nvSpPr>
        <p:spPr>
          <a:xfrm>
            <a:off x="6217920" y="3474720"/>
            <a:ext cx="5166360" cy="2606040"/>
          </a:xfrm>
          <a:prstGeom prst="roundRect">
            <a:avLst>
              <a:gd name="adj" fmla="val 4211"/>
            </a:avLst>
          </a:prstGeom>
          <a:solidFill>
            <a:srgbClr val="F5F5F7"/>
          </a:solidFill>
          <a:ln/>
        </p:spPr>
      </p:sp>
      <p:sp>
        <p:nvSpPr>
          <p:cNvPr id="29" name="Text 27"/>
          <p:cNvSpPr txBox="1"/>
          <p:nvPr/>
        </p:nvSpPr>
        <p:spPr>
          <a:xfrm>
            <a:off x="653796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Threat part  ·  rationed</a:t>
            </a:r>
            <a:endParaRPr lang="en-US" sz="1700" dirty="0"/>
          </a:p>
        </p:txBody>
      </p:sp>
      <p:sp>
        <p:nvSpPr>
          <p:cNvPr id="30" name="Text 28"/>
          <p:cNvSpPr txBox="1"/>
          <p:nvPr/>
        </p:nvSpPr>
        <p:spPr>
          <a:xfrm>
            <a:off x="653796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Toward a known attack signature</a:t>
            </a:r>
            <a:endParaRPr lang="en-US" sz="1500" dirty="0"/>
          </a:p>
        </p:txBody>
      </p:sp>
      <p:sp>
        <p:nvSpPr>
          <p:cNvPr id="31" name="Text 29"/>
          <p:cNvSpPr txBox="1"/>
          <p:nvPr/>
        </p:nvSpPr>
        <p:spPr>
          <a:xfrm>
            <a:off x="6537960" y="4526280"/>
            <a:ext cx="4526280" cy="105156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Poisoning has to move normal toward the attack it hides [1]. Only that part is capped, at a slow rate learned from clean data.</a:t>
            </a:r>
            <a:endParaRPr lang="en-US" sz="1350" dirty="0"/>
          </a:p>
        </p:txBody>
      </p:sp>
      <p:sp>
        <p:nvSpPr>
          <p:cNvPr id="32" name="Text 30"/>
          <p:cNvSpPr txBox="1"/>
          <p:nvPr/>
        </p:nvSpPr>
        <p:spPr>
          <a:xfrm>
            <a:off x="6537960" y="5650992"/>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Provable minimum time to compromise</a:t>
            </a:r>
            <a:endParaRPr lang="en-US" sz="1300" dirty="0"/>
          </a:p>
        </p:txBody>
      </p:sp>
      <p:sp>
        <p:nvSpPr>
          <p:cNvPr id="33" name="Text 31"/>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[3] NDSS 2018  ·  [5] Scientific Data 2025</a:t>
            </a:r>
            <a:endParaRPr lang="en-US" sz="1000" dirty="0"/>
          </a:p>
        </p:txBody>
      </p:sp>
      <p:sp>
        <p:nvSpPr>
          <p:cNvPr id="34" name="Text 32"/>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WHAT OUR RESEARCH TURNED UP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findings that shaped the design.</a:t>
            </a:r>
            <a:endParaRPr lang="en-US" sz="2800" dirty="0"/>
          </a:p>
        </p:txBody>
      </p:sp>
      <p:sp>
        <p:nvSpPr>
          <p:cNvPr id="5" name="Text 3"/>
          <p:cNvSpPr txBox="1"/>
          <p:nvPr/>
        </p:nvSpPr>
        <p:spPr>
          <a:xfrm>
            <a:off x="822960" y="214884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6" name="Text 4"/>
          <p:cNvSpPr txBox="1"/>
          <p:nvPr/>
        </p:nvSpPr>
        <p:spPr>
          <a:xfrm>
            <a:off x="1645920" y="214884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Honest drift is directional too.</a:t>
            </a:r>
            <a:endParaRPr lang="en-US" sz="1800" dirty="0"/>
          </a:p>
        </p:txBody>
      </p:sp>
      <p:sp>
        <p:nvSpPr>
          <p:cNvPr id="7" name="Text 5"/>
          <p:cNvSpPr txBox="1"/>
          <p:nvPr/>
        </p:nvSpPr>
        <p:spPr>
          <a:xfrm>
            <a:off x="1645920" y="255117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Real traffic drifts steadily for weeks [5]. So 'steady drift means attack' would raise false alarms. What matters is drift toward an attack.</a:t>
            </a:r>
            <a:endParaRPr lang="en-US" sz="1400" dirty="0"/>
          </a:p>
        </p:txBody>
      </p:sp>
      <p:sp>
        <p:nvSpPr>
          <p:cNvPr id="8" name="Text 6"/>
          <p:cNvSpPr txBox="1"/>
          <p:nvPr/>
        </p:nvSpPr>
        <p:spPr>
          <a:xfrm>
            <a:off x="822960" y="347472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9" name="Text 7"/>
          <p:cNvSpPr txBox="1"/>
          <p:nvPr/>
        </p:nvSpPr>
        <p:spPr>
          <a:xfrm>
            <a:off x="1645920" y="347472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Defenses that freeze can be weaponized.</a:t>
            </a:r>
            <a:endParaRPr lang="en-US" sz="1800" dirty="0"/>
          </a:p>
        </p:txBody>
      </p:sp>
      <p:sp>
        <p:nvSpPr>
          <p:cNvPr id="10" name="Text 8"/>
          <p:cNvSpPr txBox="1"/>
          <p:nvPr/>
        </p:nvSpPr>
        <p:spPr>
          <a:xfrm>
            <a:off x="1645920" y="387705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An attacker trips the freeze, then leaves. Honest drift continues and the frozen detector drowns in false alarms. Our simulation shows it on slide 10.</a:t>
            </a:r>
            <a:endParaRPr lang="en-US" sz="1400" dirty="0"/>
          </a:p>
        </p:txBody>
      </p:sp>
      <p:sp>
        <p:nvSpPr>
          <p:cNvPr id="11" name="Text 9"/>
          <p:cNvSpPr txBox="1"/>
          <p:nvPr/>
        </p:nvSpPr>
        <p:spPr>
          <a:xfrm>
            <a:off x="822960" y="480060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2" name="Text 10"/>
          <p:cNvSpPr txBox="1"/>
          <p:nvPr/>
        </p:nvSpPr>
        <p:spPr>
          <a:xfrm>
            <a:off x="1645920" y="480060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Small IoT devices are easier to poison.</a:t>
            </a:r>
            <a:endParaRPr lang="en-US" sz="1800" dirty="0"/>
          </a:p>
        </p:txBody>
      </p:sp>
      <p:sp>
        <p:nvSpPr>
          <p:cNvPr id="13" name="Text 11"/>
          <p:cNvSpPr txBox="1"/>
          <p:nvPr/>
        </p:nvSpPr>
        <p:spPr>
          <a:xfrm>
            <a:off x="1645920" y="520293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Poisoning succeeds only when the attacker is a large share of what the detector learns from [2]. A smart plug sends little traffic [4], so matching it is easy.</a:t>
            </a:r>
            <a:endParaRPr lang="en-US" sz="14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[2] JMLR 2012  ·  [4] IEEE Pervasive Computing 2018  ·  [5] Scientific Data 2025</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PLATFORM, TOOLS AND BASELINES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What we build on, and what we have to beat.</a:t>
            </a:r>
            <a:endParaRPr lang="en-US" sz="2800" dirty="0"/>
          </a:p>
        </p:txBody>
      </p:sp>
      <p:sp>
        <p:nvSpPr>
          <p:cNvPr id="5" name="Shape 3"/>
          <p:cNvSpPr/>
          <p:nvPr/>
        </p:nvSpPr>
        <p:spPr>
          <a:xfrm>
            <a:off x="822960" y="2194560"/>
            <a:ext cx="5029200" cy="3886200"/>
          </a:xfrm>
          <a:prstGeom prst="roundRect">
            <a:avLst>
              <a:gd name="adj" fmla="val 2824"/>
            </a:avLst>
          </a:prstGeom>
          <a:solidFill>
            <a:srgbClr val="F5F5F7"/>
          </a:solidFill>
          <a:ln/>
        </p:spPr>
      </p:sp>
      <p:sp>
        <p:nvSpPr>
          <p:cNvPr id="6" name="Text 4"/>
          <p:cNvSpPr txBox="1"/>
          <p:nvPr/>
        </p:nvSpPr>
        <p:spPr>
          <a:xfrm>
            <a:off x="1143000" y="2395728"/>
            <a:ext cx="438912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Build on</a:t>
            </a:r>
            <a:endParaRPr lang="en-US" sz="1700" dirty="0"/>
          </a:p>
        </p:txBody>
      </p:sp>
      <p:sp>
        <p:nvSpPr>
          <p:cNvPr id="7" name="Text 5"/>
          <p:cNvSpPr txBox="1"/>
          <p:nvPr/>
        </p:nvSpPr>
        <p:spPr>
          <a:xfrm>
            <a:off x="1143000" y="2852928"/>
            <a:ext cx="4434840" cy="3017520"/>
          </a:xfrm>
          <a:prstGeom prst="rect">
            <a:avLst/>
          </a:prstGeom>
          <a:noFill/>
          <a:ln/>
        </p:spPr>
        <p:txBody>
          <a:bodyPr wrap="square" lIns="0" tIns="0" rIns="0" bIns="0" rtlCol="0" anchor="t"/>
          <a:lstStyle/>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Hardware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ESP32 for the detector, the defense and cost measurement</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Software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Python and NumPy for experiments, ESP-IDF on the board</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Data</a:t>
            </a:r>
            <a:endParaRPr lang="en-US" sz="1450" dirty="0"/>
          </a:p>
          <a:p>
            <a:pPr indent="0" marL="0">
              <a:lnSpc>
                <a:spcPct val="106000"/>
              </a:lnSpc>
              <a:buNone/>
            </a:pPr>
            <a:r>
              <a:rPr lang="en-US" sz="1450" dirty="0">
                <a:solidFill>
                  <a:srgbClr val="424245"/>
                </a:solidFill>
                <a:latin typeface="Calibri" pitchFamily="34" charset="0"/>
                <a:ea typeface="Calibri" pitchFamily="34" charset="-122"/>
                <a:cs typeface="Calibri" pitchFamily="34" charset="-120"/>
              </a:rPr>
              <a:t>N-BaIoT [4] for real IoT traffic and attacks, CESNET-TimeSeries24 [5] for real long-term drift</a:t>
            </a:r>
            <a:endParaRPr lang="en-US" sz="1450" dirty="0"/>
          </a:p>
        </p:txBody>
      </p:sp>
      <p:sp>
        <p:nvSpPr>
          <p:cNvPr id="8" name="Shape 6"/>
          <p:cNvSpPr/>
          <p:nvPr/>
        </p:nvSpPr>
        <p:spPr>
          <a:xfrm>
            <a:off x="6080760" y="2194560"/>
            <a:ext cx="5303520" cy="3886200"/>
          </a:xfrm>
          <a:prstGeom prst="roundRect">
            <a:avLst>
              <a:gd name="adj" fmla="val 2824"/>
            </a:avLst>
          </a:prstGeom>
          <a:solidFill>
            <a:srgbClr val="F5F5F7"/>
          </a:solidFill>
          <a:ln/>
        </p:spPr>
      </p:sp>
      <p:sp>
        <p:nvSpPr>
          <p:cNvPr id="9" name="Text 7"/>
          <p:cNvSpPr txBox="1"/>
          <p:nvPr/>
        </p:nvSpPr>
        <p:spPr>
          <a:xfrm>
            <a:off x="6400800" y="2395728"/>
            <a:ext cx="466344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Baselines</a:t>
            </a:r>
            <a:endParaRPr lang="en-US" sz="1700" dirty="0"/>
          </a:p>
        </p:txBody>
      </p:sp>
      <p:sp>
        <p:nvSpPr>
          <p:cNvPr id="10" name="Text 8"/>
          <p:cNvSpPr txBox="1"/>
          <p:nvPr/>
        </p:nvSpPr>
        <p:spPr>
          <a:xfrm>
            <a:off x="6400800" y="2880360"/>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Static detector [3]</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trained once, never adapts</a:t>
            </a:r>
            <a:endParaRPr lang="en-US" sz="1450" dirty="0"/>
          </a:p>
        </p:txBody>
      </p:sp>
      <p:sp>
        <p:nvSpPr>
          <p:cNvPr id="11" name="Text 9"/>
          <p:cNvSpPr txBox="1"/>
          <p:nvPr/>
        </p:nvSpPr>
        <p:spPr>
          <a:xfrm>
            <a:off x="6400800" y="3483864"/>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Naive adaptive</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commits every update, the setting poisoned in [1]</a:t>
            </a:r>
            <a:endParaRPr lang="en-US" sz="1450" dirty="0"/>
          </a:p>
        </p:txBody>
      </p:sp>
      <p:sp>
        <p:nvSpPr>
          <p:cNvPr id="12" name="Text 10"/>
          <p:cNvSpPr txBox="1"/>
          <p:nvPr/>
        </p:nvSpPr>
        <p:spPr>
          <a:xfrm>
            <a:off x="6400800" y="4087368"/>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Freeze budget</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stops learning once drift looks too large</a:t>
            </a:r>
            <a:endParaRPr lang="en-US" sz="1450" dirty="0"/>
          </a:p>
        </p:txBody>
      </p:sp>
      <p:sp>
        <p:nvSpPr>
          <p:cNvPr id="13" name="Text 11"/>
          <p:cNvSpPr txBox="1"/>
          <p:nvPr/>
        </p:nvSpPr>
        <p:spPr>
          <a:xfrm>
            <a:off x="6400800" y="4690872"/>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Robust filter</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rejects outlier updates using robust statistics [1]</a:t>
            </a:r>
            <a:endParaRPr lang="en-US" sz="1450" dirty="0"/>
          </a:p>
        </p:txBody>
      </p:sp>
      <p:sp>
        <p:nvSpPr>
          <p:cNvPr id="14" name="Text 12"/>
          <p:cNvSpPr txBox="1"/>
          <p:nvPr/>
        </p:nvSpPr>
        <p:spPr>
          <a:xfrm>
            <a:off x="6400800" y="5294376"/>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ANTIDOTE robust PCA [1]</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the classic server-side defense</a:t>
            </a:r>
            <a:endParaRPr lang="en-US" sz="1450" dirty="0"/>
          </a:p>
        </p:txBody>
      </p:sp>
      <p:sp>
        <p:nvSpPr>
          <p:cNvPr id="15" name="Text 1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[3] NDSS 2018  ·  [4] IEEE Pervasive Computing 2018  ·  [5] Scientific Data 2025</a:t>
            </a:r>
            <a:endParaRPr lang="en-US" sz="1000" dirty="0"/>
          </a:p>
        </p:txBody>
      </p:sp>
      <p:sp>
        <p:nvSpPr>
          <p:cNvPr id="16" name="Text 1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EVALUATION METRICS  ·  PRELIMINARY RESULT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We already tested it, in simulation and on real IoT traffic.</a:t>
            </a:r>
            <a:endParaRPr lang="en-US" sz="2800" dirty="0"/>
          </a:p>
        </p:txBody>
      </p:sp>
      <p:pic>
        <p:nvPicPr>
          <p:cNvPr id="5" name="Image 0" descr="/Users/rishitkamboj/Collegeactual/Study/SEM5/iot/research project/brainstorming/experiments/fig_slide.png">    </p:cNvPr>
          <p:cNvPicPr>
            <a:picLocks noChangeAspect="1"/>
          </p:cNvPicPr>
          <p:nvPr/>
        </p:nvPicPr>
        <p:blipFill>
          <a:blip r:embed="rId1"/>
          <a:stretch>
            <a:fillRect/>
          </a:stretch>
        </p:blipFill>
        <p:spPr>
          <a:xfrm>
            <a:off x="822960" y="2011680"/>
            <a:ext cx="10561320" cy="3236976"/>
          </a:xfrm>
          <a:prstGeom prst="rect">
            <a:avLst/>
          </a:prstGeom>
        </p:spPr>
      </p:pic>
      <p:sp>
        <p:nvSpPr>
          <p:cNvPr id="6" name="Text 3"/>
          <p:cNvSpPr txBox="1"/>
          <p:nvPr/>
        </p:nvSpPr>
        <p:spPr>
          <a:xfrm>
            <a:off x="822960" y="5303520"/>
            <a:ext cx="10561320" cy="502920"/>
          </a:xfrm>
          <a:prstGeom prst="rect">
            <a:avLst/>
          </a:prstGeom>
          <a:noFill/>
          <a:ln/>
        </p:spPr>
        <p:txBody>
          <a:bodyPr wrap="square" lIns="0" tIns="0" rIns="0" bIns="0" rtlCol="0" anchor="t"/>
          <a:lstStyle/>
          <a:p>
            <a:pPr indent="0" marL="0">
              <a:buNone/>
            </a:pPr>
            <a:r>
              <a:rPr lang="en-US" sz="1250" dirty="0">
                <a:solidFill>
                  <a:srgbClr val="424245"/>
                </a:solidFill>
                <a:latin typeface="Calibri" pitchFamily="34" charset="0"/>
                <a:ea typeface="Calibri" pitchFamily="34" charset="-122"/>
                <a:cs typeface="Calibri" pitchFamily="34" charset="-120"/>
              </a:rPr>
              <a:t>Above: synthetic simulation, 5 seeds, attacker at 40% [2]. Real check on N-BaIoT doorbell traffic [4]: naive learning was poisoned with the attacker at just 10% of traffic, while ours kept 100% detection with 0.8% false alarms.</a:t>
            </a:r>
            <a:endParaRPr lang="en-US" sz="1250" dirty="0"/>
          </a:p>
        </p:txBody>
      </p:sp>
      <p:sp>
        <p:nvSpPr>
          <p:cNvPr id="7" name="Text 4"/>
          <p:cNvSpPr txBox="1"/>
          <p:nvPr/>
        </p:nvSpPr>
        <p:spPr>
          <a:xfrm>
            <a:off x="822960" y="5870448"/>
            <a:ext cx="10561320" cy="365760"/>
          </a:xfrm>
          <a:prstGeom prst="rect">
            <a:avLst/>
          </a:prstGeom>
          <a:noFill/>
          <a:ln/>
        </p:spPr>
        <p:txBody>
          <a:bodyPr wrap="square" lIns="0" tIns="0" rIns="0" bIns="0" rtlCol="0" anchor="ctr"/>
          <a:lstStyle/>
          <a:p>
            <a:pPr indent="0" marL="0">
              <a:buNone/>
            </a:pPr>
            <a:r>
              <a:rPr lang="en-US" sz="1300" b="1" dirty="0">
                <a:solidFill>
                  <a:srgbClr val="1D1D1F"/>
                </a:solidFill>
                <a:latin typeface="Calibri" pitchFamily="34" charset="0"/>
                <a:ea typeface="Calibri" pitchFamily="34" charset="-122"/>
                <a:cs typeface="Calibri" pitchFamily="34" charset="-120"/>
              </a:rPr>
              <a:t>Metrics:  </a:t>
            </a:r>
            <a:pPr indent="0" marL="0">
              <a:buNone/>
            </a:pPr>
            <a:r>
              <a:rPr lang="en-US" sz="1300" dirty="0">
                <a:solidFill>
                  <a:srgbClr val="86868B"/>
                </a:solidFill>
                <a:latin typeface="Calibri" pitchFamily="34" charset="0"/>
                <a:ea typeface="Calibri" pitchFamily="34" charset="-122"/>
                <a:cs typeface="Calibri" pitchFamily="34" charset="-120"/>
              </a:rPr>
              <a:t>attack recall and cycles to compromise  ·  false alarms under drift  ·  F1, AUROC  ·  ESP32 memory, latency, energy</a:t>
            </a:r>
            <a:endParaRPr lang="en-US" sz="1300" dirty="0"/>
          </a:p>
        </p:txBody>
      </p:sp>
      <p:sp>
        <p:nvSpPr>
          <p:cNvPr id="8" name="Text 5"/>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0071E3"/>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EXPECTED CONTRIBUTION</a:t>
            </a:r>
            <a:endParaRPr lang="en-US" sz="1250" dirty="0"/>
          </a:p>
        </p:txBody>
      </p:sp>
      <p:sp>
        <p:nvSpPr>
          <p:cNvPr id="4" name="Text 2"/>
          <p:cNvSpPr txBox="1"/>
          <p:nvPr/>
        </p:nvSpPr>
        <p:spPr>
          <a:xfrm>
            <a:off x="822960" y="137160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5" name="Text 3"/>
          <p:cNvSpPr txBox="1"/>
          <p:nvPr/>
        </p:nvSpPr>
        <p:spPr>
          <a:xfrm>
            <a:off x="1737360" y="137160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Threat-Orthogonal Adaptation</a:t>
            </a:r>
            <a:endParaRPr lang="en-US" sz="2000" dirty="0"/>
          </a:p>
        </p:txBody>
      </p:sp>
      <p:sp>
        <p:nvSpPr>
          <p:cNvPr id="6" name="Text 4"/>
          <p:cNvSpPr txBox="1"/>
          <p:nvPr/>
        </p:nvSpPr>
        <p:spPr>
          <a:xfrm>
            <a:off x="1737360" y="178308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An on-device update rule that never freezes, rations only threat-aligned drift, and gives a provable minimum number of cycles before a known attack can be hidden.</a:t>
            </a:r>
            <a:endParaRPr lang="en-US" sz="1450" dirty="0"/>
          </a:p>
        </p:txBody>
      </p:sp>
      <p:sp>
        <p:nvSpPr>
          <p:cNvPr id="7" name="Text 5"/>
          <p:cNvSpPr txBox="1"/>
          <p:nvPr/>
        </p:nvSpPr>
        <p:spPr>
          <a:xfrm>
            <a:off x="822960" y="260604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8" name="Text 6"/>
          <p:cNvSpPr txBox="1"/>
          <p:nvPr/>
        </p:nvSpPr>
        <p:spPr>
          <a:xfrm>
            <a:off x="1737360" y="260604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freeze attack</a:t>
            </a:r>
            <a:endParaRPr lang="en-US" sz="2000" dirty="0"/>
          </a:p>
        </p:txBody>
      </p:sp>
      <p:sp>
        <p:nvSpPr>
          <p:cNvPr id="9" name="Text 7"/>
          <p:cNvSpPr txBox="1"/>
          <p:nvPr/>
        </p:nvSpPr>
        <p:spPr>
          <a:xfrm>
            <a:off x="1737360" y="301752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 new attack on defenses that stop learning when drift looks suspicious, and evidence that never-freezing adaptation is immune to it.</a:t>
            </a:r>
            <a:endParaRPr lang="en-US" sz="1450" dirty="0"/>
          </a:p>
        </p:txBody>
      </p:sp>
      <p:sp>
        <p:nvSpPr>
          <p:cNvPr id="10" name="Text 8"/>
          <p:cNvSpPr txBox="1"/>
          <p:nvPr/>
        </p:nvSpPr>
        <p:spPr>
          <a:xfrm>
            <a:off x="822960" y="384048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1" name="Text 9"/>
          <p:cNvSpPr txBox="1"/>
          <p:nvPr/>
        </p:nvSpPr>
        <p:spPr>
          <a:xfrm>
            <a:off x="1737360" y="384048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Real exposure, real cost</a:t>
            </a:r>
            <a:endParaRPr lang="en-US" sz="2000" dirty="0"/>
          </a:p>
        </p:txBody>
      </p:sp>
      <p:sp>
        <p:nvSpPr>
          <p:cNvPr id="12" name="Text 10"/>
          <p:cNvSpPr txBox="1"/>
          <p:nvPr/>
        </p:nvSpPr>
        <p:spPr>
          <a:xfrm>
            <a:off x="1737360" y="425196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How poisonable real low-traffic IoT devices are on N-BaIoT [4], and what protection costs on an ESP32.</a:t>
            </a:r>
            <a:endParaRPr lang="en-US" sz="1450" dirty="0"/>
          </a:p>
        </p:txBody>
      </p:sp>
      <p:sp>
        <p:nvSpPr>
          <p:cNvPr id="13" name="Shape 11"/>
          <p:cNvSpPr/>
          <p:nvPr/>
        </p:nvSpPr>
        <p:spPr>
          <a:xfrm>
            <a:off x="822960" y="5303520"/>
            <a:ext cx="128016" cy="128016"/>
          </a:xfrm>
          <a:prstGeom prst="ellipse">
            <a:avLst/>
          </a:prstGeom>
          <a:solidFill>
            <a:srgbClr val="0071E3"/>
          </a:solidFill>
          <a:ln/>
        </p:spPr>
      </p:sp>
      <p:sp>
        <p:nvSpPr>
          <p:cNvPr id="14" name="Text 12"/>
          <p:cNvSpPr txBox="1"/>
          <p:nvPr/>
        </p:nvSpPr>
        <p:spPr>
          <a:xfrm>
            <a:off x="1051560"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1 to 3</a:t>
            </a:r>
            <a:endParaRPr lang="en-US" sz="1400" dirty="0"/>
          </a:p>
        </p:txBody>
      </p:sp>
      <p:sp>
        <p:nvSpPr>
          <p:cNvPr id="15" name="Text 13"/>
          <p:cNvSpPr txBox="1"/>
          <p:nvPr/>
        </p:nvSpPr>
        <p:spPr>
          <a:xfrm>
            <a:off x="1051560"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N-BaIoT pipeline, attack, baselines</a:t>
            </a:r>
            <a:endParaRPr lang="en-US" sz="1200" dirty="0"/>
          </a:p>
        </p:txBody>
      </p:sp>
      <p:sp>
        <p:nvSpPr>
          <p:cNvPr id="16" name="Shape 14"/>
          <p:cNvSpPr/>
          <p:nvPr/>
        </p:nvSpPr>
        <p:spPr>
          <a:xfrm>
            <a:off x="3456432" y="5303520"/>
            <a:ext cx="128016" cy="128016"/>
          </a:xfrm>
          <a:prstGeom prst="ellipse">
            <a:avLst/>
          </a:prstGeom>
          <a:solidFill>
            <a:srgbClr val="0071E3"/>
          </a:solidFill>
          <a:ln/>
        </p:spPr>
      </p:sp>
      <p:sp>
        <p:nvSpPr>
          <p:cNvPr id="17" name="Text 15"/>
          <p:cNvSpPr txBox="1"/>
          <p:nvPr/>
        </p:nvSpPr>
        <p:spPr>
          <a:xfrm>
            <a:off x="3685032"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 4, mid-review</a:t>
            </a:r>
            <a:endParaRPr lang="en-US" sz="1400" dirty="0"/>
          </a:p>
        </p:txBody>
      </p:sp>
      <p:sp>
        <p:nvSpPr>
          <p:cNvPr id="18" name="Text 16"/>
          <p:cNvSpPr txBox="1"/>
          <p:nvPr/>
        </p:nvSpPr>
        <p:spPr>
          <a:xfrm>
            <a:off x="3685032"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Real-data version of slide 10</a:t>
            </a:r>
            <a:endParaRPr lang="en-US" sz="1200" dirty="0"/>
          </a:p>
        </p:txBody>
      </p:sp>
      <p:sp>
        <p:nvSpPr>
          <p:cNvPr id="19" name="Shape 17"/>
          <p:cNvSpPr/>
          <p:nvPr/>
        </p:nvSpPr>
        <p:spPr>
          <a:xfrm>
            <a:off x="6089904" y="5303520"/>
            <a:ext cx="128016" cy="128016"/>
          </a:xfrm>
          <a:prstGeom prst="ellipse">
            <a:avLst/>
          </a:prstGeom>
          <a:solidFill>
            <a:srgbClr val="0071E3"/>
          </a:solidFill>
          <a:ln/>
        </p:spPr>
      </p:sp>
      <p:sp>
        <p:nvSpPr>
          <p:cNvPr id="20" name="Text 18"/>
          <p:cNvSpPr txBox="1"/>
          <p:nvPr/>
        </p:nvSpPr>
        <p:spPr>
          <a:xfrm>
            <a:off x="6318504"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5 to 7</a:t>
            </a:r>
            <a:endParaRPr lang="en-US" sz="1400" dirty="0"/>
          </a:p>
        </p:txBody>
      </p:sp>
      <p:sp>
        <p:nvSpPr>
          <p:cNvPr id="21" name="Text 19"/>
          <p:cNvSpPr txBox="1"/>
          <p:nvPr/>
        </p:nvSpPr>
        <p:spPr>
          <a:xfrm>
            <a:off x="6318504"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ESP32 port, freeze attack study</a:t>
            </a:r>
            <a:endParaRPr lang="en-US" sz="1200" dirty="0"/>
          </a:p>
        </p:txBody>
      </p:sp>
      <p:sp>
        <p:nvSpPr>
          <p:cNvPr id="22" name="Shape 20"/>
          <p:cNvSpPr/>
          <p:nvPr/>
        </p:nvSpPr>
        <p:spPr>
          <a:xfrm>
            <a:off x="8723376" y="5303520"/>
            <a:ext cx="128016" cy="128016"/>
          </a:xfrm>
          <a:prstGeom prst="ellipse">
            <a:avLst/>
          </a:prstGeom>
          <a:solidFill>
            <a:srgbClr val="0071E3"/>
          </a:solidFill>
          <a:ln/>
        </p:spPr>
      </p:sp>
      <p:sp>
        <p:nvSpPr>
          <p:cNvPr id="23" name="Text 21"/>
          <p:cNvSpPr txBox="1"/>
          <p:nvPr/>
        </p:nvSpPr>
        <p:spPr>
          <a:xfrm>
            <a:off x="8951976"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8 to 9</a:t>
            </a:r>
            <a:endParaRPr lang="en-US" sz="1400" dirty="0"/>
          </a:p>
        </p:txBody>
      </p:sp>
      <p:sp>
        <p:nvSpPr>
          <p:cNvPr id="24" name="Text 22"/>
          <p:cNvSpPr txBox="1"/>
          <p:nvPr/>
        </p:nvSpPr>
        <p:spPr>
          <a:xfrm>
            <a:off x="8951976"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Sweeps, IEEE report, demo</a:t>
            </a:r>
            <a:endParaRPr lang="en-US" sz="1200" dirty="0"/>
          </a:p>
        </p:txBody>
      </p:sp>
      <p:sp>
        <p:nvSpPr>
          <p:cNvPr id="25" name="Text 2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8686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REFERENCES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The five papers this project stands on.</a:t>
            </a:r>
            <a:endParaRPr lang="en-US" sz="2800" dirty="0"/>
          </a:p>
        </p:txBody>
      </p:sp>
      <p:sp>
        <p:nvSpPr>
          <p:cNvPr id="5" name="Text 3"/>
          <p:cNvSpPr txBox="1"/>
          <p:nvPr/>
        </p:nvSpPr>
        <p:spPr>
          <a:xfrm>
            <a:off x="822960" y="2148840"/>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2148840"/>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B. I. P. Rubinstein, B. Nelson, L. Huang, A. D. Joseph et al.</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ANTIDOTE: Understanding and Defending against Poisoning of Anomaly Detectors. ACM Internet Measurement Conference (IMC), 2009.</a:t>
            </a:r>
            <a:endParaRPr lang="en-US" sz="1400" dirty="0"/>
          </a:p>
        </p:txBody>
      </p:sp>
      <p:sp>
        <p:nvSpPr>
          <p:cNvPr id="7" name="Text 5"/>
          <p:cNvSpPr txBox="1"/>
          <p:nvPr/>
        </p:nvSpPr>
        <p:spPr>
          <a:xfrm>
            <a:off x="822960" y="2953512"/>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463040" y="2953512"/>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M. Kloft and P. Laskov.</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Security Analysis of Online Centroid Anomaly Detection. Journal of Machine Learning Research (JMLR), 2012.</a:t>
            </a:r>
            <a:endParaRPr lang="en-US" sz="1400" dirty="0"/>
          </a:p>
        </p:txBody>
      </p:sp>
      <p:sp>
        <p:nvSpPr>
          <p:cNvPr id="9" name="Text 7"/>
          <p:cNvSpPr txBox="1"/>
          <p:nvPr/>
        </p:nvSpPr>
        <p:spPr>
          <a:xfrm>
            <a:off x="822960" y="3758184"/>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[3]</a:t>
            </a:r>
            <a:endParaRPr lang="en-US" sz="1600" dirty="0"/>
          </a:p>
        </p:txBody>
      </p:sp>
      <p:sp>
        <p:nvSpPr>
          <p:cNvPr id="10" name="Text 8"/>
          <p:cNvSpPr txBox="1"/>
          <p:nvPr/>
        </p:nvSpPr>
        <p:spPr>
          <a:xfrm>
            <a:off x="1463040" y="3758184"/>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Y. Mirsky, T. Doitshman, Y. Elovici and A. Shabtai.</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Kitsune: An Ensemble of Autoencoders for Online Network Intrusion Detection. NDSS, 2018.</a:t>
            </a:r>
            <a:endParaRPr lang="en-US" sz="1400" dirty="0"/>
          </a:p>
        </p:txBody>
      </p:sp>
      <p:sp>
        <p:nvSpPr>
          <p:cNvPr id="11" name="Text 9"/>
          <p:cNvSpPr txBox="1"/>
          <p:nvPr/>
        </p:nvSpPr>
        <p:spPr>
          <a:xfrm>
            <a:off x="822960" y="4562856"/>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[4]</a:t>
            </a:r>
            <a:endParaRPr lang="en-US" sz="1600" dirty="0"/>
          </a:p>
        </p:txBody>
      </p:sp>
      <p:sp>
        <p:nvSpPr>
          <p:cNvPr id="12" name="Text 10"/>
          <p:cNvSpPr txBox="1"/>
          <p:nvPr/>
        </p:nvSpPr>
        <p:spPr>
          <a:xfrm>
            <a:off x="1463040" y="4562856"/>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Y. Meidan, M. Bohadana, Y. Mathov et al.</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N-BaIoT: Network-Based Detection of IoT Botnet Attacks Using Deep Autoencoders. IEEE Pervasive Computing, 2018.</a:t>
            </a:r>
            <a:endParaRPr lang="en-US" sz="1400" dirty="0"/>
          </a:p>
        </p:txBody>
      </p:sp>
      <p:sp>
        <p:nvSpPr>
          <p:cNvPr id="13" name="Text 11"/>
          <p:cNvSpPr txBox="1"/>
          <p:nvPr/>
        </p:nvSpPr>
        <p:spPr>
          <a:xfrm>
            <a:off x="822960" y="5367528"/>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[5]</a:t>
            </a:r>
            <a:endParaRPr lang="en-US" sz="1600" dirty="0"/>
          </a:p>
        </p:txBody>
      </p:sp>
      <p:sp>
        <p:nvSpPr>
          <p:cNvPr id="14" name="Text 12"/>
          <p:cNvSpPr txBox="1"/>
          <p:nvPr/>
        </p:nvSpPr>
        <p:spPr>
          <a:xfrm>
            <a:off x="1463040" y="5367528"/>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J. Koumar, K. Hynek, T. Čejka and P. Šiška.</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CESNET-TimeSeries24: Time Series Dataset for Network Traffic Anomaly Detection and Forecasting. Scientific Data, 2025.</a:t>
            </a:r>
            <a:endParaRPr lang="en-US" sz="1400" dirty="0"/>
          </a:p>
        </p:txBody>
      </p:sp>
      <p:sp>
        <p:nvSpPr>
          <p:cNvPr id="15" name="Text 13"/>
          <p:cNvSpPr txBox="1"/>
          <p:nvPr/>
        </p:nvSpPr>
        <p:spPr>
          <a:xfrm>
            <a:off x="822960" y="6327648"/>
            <a:ext cx="100584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Simulation code and our full literature review: github.com/IOT-snu/brainstorming</a:t>
            </a:r>
            <a:endParaRPr lang="en-US" sz="1000" dirty="0"/>
          </a:p>
        </p:txBody>
      </p:sp>
      <p:sp>
        <p:nvSpPr>
          <p:cNvPr id="16" name="Text 1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2026-09-24T12:31:40Z</dcterms:created>
  <dcterms:modified xsi:type="dcterms:W3CDTF">2026-09-24T12:31:40Z</dcterms:modified>
</cp:coreProperties>
</file>